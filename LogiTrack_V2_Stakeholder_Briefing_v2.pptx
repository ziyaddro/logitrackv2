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828800"/>
            <a:ext cx="5852160" cy="5852160"/>
          </a:xfrm>
          <a:prstGeom prst="ellipse">
            <a:avLst/>
          </a:prstGeom>
          <a:solidFill>
            <a:srgbClr val="065A82">
              <a:alpha val="30000"/>
            </a:srgbClr>
          </a:solidFill>
          <a:ln/>
        </p:spPr>
      </p:sp>
      <p:sp>
        <p:nvSpPr>
          <p:cNvPr id="3" name="Shape 1"/>
          <p:cNvSpPr/>
          <p:nvPr/>
        </p:nvSpPr>
        <p:spPr>
          <a:xfrm>
            <a:off x="10424160" y="3840480"/>
            <a:ext cx="3657600" cy="3657600"/>
          </a:xfrm>
          <a:prstGeom prst="ellipse">
            <a:avLst/>
          </a:prstGeom>
          <a:solidFill>
            <a:srgbClr val="1C7293">
              <a:alpha val="22000"/>
            </a:srgbClr>
          </a:solidFill>
          <a:ln/>
        </p:spPr>
      </p:sp>
      <p:sp>
        <p:nvSpPr>
          <p:cNvPr id="4" name="Text 2"/>
          <p:cNvSpPr txBox="1"/>
          <p:nvPr/>
        </p:nvSpPr>
        <p:spPr>
          <a:xfrm>
            <a:off x="841248" y="2148840"/>
            <a:ext cx="786384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LogiTrack V2</a:t>
            </a:r>
            <a:endParaRPr lang="en-US" sz="5200" dirty="0"/>
          </a:p>
        </p:txBody>
      </p:sp>
      <p:sp>
        <p:nvSpPr>
          <p:cNvPr id="5" name="Text 3"/>
          <p:cNvSpPr txBox="1"/>
          <p:nvPr/>
        </p:nvSpPr>
        <p:spPr>
          <a:xfrm>
            <a:off x="877824" y="3127248"/>
            <a:ext cx="6949440" cy="640080"/>
          </a:xfrm>
          <a:prstGeom prst="rect">
            <a:avLst/>
          </a:prstGeom>
          <a:noFill/>
          <a:ln/>
        </p:spPr>
        <p:txBody>
          <a:bodyPr wrap="square" lIns="0" tIns="0" rIns="0" bIns="0" rtlCol="0" anchor="ctr"/>
          <a:lstStyle/>
          <a:p>
            <a:pPr indent="0" marL="0">
              <a:lnSpc>
                <a:spcPts val="2500"/>
              </a:lnSpc>
              <a:buNone/>
            </a:pPr>
            <a:r>
              <a:rPr lang="en-US" sz="1700" dirty="0">
                <a:solidFill>
                  <a:srgbClr val="8FD4E8"/>
                </a:solidFill>
                <a:latin typeface="Calibri" pitchFamily="34" charset="0"/>
                <a:ea typeface="Calibri" pitchFamily="34" charset="-122"/>
                <a:cs typeface="Calibri" pitchFamily="34" charset="-120"/>
              </a:rPr>
              <a:t>Demand forecasting and reorder decisions for growing product catalogues</a:t>
            </a:r>
            <a:endParaRPr lang="en-US" sz="1700" dirty="0"/>
          </a:p>
        </p:txBody>
      </p:sp>
      <p:sp>
        <p:nvSpPr>
          <p:cNvPr id="6" name="Text 4"/>
          <p:cNvSpPr txBox="1"/>
          <p:nvPr/>
        </p:nvSpPr>
        <p:spPr>
          <a:xfrm>
            <a:off x="877824" y="5760720"/>
            <a:ext cx="5486400" cy="310896"/>
          </a:xfrm>
          <a:prstGeom prst="rect">
            <a:avLst/>
          </a:prstGeom>
          <a:noFill/>
          <a:ln/>
        </p:spPr>
        <p:txBody>
          <a:bodyPr wrap="square" lIns="0" tIns="0" rIns="0" bIns="0" rtlCol="0" anchor="ctr"/>
          <a:lstStyle/>
          <a:p>
            <a:pPr indent="0" marL="0">
              <a:buNone/>
            </a:pPr>
            <a:r>
              <a:rPr lang="en-US" sz="1200" spc="80" kern="0" dirty="0">
                <a:solidFill>
                  <a:srgbClr val="9FB6C9"/>
                </a:solidFill>
                <a:latin typeface="Calibri" pitchFamily="34" charset="0"/>
                <a:ea typeface="Calibri" pitchFamily="34" charset="-122"/>
                <a:cs typeface="Calibri" pitchFamily="34" charset="-120"/>
              </a:rPr>
              <a:t>Stakeholder briefing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1C7293"/>
                </a:solidFill>
                <a:latin typeface="Calibri" pitchFamily="34" charset="0"/>
                <a:ea typeface="Calibri" pitchFamily="34" charset="-122"/>
                <a:cs typeface="Calibri" pitchFamily="34" charset="-120"/>
              </a:rPr>
              <a:t>THE STARTING POINT</a:t>
            </a:r>
            <a:endParaRPr lang="en-US" sz="105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What a spreadsheet average cannot do</a:t>
            </a:r>
            <a:endParaRPr lang="en-US" sz="3000" dirty="0"/>
          </a:p>
        </p:txBody>
      </p:sp>
      <p:sp>
        <p:nvSpPr>
          <p:cNvPr id="4" name="Text 2"/>
          <p:cNvSpPr txBox="1"/>
          <p:nvPr/>
        </p:nvSpPr>
        <p:spPr>
          <a:xfrm>
            <a:off x="566928" y="1243584"/>
            <a:ext cx="9957816" cy="384048"/>
          </a:xfrm>
          <a:prstGeom prst="rect">
            <a:avLst/>
          </a:prstGeom>
          <a:noFill/>
          <a:ln/>
        </p:spPr>
        <p:txBody>
          <a:bodyPr wrap="square" lIns="0" tIns="0" rIns="0" bIns="0" rtlCol="0" anchor="ctr"/>
          <a:lstStyle/>
          <a:p>
            <a:pPr indent="0" marL="0">
              <a:lnSpc>
                <a:spcPts val="1800"/>
              </a:lnSpc>
              <a:buNone/>
            </a:pPr>
            <a:r>
              <a:rPr lang="en-US" sz="1350" dirty="0">
                <a:solidFill>
                  <a:srgbClr val="5A6A78"/>
                </a:solidFill>
                <a:latin typeface="Calibri" pitchFamily="34" charset="0"/>
                <a:ea typeface="Calibri" pitchFamily="34" charset="-122"/>
                <a:cs typeface="Calibri" pitchFamily="34" charset="-120"/>
              </a:rPr>
              <a:t>Most merchants plan by averaging recent sales and multiplying by the delivery time. One rule, every product.</a:t>
            </a:r>
            <a:endParaRPr lang="en-US" sz="1350" dirty="0"/>
          </a:p>
        </p:txBody>
      </p:sp>
      <p:sp>
        <p:nvSpPr>
          <p:cNvPr id="5" name="Text 3"/>
          <p:cNvSpPr txBox="1"/>
          <p:nvPr/>
        </p:nvSpPr>
        <p:spPr>
          <a:xfrm>
            <a:off x="566928" y="1975104"/>
            <a:ext cx="5029200" cy="292608"/>
          </a:xfrm>
          <a:prstGeom prst="rect">
            <a:avLst/>
          </a:prstGeom>
          <a:noFill/>
          <a:ln/>
        </p:spPr>
        <p:txBody>
          <a:bodyPr wrap="square" lIns="0" tIns="0" rIns="0" bIns="0" rtlCol="0" anchor="ctr"/>
          <a:lstStyle/>
          <a:p>
            <a:pPr indent="0" marL="0">
              <a:buNone/>
            </a:pPr>
            <a:r>
              <a:rPr lang="en-US" sz="1100" b="1" spc="140" kern="0" dirty="0">
                <a:solidFill>
                  <a:srgbClr val="065A82"/>
                </a:solidFill>
                <a:latin typeface="Calibri" pitchFamily="34" charset="0"/>
                <a:ea typeface="Calibri" pitchFamily="34" charset="-122"/>
                <a:cs typeface="Calibri" pitchFamily="34" charset="-120"/>
              </a:rPr>
              <a:t>WHAT AN AVERAGE MISSES</a:t>
            </a:r>
            <a:endParaRPr lang="en-US" sz="1100" dirty="0"/>
          </a:p>
        </p:txBody>
      </p:sp>
      <p:sp>
        <p:nvSpPr>
          <p:cNvPr id="6" name="Text 4"/>
          <p:cNvSpPr txBox="1"/>
          <p:nvPr/>
        </p:nvSpPr>
        <p:spPr>
          <a:xfrm>
            <a:off x="603504" y="2359152"/>
            <a:ext cx="5029200" cy="356616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Products that sell in bursts. A few units then nothing for weeks averages out to almost no demand, so the tool stops suggesting stock.</a:t>
            </a:r>
            <a:endParaRPr lang="en-US" sz="1300" dirty="0"/>
          </a:p>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New products. There is nothing to average yet, which is exactly where a wrong call is most expensive.</a:t>
            </a:r>
            <a:endParaRPr lang="en-US" sz="1300" dirty="0"/>
          </a:p>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Seasonality. An average carries no sense of a busy month arriving.</a:t>
            </a:r>
            <a:endParaRPr lang="en-US" sz="1300" dirty="0"/>
          </a:p>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Certainty. Two years of history and two weeks of history produce answers that read the same.</a:t>
            </a:r>
            <a:endParaRPr lang="en-US" sz="1300" dirty="0"/>
          </a:p>
        </p:txBody>
      </p:sp>
      <p:sp>
        <p:nvSpPr>
          <p:cNvPr id="7" name="Text 5"/>
          <p:cNvSpPr txBox="1"/>
          <p:nvPr/>
        </p:nvSpPr>
        <p:spPr>
          <a:xfrm>
            <a:off x="6583680" y="1975104"/>
            <a:ext cx="5029200" cy="292608"/>
          </a:xfrm>
          <a:prstGeom prst="rect">
            <a:avLst/>
          </a:prstGeom>
          <a:noFill/>
          <a:ln/>
        </p:spPr>
        <p:txBody>
          <a:bodyPr wrap="square" lIns="0" tIns="0" rIns="0" bIns="0" rtlCol="0" anchor="ctr"/>
          <a:lstStyle/>
          <a:p>
            <a:pPr indent="0" marL="0">
              <a:buNone/>
            </a:pPr>
            <a:r>
              <a:rPr lang="en-US" sz="1100" b="1" spc="140" kern="0" dirty="0">
                <a:solidFill>
                  <a:srgbClr val="065A82"/>
                </a:solidFill>
                <a:latin typeface="Calibri" pitchFamily="34" charset="0"/>
                <a:ea typeface="Calibri" pitchFamily="34" charset="-122"/>
                <a:cs typeface="Calibri" pitchFamily="34" charset="-120"/>
              </a:rPr>
              <a:t>WHAT THAT COSTS</a:t>
            </a:r>
            <a:endParaRPr lang="en-US" sz="1100" dirty="0"/>
          </a:p>
        </p:txBody>
      </p:sp>
      <p:sp>
        <p:nvSpPr>
          <p:cNvPr id="8" name="Text 6"/>
          <p:cNvSpPr txBox="1"/>
          <p:nvPr/>
        </p:nvSpPr>
        <p:spPr>
          <a:xfrm>
            <a:off x="6620256" y="2359152"/>
            <a:ext cx="5029200" cy="356616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Stockouts on your best sellers. Nothing flags the reorder point while there is still time to act.</a:t>
            </a:r>
            <a:endParaRPr lang="en-US" sz="1300" dirty="0"/>
          </a:p>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Cash frozen in slow movers. Working capital sits in stock that takes months to clear.</a:t>
            </a:r>
            <a:endParaRPr lang="en-US" sz="1300" dirty="0"/>
          </a:p>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Late orders. Reordering starts when the shelf looks empty rather than when the lead time requires it.</a:t>
            </a:r>
            <a:endParaRPr lang="en-US" sz="1300" dirty="0"/>
          </a:p>
          <a:p>
            <a:pPr marL="342900" indent="-342900">
              <a:lnSpc>
                <a:spcPts val="2100"/>
              </a:lnSpc>
              <a:spcAft>
                <a:spcPts val="1100"/>
              </a:spcAft>
              <a:buSzPct val="100000"/>
              <a:buChar char="•"/>
            </a:pPr>
            <a:r>
              <a:rPr lang="en-US" sz="1300" dirty="0">
                <a:solidFill>
                  <a:srgbClr val="17202B"/>
                </a:solidFill>
                <a:latin typeface="Calibri" pitchFamily="34" charset="0"/>
                <a:ea typeface="Calibri" pitchFamily="34" charset="-122"/>
                <a:cs typeface="Calibri" pitchFamily="34" charset="-120"/>
              </a:rPr>
              <a:t>Markdowns. Stock bought on a flat average gets discounted to shift it.</a:t>
            </a:r>
            <a:endParaRPr lang="en-US" sz="1300" dirty="0"/>
          </a:p>
        </p:txBody>
      </p:sp>
      <p:sp>
        <p:nvSpPr>
          <p:cNvPr id="9" name="Text 7"/>
          <p:cNvSpPr txBox="1"/>
          <p:nvPr/>
        </p:nvSpPr>
        <p:spPr>
          <a:xfrm>
            <a:off x="566928" y="5230368"/>
            <a:ext cx="11055096" cy="365760"/>
          </a:xfrm>
          <a:prstGeom prst="rect">
            <a:avLst/>
          </a:prstGeom>
          <a:noFill/>
          <a:ln/>
        </p:spPr>
        <p:txBody>
          <a:bodyPr wrap="square" lIns="0" tIns="0" rIns="0" bIns="0" rtlCol="0" anchor="ctr"/>
          <a:lstStyle/>
          <a:p>
            <a:pPr indent="0" marL="0">
              <a:lnSpc>
                <a:spcPts val="1300"/>
              </a:lnSpc>
              <a:buNone/>
            </a:pPr>
            <a:r>
              <a:rPr lang="en-US" sz="1050" i="1" dirty="0">
                <a:solidFill>
                  <a:srgbClr val="5A6A78"/>
                </a:solidFill>
                <a:latin typeface="Calibri" pitchFamily="34" charset="0"/>
                <a:ea typeface="Calibri" pitchFamily="34" charset="-122"/>
                <a:cs typeface="Calibri" pitchFamily="34" charset="-120"/>
              </a:rPr>
              <a:t>Both failures share one cause: nothing is looking ahead, product by product.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1C7293"/>
                </a:solidFill>
                <a:latin typeface="Calibri" pitchFamily="34" charset="0"/>
                <a:ea typeface="Calibri" pitchFamily="34" charset="-122"/>
                <a:cs typeface="Calibri" pitchFamily="34" charset="-120"/>
              </a:rPr>
              <a:t>THE VALUE AT STAKE</a:t>
            </a:r>
            <a:endParaRPr lang="en-US" sz="105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What weak reorder decisions cost</a:t>
            </a:r>
            <a:endParaRPr lang="en-US" sz="3000" dirty="0"/>
          </a:p>
        </p:txBody>
      </p:sp>
      <p:sp>
        <p:nvSpPr>
          <p:cNvPr id="4" name="Text 2"/>
          <p:cNvSpPr txBox="1"/>
          <p:nvPr/>
        </p:nvSpPr>
        <p:spPr>
          <a:xfrm>
            <a:off x="566928" y="1243584"/>
            <a:ext cx="9957816" cy="384048"/>
          </a:xfrm>
          <a:prstGeom prst="rect">
            <a:avLst/>
          </a:prstGeom>
          <a:noFill/>
          <a:ln/>
        </p:spPr>
        <p:txBody>
          <a:bodyPr wrap="square" lIns="0" tIns="0" rIns="0" bIns="0" rtlCol="0" anchor="ctr"/>
          <a:lstStyle/>
          <a:p>
            <a:pPr indent="0" marL="0">
              <a:lnSpc>
                <a:spcPts val="1800"/>
              </a:lnSpc>
              <a:buNone/>
            </a:pPr>
            <a:r>
              <a:rPr lang="en-US" sz="1350" dirty="0">
                <a:solidFill>
                  <a:srgbClr val="5A6A78"/>
                </a:solidFill>
                <a:latin typeface="Calibri" pitchFamily="34" charset="0"/>
                <a:ea typeface="Calibri" pitchFamily="34" charset="-122"/>
                <a:cs typeface="Calibri" pitchFamily="34" charset="-120"/>
              </a:rPr>
              <a:t>Two figures worth putting a number on, and how each one is derived.</a:t>
            </a:r>
            <a:endParaRPr lang="en-US" sz="1350" dirty="0"/>
          </a:p>
        </p:txBody>
      </p:sp>
      <p:sp>
        <p:nvSpPr>
          <p:cNvPr id="5" name="Shape 3"/>
          <p:cNvSpPr/>
          <p:nvPr/>
        </p:nvSpPr>
        <p:spPr>
          <a:xfrm>
            <a:off x="566928" y="1938528"/>
            <a:ext cx="5349240" cy="2560320"/>
          </a:xfrm>
          <a:prstGeom prst="roundRect">
            <a:avLst>
              <a:gd name="adj" fmla="val 2143"/>
            </a:avLst>
          </a:prstGeom>
          <a:solidFill>
            <a:srgbClr val="21295C"/>
          </a:solidFill>
          <a:ln/>
        </p:spPr>
      </p:sp>
      <p:sp>
        <p:nvSpPr>
          <p:cNvPr id="6" name="Text 4"/>
          <p:cNvSpPr txBox="1"/>
          <p:nvPr/>
        </p:nvSpPr>
        <p:spPr>
          <a:xfrm>
            <a:off x="877824" y="2212848"/>
            <a:ext cx="4754880" cy="603504"/>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$19,000</a:t>
            </a:r>
            <a:endParaRPr lang="en-US" sz="3600" dirty="0"/>
          </a:p>
        </p:txBody>
      </p:sp>
      <p:sp>
        <p:nvSpPr>
          <p:cNvPr id="7" name="Text 5"/>
          <p:cNvSpPr txBox="1"/>
          <p:nvPr/>
        </p:nvSpPr>
        <p:spPr>
          <a:xfrm>
            <a:off x="896112" y="2834640"/>
            <a:ext cx="4754880" cy="274320"/>
          </a:xfrm>
          <a:prstGeom prst="rect">
            <a:avLst/>
          </a:prstGeom>
          <a:noFill/>
          <a:ln/>
        </p:spPr>
        <p:txBody>
          <a:bodyPr wrap="square" lIns="0" tIns="0" rIns="0" bIns="0" rtlCol="0" anchor="ctr"/>
          <a:lstStyle/>
          <a:p>
            <a:pPr indent="0" marL="0">
              <a:buNone/>
            </a:pPr>
            <a:r>
              <a:rPr lang="en-US" sz="1300" dirty="0">
                <a:solidFill>
                  <a:srgbClr val="8FD4E8"/>
                </a:solidFill>
                <a:latin typeface="Calibri" pitchFamily="34" charset="0"/>
                <a:ea typeface="Calibri" pitchFamily="34" charset="-122"/>
                <a:cs typeface="Calibri" pitchFamily="34" charset="-120"/>
              </a:rPr>
              <a:t>a year, for every $1M of revenue</a:t>
            </a:r>
            <a:endParaRPr lang="en-US" sz="1300" dirty="0"/>
          </a:p>
        </p:txBody>
      </p:sp>
      <p:sp>
        <p:nvSpPr>
          <p:cNvPr id="8" name="Text 6"/>
          <p:cNvSpPr txBox="1"/>
          <p:nvPr/>
        </p:nvSpPr>
        <p:spPr>
          <a:xfrm>
            <a:off x="896112" y="3218688"/>
            <a:ext cx="4754880" cy="1097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150" dirty="0">
                <a:solidFill>
                  <a:srgbClr val="CFDDE9"/>
                </a:solidFill>
                <a:latin typeface="Calibri" pitchFamily="34" charset="0"/>
                <a:ea typeface="Calibri" pitchFamily="34" charset="-122"/>
                <a:cs typeface="Calibri" pitchFamily="34" charset="-120"/>
              </a:rPr>
              <a:t>Retailers lose about 4% of sales to stockouts. On $1M that is $40,000.</a:t>
            </a:r>
            <a:endParaRPr lang="en-US" sz="1150" dirty="0"/>
          </a:p>
          <a:p>
            <a:pPr marL="342900" indent="-342900">
              <a:lnSpc>
                <a:spcPts val="1600"/>
              </a:lnSpc>
              <a:spcAft>
                <a:spcPts val="500"/>
              </a:spcAft>
              <a:buSzPct val="100000"/>
              <a:buChar char="•"/>
            </a:pPr>
            <a:r>
              <a:rPr lang="en-US" sz="1150" dirty="0">
                <a:solidFill>
                  <a:srgbClr val="CFDDE9"/>
                </a:solidFill>
                <a:latin typeface="Calibri" pitchFamily="34" charset="0"/>
                <a:ea typeface="Calibri" pitchFamily="34" charset="-122"/>
                <a:cs typeface="Calibri" pitchFamily="34" charset="-120"/>
              </a:rPr>
              <a:t>47% of stockouts trace to store ordering and forecasting, which is the decision this tool is built to get right.</a:t>
            </a:r>
            <a:endParaRPr lang="en-US" sz="1150" dirty="0"/>
          </a:p>
          <a:p>
            <a:pPr marL="342900" indent="-342900">
              <a:lnSpc>
                <a:spcPts val="1600"/>
              </a:lnSpc>
              <a:spcAft>
                <a:spcPts val="500"/>
              </a:spcAft>
              <a:buSzPct val="100000"/>
              <a:buChar char="•"/>
            </a:pPr>
            <a:r>
              <a:rPr lang="en-US" sz="1150" dirty="0">
                <a:solidFill>
                  <a:srgbClr val="CFDDE9"/>
                </a:solidFill>
                <a:latin typeface="Calibri" pitchFamily="34" charset="0"/>
                <a:ea typeface="Calibri" pitchFamily="34" charset="-122"/>
                <a:cs typeface="Calibri" pitchFamily="34" charset="-120"/>
              </a:rPr>
              <a:t>47% of $40,000 = $18,800.</a:t>
            </a:r>
            <a:endParaRPr lang="en-US" sz="1150" dirty="0"/>
          </a:p>
        </p:txBody>
      </p:sp>
      <p:sp>
        <p:nvSpPr>
          <p:cNvPr id="9" name="Shape 7"/>
          <p:cNvSpPr/>
          <p:nvPr/>
        </p:nvSpPr>
        <p:spPr>
          <a:xfrm>
            <a:off x="6272784" y="1938528"/>
            <a:ext cx="5349240" cy="2560320"/>
          </a:xfrm>
          <a:prstGeom prst="roundRect">
            <a:avLst>
              <a:gd name="adj" fmla="val 2143"/>
            </a:avLst>
          </a:prstGeom>
          <a:solidFill>
            <a:srgbClr val="EDF3F7"/>
          </a:solidFill>
          <a:ln/>
        </p:spPr>
      </p:sp>
      <p:sp>
        <p:nvSpPr>
          <p:cNvPr id="10" name="Text 8"/>
          <p:cNvSpPr txBox="1"/>
          <p:nvPr/>
        </p:nvSpPr>
        <p:spPr>
          <a:xfrm>
            <a:off x="6583680" y="2212848"/>
            <a:ext cx="4754880" cy="603504"/>
          </a:xfrm>
          <a:prstGeom prst="rect">
            <a:avLst/>
          </a:prstGeom>
          <a:noFill/>
          <a:ln/>
        </p:spPr>
        <p:txBody>
          <a:bodyPr wrap="square" lIns="0" tIns="0" rIns="0" bIns="0" rtlCol="0" anchor="ctr"/>
          <a:lstStyle/>
          <a:p>
            <a:pPr indent="0" marL="0">
              <a:buNone/>
            </a:pPr>
            <a:r>
              <a:rPr lang="en-US" sz="3600" b="1" dirty="0">
                <a:solidFill>
                  <a:srgbClr val="065A82"/>
                </a:solidFill>
                <a:latin typeface="Cambria" pitchFamily="34" charset="0"/>
                <a:ea typeface="Cambria" pitchFamily="34" charset="-122"/>
                <a:cs typeface="Cambria" pitchFamily="34" charset="-120"/>
              </a:rPr>
              <a:t>$5,000 to $15,000</a:t>
            </a:r>
            <a:endParaRPr lang="en-US" sz="3600" dirty="0"/>
          </a:p>
        </p:txBody>
      </p:sp>
      <p:sp>
        <p:nvSpPr>
          <p:cNvPr id="11" name="Text 9"/>
          <p:cNvSpPr txBox="1"/>
          <p:nvPr/>
        </p:nvSpPr>
        <p:spPr>
          <a:xfrm>
            <a:off x="6601968" y="2834640"/>
            <a:ext cx="4754880" cy="274320"/>
          </a:xfrm>
          <a:prstGeom prst="rect">
            <a:avLst/>
          </a:prstGeom>
          <a:noFill/>
          <a:ln/>
        </p:spPr>
        <p:txBody>
          <a:bodyPr wrap="square" lIns="0" tIns="0" rIns="0" bIns="0" rtlCol="0" anchor="ctr"/>
          <a:lstStyle/>
          <a:p>
            <a:pPr indent="0" marL="0">
              <a:buNone/>
            </a:pPr>
            <a:r>
              <a:rPr lang="en-US" sz="1300" dirty="0">
                <a:solidFill>
                  <a:srgbClr val="1C7293"/>
                </a:solidFill>
                <a:latin typeface="Calibri" pitchFamily="34" charset="0"/>
                <a:ea typeface="Calibri" pitchFamily="34" charset="-122"/>
                <a:cs typeface="Calibri" pitchFamily="34" charset="-120"/>
              </a:rPr>
              <a:t>a year of planning time, automated</a:t>
            </a:r>
            <a:endParaRPr lang="en-US" sz="1300" dirty="0"/>
          </a:p>
        </p:txBody>
      </p:sp>
      <p:sp>
        <p:nvSpPr>
          <p:cNvPr id="12" name="Text 10"/>
          <p:cNvSpPr txBox="1"/>
          <p:nvPr/>
        </p:nvSpPr>
        <p:spPr>
          <a:xfrm>
            <a:off x="6601968" y="3218688"/>
            <a:ext cx="4754880" cy="1097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150" dirty="0">
                <a:solidFill>
                  <a:srgbClr val="17202B"/>
                </a:solidFill>
                <a:latin typeface="Calibri" pitchFamily="34" charset="0"/>
                <a:ea typeface="Calibri" pitchFamily="34" charset="-122"/>
                <a:cs typeface="Calibri" pitchFamily="34" charset="-120"/>
              </a:rPr>
              <a:t>The work it replaces: checking what is low, sizing each order, tracking what is on order, spotting dead stock, building the buying plan.</a:t>
            </a:r>
            <a:endParaRPr lang="en-US" sz="1150" dirty="0"/>
          </a:p>
          <a:p>
            <a:pPr marL="342900" indent="-342900">
              <a:lnSpc>
                <a:spcPts val="1600"/>
              </a:lnSpc>
              <a:spcAft>
                <a:spcPts val="500"/>
              </a:spcAft>
              <a:buSzPct val="100000"/>
              <a:buChar char="•"/>
            </a:pPr>
            <a:r>
              <a:rPr lang="en-US" sz="1150" dirty="0">
                <a:solidFill>
                  <a:srgbClr val="17202B"/>
                </a:solidFill>
                <a:latin typeface="Calibri" pitchFamily="34" charset="0"/>
                <a:ea typeface="Calibri" pitchFamily="34" charset="-122"/>
                <a:cs typeface="Calibri" pitchFamily="34" charset="-120"/>
              </a:rPr>
              <a:t>Two to six hours a week at $50 an hour.</a:t>
            </a:r>
            <a:endParaRPr lang="en-US" sz="1150" dirty="0"/>
          </a:p>
          <a:p>
            <a:pPr marL="342900" indent="-342900">
              <a:lnSpc>
                <a:spcPts val="1600"/>
              </a:lnSpc>
              <a:spcAft>
                <a:spcPts val="500"/>
              </a:spcAft>
              <a:buSzPct val="100000"/>
              <a:buChar char="•"/>
            </a:pPr>
            <a:r>
              <a:rPr lang="en-US" sz="1150" dirty="0">
                <a:solidFill>
                  <a:srgbClr val="17202B"/>
                </a:solidFill>
                <a:latin typeface="Calibri" pitchFamily="34" charset="0"/>
                <a:ea typeface="Calibri" pitchFamily="34" charset="-122"/>
                <a:cs typeface="Calibri" pitchFamily="34" charset="-120"/>
              </a:rPr>
              <a:t>The BLS median for buyers and purchasing agents is $77,710, about $37 an hour. That is the floor.</a:t>
            </a:r>
            <a:endParaRPr lang="en-US" sz="1150" dirty="0"/>
          </a:p>
        </p:txBody>
      </p:sp>
      <p:sp>
        <p:nvSpPr>
          <p:cNvPr id="13" name="Shape 11"/>
          <p:cNvSpPr/>
          <p:nvPr/>
        </p:nvSpPr>
        <p:spPr>
          <a:xfrm>
            <a:off x="566928" y="4663440"/>
            <a:ext cx="11055096" cy="841248"/>
          </a:xfrm>
          <a:prstGeom prst="roundRect">
            <a:avLst>
              <a:gd name="adj" fmla="val 6522"/>
            </a:avLst>
          </a:prstGeom>
          <a:solidFill>
            <a:srgbClr val="E6EEF6"/>
          </a:solidFill>
          <a:ln/>
        </p:spPr>
      </p:sp>
      <p:sp>
        <p:nvSpPr>
          <p:cNvPr id="14" name="Text 12"/>
          <p:cNvSpPr txBox="1"/>
          <p:nvPr/>
        </p:nvSpPr>
        <p:spPr>
          <a:xfrm>
            <a:off x="841248" y="4791456"/>
            <a:ext cx="10515600" cy="603504"/>
          </a:xfrm>
          <a:prstGeom prst="rect">
            <a:avLst/>
          </a:prstGeom>
          <a:noFill/>
          <a:ln/>
        </p:spPr>
        <p:txBody>
          <a:bodyPr wrap="square" lIns="0" tIns="0" rIns="0" bIns="0" rtlCol="0" anchor="ctr"/>
          <a:lstStyle/>
          <a:p>
            <a:pPr indent="0" marL="0">
              <a:lnSpc>
                <a:spcPts val="1700"/>
              </a:lnSpc>
              <a:buNone/>
            </a:pPr>
            <a:r>
              <a:rPr lang="en-US" sz="1200" b="1" dirty="0">
                <a:solidFill>
                  <a:srgbClr val="065A82"/>
                </a:solidFill>
                <a:latin typeface="Calibri" pitchFamily="34" charset="0"/>
                <a:ea typeface="Calibri" pitchFamily="34" charset="-122"/>
                <a:cs typeface="Calibri" pitchFamily="34" charset="-120"/>
              </a:rPr>
              <a:t>Overbuying, the opposite mistake.   </a:t>
            </a:r>
            <a:pPr indent="0" marL="0">
              <a:lnSpc>
                <a:spcPts val="1700"/>
              </a:lnSpc>
              <a:buNone/>
            </a:pPr>
            <a:r>
              <a:rPr lang="en-US" sz="1200" dirty="0">
                <a:solidFill>
                  <a:srgbClr val="17202B"/>
                </a:solidFill>
                <a:latin typeface="Calibri" pitchFamily="34" charset="0"/>
                <a:ea typeface="Calibri" pitchFamily="34" charset="-122"/>
                <a:cs typeface="Calibri" pitchFamily="34" charset="-120"/>
              </a:rPr>
              <a:t>About 30% of retail markdowns are caused by buying too much, and markdowns run near 12% of US non-grocery sales. Right-sizing each order and flagging slow stock early is where this tool works against that.</a:t>
            </a:r>
            <a:endParaRPr lang="en-US" sz="1200" dirty="0"/>
          </a:p>
        </p:txBody>
      </p:sp>
      <p:sp>
        <p:nvSpPr>
          <p:cNvPr id="15" name="Text 13"/>
          <p:cNvSpPr txBox="1"/>
          <p:nvPr/>
        </p:nvSpPr>
        <p:spPr>
          <a:xfrm>
            <a:off x="566928" y="5632704"/>
            <a:ext cx="11055096" cy="548640"/>
          </a:xfrm>
          <a:prstGeom prst="rect">
            <a:avLst/>
          </a:prstGeom>
          <a:noFill/>
          <a:ln/>
        </p:spPr>
        <p:txBody>
          <a:bodyPr wrap="square" lIns="0" tIns="0" rIns="0" bIns="0" rtlCol="0" anchor="ctr"/>
          <a:lstStyle/>
          <a:p>
            <a:pPr indent="0" marL="0">
              <a:lnSpc>
                <a:spcPts val="1250"/>
              </a:lnSpc>
              <a:buNone/>
            </a:pPr>
            <a:r>
              <a:rPr lang="en-US" sz="950" i="1" dirty="0">
                <a:solidFill>
                  <a:srgbClr val="5A6A78"/>
                </a:solidFill>
                <a:latin typeface="Calibri" pitchFamily="34" charset="0"/>
                <a:ea typeface="Calibri" pitchFamily="34" charset="-122"/>
                <a:cs typeface="Calibri" pitchFamily="34" charset="-120"/>
              </a:rPr>
              <a:t>These are grocery and general-retail benchmarks used as proxies, so a direct-to-consumer catalogue will differ. The percentages are the share of each loss caused by ordering and buying decisions, not a guaranteed recovery. The time figure depends on your own hours and rate, so it is illustrative rather than a claim.</a:t>
            </a:r>
            <a:endParaRPr lang="en-US" sz="950" dirty="0"/>
          </a:p>
        </p:txBody>
      </p:sp>
      <p:sp>
        <p:nvSpPr>
          <p:cNvPr id="16" name="Text 14"/>
          <p:cNvSpPr txBox="1"/>
          <p:nvPr/>
        </p:nvSpPr>
        <p:spPr>
          <a:xfrm>
            <a:off x="566928" y="6108192"/>
            <a:ext cx="11055096" cy="457200"/>
          </a:xfrm>
          <a:prstGeom prst="rect">
            <a:avLst/>
          </a:prstGeom>
          <a:noFill/>
          <a:ln/>
        </p:spPr>
        <p:txBody>
          <a:bodyPr wrap="square" lIns="0" tIns="0" rIns="0" bIns="0" rtlCol="0" anchor="ctr"/>
          <a:lstStyle/>
          <a:p>
            <a:pPr indent="0" marL="0">
              <a:lnSpc>
                <a:spcPts val="1200"/>
              </a:lnSpc>
              <a:buNone/>
            </a:pPr>
            <a:r>
              <a:rPr lang="en-US" sz="900" dirty="0">
                <a:solidFill>
                  <a:srgbClr val="5A6A78"/>
                </a:solidFill>
                <a:latin typeface="Calibri" pitchFamily="34" charset="0"/>
                <a:ea typeface="Calibri" pitchFamily="34" charset="-122"/>
                <a:cs typeface="Calibri" pitchFamily="34" charset="-120"/>
              </a:rPr>
              <a:t>Sources: Gruen, Corsten &amp; Bharadwaj, Retail Out-of-Stocks: A Worldwide Examination (2002), and Corsten &amp; Gruen (2004), for the stockout share and its causes.  Coresight Research, US retailer survey (2018), for markdowns.  US Bureau of Labor Statistics, Occupational Outlook Handbook, buyers and purchasing agents median wage (May 2025).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1C7293"/>
                </a:solidFill>
                <a:latin typeface="Calibri" pitchFamily="34" charset="0"/>
                <a:ea typeface="Calibri" pitchFamily="34" charset="-122"/>
                <a:cs typeface="Calibri" pitchFamily="34" charset="-120"/>
              </a:rPr>
              <a:t>WHAT WE WILL WALK THROUGH</a:t>
            </a:r>
            <a:endParaRPr lang="en-US" sz="105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Seven workspaces, one catalogue</a:t>
            </a:r>
            <a:endParaRPr lang="en-US" sz="3000" dirty="0"/>
          </a:p>
        </p:txBody>
      </p:sp>
      <p:sp>
        <p:nvSpPr>
          <p:cNvPr id="4" name="Text 2"/>
          <p:cNvSpPr txBox="1"/>
          <p:nvPr/>
        </p:nvSpPr>
        <p:spPr>
          <a:xfrm>
            <a:off x="566928" y="1243584"/>
            <a:ext cx="9957816" cy="384048"/>
          </a:xfrm>
          <a:prstGeom prst="rect">
            <a:avLst/>
          </a:prstGeom>
          <a:noFill/>
          <a:ln/>
        </p:spPr>
        <p:txBody>
          <a:bodyPr wrap="square" lIns="0" tIns="0" rIns="0" bIns="0" rtlCol="0" anchor="ctr"/>
          <a:lstStyle/>
          <a:p>
            <a:pPr indent="0" marL="0">
              <a:lnSpc>
                <a:spcPts val="1800"/>
              </a:lnSpc>
              <a:buNone/>
            </a:pPr>
            <a:r>
              <a:rPr lang="en-US" sz="1350" dirty="0">
                <a:solidFill>
                  <a:srgbClr val="5A6A78"/>
                </a:solidFill>
                <a:latin typeface="Calibri" pitchFamily="34" charset="0"/>
                <a:ea typeface="Calibri" pitchFamily="34" charset="-122"/>
                <a:cs typeface="Calibri" pitchFamily="34" charset="-120"/>
              </a:rPr>
              <a:t>Sales data arrives by spreadsheet upload or a direct Shopify pull. Everything below runs off that one catalogue.</a:t>
            </a:r>
            <a:endParaRPr lang="en-US" sz="1350" dirty="0"/>
          </a:p>
        </p:txBody>
      </p:sp>
      <p:sp>
        <p:nvSpPr>
          <p:cNvPr id="5" name="Shape 3"/>
          <p:cNvSpPr/>
          <p:nvPr/>
        </p:nvSpPr>
        <p:spPr>
          <a:xfrm>
            <a:off x="566928" y="1938528"/>
            <a:ext cx="3502152" cy="1298448"/>
          </a:xfrm>
          <a:prstGeom prst="roundRect">
            <a:avLst>
              <a:gd name="adj" fmla="val 3521"/>
            </a:avLst>
          </a:prstGeom>
          <a:solidFill>
            <a:srgbClr val="EDF3F7"/>
          </a:solidFill>
          <a:ln/>
        </p:spPr>
      </p:sp>
      <p:sp>
        <p:nvSpPr>
          <p:cNvPr id="6" name="Shape 4"/>
          <p:cNvSpPr/>
          <p:nvPr/>
        </p:nvSpPr>
        <p:spPr>
          <a:xfrm>
            <a:off x="786384" y="2157984"/>
            <a:ext cx="310896" cy="310896"/>
          </a:xfrm>
          <a:prstGeom prst="ellipse">
            <a:avLst/>
          </a:prstGeom>
          <a:solidFill>
            <a:srgbClr val="065A82"/>
          </a:solidFill>
          <a:ln/>
        </p:spPr>
      </p:sp>
      <p:sp>
        <p:nvSpPr>
          <p:cNvPr id="7" name="Text 5"/>
          <p:cNvSpPr txBox="1"/>
          <p:nvPr/>
        </p:nvSpPr>
        <p:spPr>
          <a:xfrm>
            <a:off x="786384" y="2180844"/>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188720" y="2139696"/>
            <a:ext cx="2679192" cy="292608"/>
          </a:xfrm>
          <a:prstGeom prst="rect">
            <a:avLst/>
          </a:prstGeom>
          <a:noFill/>
          <a:ln/>
        </p:spPr>
        <p:txBody>
          <a:bodyPr wrap="square" lIns="0" tIns="0" rIns="0" bIns="0" rtlCol="0" anchor="ctr"/>
          <a:lstStyle/>
          <a:p>
            <a:pPr indent="0" marL="0">
              <a:buNone/>
            </a:pPr>
            <a:r>
              <a:rPr lang="en-US" sz="1450" b="1" dirty="0">
                <a:solidFill>
                  <a:srgbClr val="17202B"/>
                </a:solidFill>
                <a:latin typeface="Calibri" pitchFamily="34" charset="0"/>
                <a:ea typeface="Calibri" pitchFamily="34" charset="-122"/>
                <a:cs typeface="Calibri" pitchFamily="34" charset="-120"/>
              </a:rPr>
              <a:t>Fleet</a:t>
            </a:r>
            <a:endParaRPr lang="en-US" sz="1450" dirty="0"/>
          </a:p>
        </p:txBody>
      </p:sp>
      <p:sp>
        <p:nvSpPr>
          <p:cNvPr id="9" name="Text 7"/>
          <p:cNvSpPr txBox="1"/>
          <p:nvPr/>
        </p:nvSpPr>
        <p:spPr>
          <a:xfrm>
            <a:off x="786384" y="2542032"/>
            <a:ext cx="3063240" cy="603504"/>
          </a:xfrm>
          <a:prstGeom prst="rect">
            <a:avLst/>
          </a:prstGeom>
          <a:noFill/>
          <a:ln/>
        </p:spPr>
        <p:txBody>
          <a:bodyPr wrap="square" lIns="0" tIns="0" rIns="0" bIns="0" rtlCol="0" anchor="t"/>
          <a:lstStyle/>
          <a:p>
            <a:pPr indent="0" marL="0">
              <a:lnSpc>
                <a:spcPts val="1400"/>
              </a:lnSpc>
              <a:buNone/>
            </a:pPr>
            <a:r>
              <a:rPr lang="en-US" sz="1050" dirty="0">
                <a:solidFill>
                  <a:srgbClr val="5A6A78"/>
                </a:solidFill>
                <a:latin typeface="Calibri" pitchFamily="34" charset="0"/>
                <a:ea typeface="Calibri" pitchFamily="34" charset="-122"/>
                <a:cs typeface="Calibri" pitchFamily="34" charset="-120"/>
              </a:rPr>
              <a:t>The whole catalogue at a glance: what needs ordering, how urgently, and the cash due over the next eight weeks.</a:t>
            </a:r>
            <a:endParaRPr lang="en-US" sz="1050" dirty="0"/>
          </a:p>
        </p:txBody>
      </p:sp>
      <p:sp>
        <p:nvSpPr>
          <p:cNvPr id="10" name="Shape 8"/>
          <p:cNvSpPr/>
          <p:nvPr/>
        </p:nvSpPr>
        <p:spPr>
          <a:xfrm>
            <a:off x="4343400" y="1938528"/>
            <a:ext cx="3502152" cy="1298448"/>
          </a:xfrm>
          <a:prstGeom prst="roundRect">
            <a:avLst>
              <a:gd name="adj" fmla="val 3521"/>
            </a:avLst>
          </a:prstGeom>
          <a:solidFill>
            <a:srgbClr val="EDF3F7"/>
          </a:solidFill>
          <a:ln/>
        </p:spPr>
      </p:sp>
      <p:sp>
        <p:nvSpPr>
          <p:cNvPr id="11" name="Shape 9"/>
          <p:cNvSpPr/>
          <p:nvPr/>
        </p:nvSpPr>
        <p:spPr>
          <a:xfrm>
            <a:off x="4562856" y="2157984"/>
            <a:ext cx="310896" cy="310896"/>
          </a:xfrm>
          <a:prstGeom prst="ellipse">
            <a:avLst/>
          </a:prstGeom>
          <a:solidFill>
            <a:srgbClr val="065A82"/>
          </a:solidFill>
          <a:ln/>
        </p:spPr>
      </p:sp>
      <p:sp>
        <p:nvSpPr>
          <p:cNvPr id="12" name="Text 10"/>
          <p:cNvSpPr txBox="1"/>
          <p:nvPr/>
        </p:nvSpPr>
        <p:spPr>
          <a:xfrm>
            <a:off x="4562856" y="2180844"/>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965192" y="2139696"/>
            <a:ext cx="2679192" cy="292608"/>
          </a:xfrm>
          <a:prstGeom prst="rect">
            <a:avLst/>
          </a:prstGeom>
          <a:noFill/>
          <a:ln/>
        </p:spPr>
        <p:txBody>
          <a:bodyPr wrap="square" lIns="0" tIns="0" rIns="0" bIns="0" rtlCol="0" anchor="ctr"/>
          <a:lstStyle/>
          <a:p>
            <a:pPr indent="0" marL="0">
              <a:buNone/>
            </a:pPr>
            <a:r>
              <a:rPr lang="en-US" sz="1450" b="1" dirty="0">
                <a:solidFill>
                  <a:srgbClr val="17202B"/>
                </a:solidFill>
                <a:latin typeface="Calibri" pitchFamily="34" charset="0"/>
                <a:ea typeface="Calibri" pitchFamily="34" charset="-122"/>
                <a:cs typeface="Calibri" pitchFamily="34" charset="-120"/>
              </a:rPr>
              <a:t>Suppliers</a:t>
            </a:r>
            <a:endParaRPr lang="en-US" sz="1450" dirty="0"/>
          </a:p>
        </p:txBody>
      </p:sp>
      <p:sp>
        <p:nvSpPr>
          <p:cNvPr id="14" name="Text 12"/>
          <p:cNvSpPr txBox="1"/>
          <p:nvPr/>
        </p:nvSpPr>
        <p:spPr>
          <a:xfrm>
            <a:off x="4562856" y="2542032"/>
            <a:ext cx="3063240" cy="603504"/>
          </a:xfrm>
          <a:prstGeom prst="rect">
            <a:avLst/>
          </a:prstGeom>
          <a:noFill/>
          <a:ln/>
        </p:spPr>
        <p:txBody>
          <a:bodyPr wrap="square" lIns="0" tIns="0" rIns="0" bIns="0" rtlCol="0" anchor="t"/>
          <a:lstStyle/>
          <a:p>
            <a:pPr indent="0" marL="0">
              <a:lnSpc>
                <a:spcPts val="1400"/>
              </a:lnSpc>
              <a:buNone/>
            </a:pPr>
            <a:r>
              <a:rPr lang="en-US" sz="1050" dirty="0">
                <a:solidFill>
                  <a:srgbClr val="5A6A78"/>
                </a:solidFill>
                <a:latin typeface="Calibri" pitchFamily="34" charset="0"/>
                <a:ea typeface="Calibri" pitchFamily="34" charset="-122"/>
                <a:cs typeface="Calibri" pitchFamily="34" charset="-120"/>
              </a:rPr>
              <a:t>Purchase orders, receiving, and how long each supplier actually takes to deliver.</a:t>
            </a:r>
            <a:endParaRPr lang="en-US" sz="1050" dirty="0"/>
          </a:p>
        </p:txBody>
      </p:sp>
      <p:sp>
        <p:nvSpPr>
          <p:cNvPr id="15" name="Shape 13"/>
          <p:cNvSpPr/>
          <p:nvPr/>
        </p:nvSpPr>
        <p:spPr>
          <a:xfrm>
            <a:off x="8119872" y="1938528"/>
            <a:ext cx="3502152" cy="1298448"/>
          </a:xfrm>
          <a:prstGeom prst="roundRect">
            <a:avLst>
              <a:gd name="adj" fmla="val 3521"/>
            </a:avLst>
          </a:prstGeom>
          <a:solidFill>
            <a:srgbClr val="EDF3F7"/>
          </a:solidFill>
          <a:ln/>
        </p:spPr>
      </p:sp>
      <p:sp>
        <p:nvSpPr>
          <p:cNvPr id="16" name="Shape 14"/>
          <p:cNvSpPr/>
          <p:nvPr/>
        </p:nvSpPr>
        <p:spPr>
          <a:xfrm>
            <a:off x="8339328" y="2157984"/>
            <a:ext cx="310896" cy="310896"/>
          </a:xfrm>
          <a:prstGeom prst="ellipse">
            <a:avLst/>
          </a:prstGeom>
          <a:solidFill>
            <a:srgbClr val="065A82"/>
          </a:solidFill>
          <a:ln/>
        </p:spPr>
      </p:sp>
      <p:sp>
        <p:nvSpPr>
          <p:cNvPr id="17" name="Text 15"/>
          <p:cNvSpPr txBox="1"/>
          <p:nvPr/>
        </p:nvSpPr>
        <p:spPr>
          <a:xfrm>
            <a:off x="8339328" y="2180844"/>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741664" y="2139696"/>
            <a:ext cx="2679192" cy="292608"/>
          </a:xfrm>
          <a:prstGeom prst="rect">
            <a:avLst/>
          </a:prstGeom>
          <a:noFill/>
          <a:ln/>
        </p:spPr>
        <p:txBody>
          <a:bodyPr wrap="square" lIns="0" tIns="0" rIns="0" bIns="0" rtlCol="0" anchor="ctr"/>
          <a:lstStyle/>
          <a:p>
            <a:pPr indent="0" marL="0">
              <a:buNone/>
            </a:pPr>
            <a:r>
              <a:rPr lang="en-US" sz="1450" b="1" dirty="0">
                <a:solidFill>
                  <a:srgbClr val="17202B"/>
                </a:solidFill>
                <a:latin typeface="Calibri" pitchFamily="34" charset="0"/>
                <a:ea typeface="Calibri" pitchFamily="34" charset="-122"/>
                <a:cs typeface="Calibri" pitchFamily="34" charset="-120"/>
              </a:rPr>
              <a:t>Scorecard</a:t>
            </a:r>
            <a:endParaRPr lang="en-US" sz="1450" dirty="0"/>
          </a:p>
        </p:txBody>
      </p:sp>
      <p:sp>
        <p:nvSpPr>
          <p:cNvPr id="19" name="Text 17"/>
          <p:cNvSpPr txBox="1"/>
          <p:nvPr/>
        </p:nvSpPr>
        <p:spPr>
          <a:xfrm>
            <a:off x="8339328" y="2542032"/>
            <a:ext cx="3063240" cy="603504"/>
          </a:xfrm>
          <a:prstGeom prst="rect">
            <a:avLst/>
          </a:prstGeom>
          <a:noFill/>
          <a:ln/>
        </p:spPr>
        <p:txBody>
          <a:bodyPr wrap="square" lIns="0" tIns="0" rIns="0" bIns="0" rtlCol="0" anchor="t"/>
          <a:lstStyle/>
          <a:p>
            <a:pPr indent="0" marL="0">
              <a:lnSpc>
                <a:spcPts val="1400"/>
              </a:lnSpc>
              <a:buNone/>
            </a:pPr>
            <a:r>
              <a:rPr lang="en-US" sz="1050" dirty="0">
                <a:solidFill>
                  <a:srgbClr val="5A6A78"/>
                </a:solidFill>
                <a:latin typeface="Calibri" pitchFamily="34" charset="0"/>
                <a:ea typeface="Calibri" pitchFamily="34" charset="-122"/>
                <a:cs typeface="Calibri" pitchFamily="34" charset="-120"/>
              </a:rPr>
              <a:t>The money view: margin, capital tied up, and what needs attention first.</a:t>
            </a:r>
            <a:endParaRPr lang="en-US" sz="1050" dirty="0"/>
          </a:p>
        </p:txBody>
      </p:sp>
      <p:sp>
        <p:nvSpPr>
          <p:cNvPr id="20" name="Shape 18"/>
          <p:cNvSpPr/>
          <p:nvPr/>
        </p:nvSpPr>
        <p:spPr>
          <a:xfrm>
            <a:off x="566928" y="3511296"/>
            <a:ext cx="3502152" cy="1298448"/>
          </a:xfrm>
          <a:prstGeom prst="roundRect">
            <a:avLst>
              <a:gd name="adj" fmla="val 3521"/>
            </a:avLst>
          </a:prstGeom>
          <a:solidFill>
            <a:srgbClr val="EDF3F7"/>
          </a:solidFill>
          <a:ln/>
        </p:spPr>
      </p:sp>
      <p:sp>
        <p:nvSpPr>
          <p:cNvPr id="21" name="Shape 19"/>
          <p:cNvSpPr/>
          <p:nvPr/>
        </p:nvSpPr>
        <p:spPr>
          <a:xfrm>
            <a:off x="786384" y="3730752"/>
            <a:ext cx="310896" cy="310896"/>
          </a:xfrm>
          <a:prstGeom prst="ellipse">
            <a:avLst/>
          </a:prstGeom>
          <a:solidFill>
            <a:srgbClr val="065A82"/>
          </a:solidFill>
          <a:ln/>
        </p:spPr>
      </p:sp>
      <p:sp>
        <p:nvSpPr>
          <p:cNvPr id="22" name="Text 20"/>
          <p:cNvSpPr txBox="1"/>
          <p:nvPr/>
        </p:nvSpPr>
        <p:spPr>
          <a:xfrm>
            <a:off x="786384" y="375361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188720" y="3712464"/>
            <a:ext cx="2679192" cy="292608"/>
          </a:xfrm>
          <a:prstGeom prst="rect">
            <a:avLst/>
          </a:prstGeom>
          <a:noFill/>
          <a:ln/>
        </p:spPr>
        <p:txBody>
          <a:bodyPr wrap="square" lIns="0" tIns="0" rIns="0" bIns="0" rtlCol="0" anchor="ctr"/>
          <a:lstStyle/>
          <a:p>
            <a:pPr indent="0" marL="0">
              <a:buNone/>
            </a:pPr>
            <a:r>
              <a:rPr lang="en-US" sz="1450" b="1" dirty="0">
                <a:solidFill>
                  <a:srgbClr val="17202B"/>
                </a:solidFill>
                <a:latin typeface="Calibri" pitchFamily="34" charset="0"/>
                <a:ea typeface="Calibri" pitchFamily="34" charset="-122"/>
                <a:cs typeface="Calibri" pitchFamily="34" charset="-120"/>
              </a:rPr>
              <a:t>Grouping</a:t>
            </a:r>
            <a:endParaRPr lang="en-US" sz="1450" dirty="0"/>
          </a:p>
        </p:txBody>
      </p:sp>
      <p:sp>
        <p:nvSpPr>
          <p:cNvPr id="24" name="Text 22"/>
          <p:cNvSpPr txBox="1"/>
          <p:nvPr/>
        </p:nvSpPr>
        <p:spPr>
          <a:xfrm>
            <a:off x="786384" y="4114800"/>
            <a:ext cx="3063240" cy="603504"/>
          </a:xfrm>
          <a:prstGeom prst="rect">
            <a:avLst/>
          </a:prstGeom>
          <a:noFill/>
          <a:ln/>
        </p:spPr>
        <p:txBody>
          <a:bodyPr wrap="square" lIns="0" tIns="0" rIns="0" bIns="0" rtlCol="0" anchor="t"/>
          <a:lstStyle/>
          <a:p>
            <a:pPr indent="0" marL="0">
              <a:lnSpc>
                <a:spcPts val="1400"/>
              </a:lnSpc>
              <a:buNone/>
            </a:pPr>
            <a:r>
              <a:rPr lang="en-US" sz="1050" dirty="0">
                <a:solidFill>
                  <a:srgbClr val="5A6A78"/>
                </a:solidFill>
                <a:latin typeface="Calibri" pitchFamily="34" charset="0"/>
                <a:ea typeface="Calibri" pitchFamily="34" charset="-122"/>
                <a:cs typeface="Calibri" pitchFamily="34" charset="-120"/>
              </a:rPr>
              <a:t>Sorts the catalogue into families by what products are and by how they sell.</a:t>
            </a:r>
            <a:endParaRPr lang="en-US" sz="1050" dirty="0"/>
          </a:p>
        </p:txBody>
      </p:sp>
      <p:sp>
        <p:nvSpPr>
          <p:cNvPr id="25" name="Shape 23"/>
          <p:cNvSpPr/>
          <p:nvPr/>
        </p:nvSpPr>
        <p:spPr>
          <a:xfrm>
            <a:off x="4343400" y="3511296"/>
            <a:ext cx="3502152" cy="1298448"/>
          </a:xfrm>
          <a:prstGeom prst="roundRect">
            <a:avLst>
              <a:gd name="adj" fmla="val 3521"/>
            </a:avLst>
          </a:prstGeom>
          <a:solidFill>
            <a:srgbClr val="EDF3F7"/>
          </a:solidFill>
          <a:ln/>
        </p:spPr>
      </p:sp>
      <p:sp>
        <p:nvSpPr>
          <p:cNvPr id="26" name="Shape 24"/>
          <p:cNvSpPr/>
          <p:nvPr/>
        </p:nvSpPr>
        <p:spPr>
          <a:xfrm>
            <a:off x="4562856" y="3730752"/>
            <a:ext cx="310896" cy="310896"/>
          </a:xfrm>
          <a:prstGeom prst="ellipse">
            <a:avLst/>
          </a:prstGeom>
          <a:solidFill>
            <a:srgbClr val="065A82"/>
          </a:solidFill>
          <a:ln/>
        </p:spPr>
      </p:sp>
      <p:sp>
        <p:nvSpPr>
          <p:cNvPr id="27" name="Text 25"/>
          <p:cNvSpPr txBox="1"/>
          <p:nvPr/>
        </p:nvSpPr>
        <p:spPr>
          <a:xfrm>
            <a:off x="4562856" y="375361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4965192" y="3712464"/>
            <a:ext cx="2679192" cy="292608"/>
          </a:xfrm>
          <a:prstGeom prst="rect">
            <a:avLst/>
          </a:prstGeom>
          <a:noFill/>
          <a:ln/>
        </p:spPr>
        <p:txBody>
          <a:bodyPr wrap="square" lIns="0" tIns="0" rIns="0" bIns="0" rtlCol="0" anchor="ctr"/>
          <a:lstStyle/>
          <a:p>
            <a:pPr indent="0" marL="0">
              <a:buNone/>
            </a:pPr>
            <a:r>
              <a:rPr lang="en-US" sz="1450" b="1" dirty="0">
                <a:solidFill>
                  <a:srgbClr val="17202B"/>
                </a:solidFill>
                <a:latin typeface="Calibri" pitchFamily="34" charset="0"/>
                <a:ea typeface="Calibri" pitchFamily="34" charset="-122"/>
                <a:cs typeface="Calibri" pitchFamily="34" charset="-120"/>
              </a:rPr>
              <a:t>Products</a:t>
            </a:r>
            <a:endParaRPr lang="en-US" sz="1450" dirty="0"/>
          </a:p>
        </p:txBody>
      </p:sp>
      <p:sp>
        <p:nvSpPr>
          <p:cNvPr id="29" name="Text 27"/>
          <p:cNvSpPr txBox="1"/>
          <p:nvPr/>
        </p:nvSpPr>
        <p:spPr>
          <a:xfrm>
            <a:off x="4562856" y="4114800"/>
            <a:ext cx="3063240" cy="603504"/>
          </a:xfrm>
          <a:prstGeom prst="rect">
            <a:avLst/>
          </a:prstGeom>
          <a:noFill/>
          <a:ln/>
        </p:spPr>
        <p:txBody>
          <a:bodyPr wrap="square" lIns="0" tIns="0" rIns="0" bIns="0" rtlCol="0" anchor="t"/>
          <a:lstStyle/>
          <a:p>
            <a:pPr indent="0" marL="0">
              <a:lnSpc>
                <a:spcPts val="1400"/>
              </a:lnSpc>
              <a:buNone/>
            </a:pPr>
            <a:r>
              <a:rPr lang="en-US" sz="1050" dirty="0">
                <a:solidFill>
                  <a:srgbClr val="5A6A78"/>
                </a:solidFill>
                <a:latin typeface="Calibri" pitchFamily="34" charset="0"/>
                <a:ea typeface="Calibri" pitchFamily="34" charset="-122"/>
                <a:cs typeface="Calibri" pitchFamily="34" charset="-120"/>
              </a:rPr>
              <a:t>The per-product forecast: which method it earned, how price affects it, how certain it is.</a:t>
            </a:r>
            <a:endParaRPr lang="en-US" sz="1050" dirty="0"/>
          </a:p>
        </p:txBody>
      </p:sp>
      <p:sp>
        <p:nvSpPr>
          <p:cNvPr id="30" name="Shape 28"/>
          <p:cNvSpPr/>
          <p:nvPr/>
        </p:nvSpPr>
        <p:spPr>
          <a:xfrm>
            <a:off x="8119872" y="3511296"/>
            <a:ext cx="3502152" cy="1298448"/>
          </a:xfrm>
          <a:prstGeom prst="roundRect">
            <a:avLst>
              <a:gd name="adj" fmla="val 3521"/>
            </a:avLst>
          </a:prstGeom>
          <a:solidFill>
            <a:srgbClr val="EDF3F7"/>
          </a:solidFill>
          <a:ln/>
        </p:spPr>
      </p:sp>
      <p:sp>
        <p:nvSpPr>
          <p:cNvPr id="31" name="Shape 29"/>
          <p:cNvSpPr/>
          <p:nvPr/>
        </p:nvSpPr>
        <p:spPr>
          <a:xfrm>
            <a:off x="8339328" y="3730752"/>
            <a:ext cx="310896" cy="310896"/>
          </a:xfrm>
          <a:prstGeom prst="ellipse">
            <a:avLst/>
          </a:prstGeom>
          <a:solidFill>
            <a:srgbClr val="065A82"/>
          </a:solidFill>
          <a:ln/>
        </p:spPr>
      </p:sp>
      <p:sp>
        <p:nvSpPr>
          <p:cNvPr id="32" name="Text 30"/>
          <p:cNvSpPr txBox="1"/>
          <p:nvPr/>
        </p:nvSpPr>
        <p:spPr>
          <a:xfrm>
            <a:off x="8339328" y="375361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741664" y="3712464"/>
            <a:ext cx="2679192" cy="292608"/>
          </a:xfrm>
          <a:prstGeom prst="rect">
            <a:avLst/>
          </a:prstGeom>
          <a:noFill/>
          <a:ln/>
        </p:spPr>
        <p:txBody>
          <a:bodyPr wrap="square" lIns="0" tIns="0" rIns="0" bIns="0" rtlCol="0" anchor="ctr"/>
          <a:lstStyle/>
          <a:p>
            <a:pPr indent="0" marL="0">
              <a:buNone/>
            </a:pPr>
            <a:r>
              <a:rPr lang="en-US" sz="1450" b="1" dirty="0">
                <a:solidFill>
                  <a:srgbClr val="17202B"/>
                </a:solidFill>
                <a:latin typeface="Calibri" pitchFamily="34" charset="0"/>
                <a:ea typeface="Calibri" pitchFamily="34" charset="-122"/>
                <a:cs typeface="Calibri" pitchFamily="34" charset="-120"/>
              </a:rPr>
              <a:t>Backtest</a:t>
            </a:r>
            <a:endParaRPr lang="en-US" sz="1450" dirty="0"/>
          </a:p>
        </p:txBody>
      </p:sp>
      <p:sp>
        <p:nvSpPr>
          <p:cNvPr id="34" name="Text 32"/>
          <p:cNvSpPr txBox="1"/>
          <p:nvPr/>
        </p:nvSpPr>
        <p:spPr>
          <a:xfrm>
            <a:off x="8339328" y="4114800"/>
            <a:ext cx="3063240" cy="603504"/>
          </a:xfrm>
          <a:prstGeom prst="rect">
            <a:avLst/>
          </a:prstGeom>
          <a:noFill/>
          <a:ln/>
        </p:spPr>
        <p:txBody>
          <a:bodyPr wrap="square" lIns="0" tIns="0" rIns="0" bIns="0" rtlCol="0" anchor="t"/>
          <a:lstStyle/>
          <a:p>
            <a:pPr indent="0" marL="0">
              <a:lnSpc>
                <a:spcPts val="1400"/>
              </a:lnSpc>
              <a:buNone/>
            </a:pPr>
            <a:r>
              <a:rPr lang="en-US" sz="1050" dirty="0">
                <a:solidFill>
                  <a:srgbClr val="5A6A78"/>
                </a:solidFill>
                <a:latin typeface="Calibri" pitchFamily="34" charset="0"/>
                <a:ea typeface="Calibri" pitchFamily="34" charset="-122"/>
                <a:cs typeface="Calibri" pitchFamily="34" charset="-120"/>
              </a:rPr>
              <a:t>Replays history to check the forecast and to price the reorder policy.</a:t>
            </a:r>
            <a:endParaRPr lang="en-US" sz="1050" dirty="0"/>
          </a:p>
        </p:txBody>
      </p:sp>
      <p:sp>
        <p:nvSpPr>
          <p:cNvPr id="35" name="Shape 33"/>
          <p:cNvSpPr/>
          <p:nvPr/>
        </p:nvSpPr>
        <p:spPr>
          <a:xfrm>
            <a:off x="566928" y="5084064"/>
            <a:ext cx="11055096" cy="841248"/>
          </a:xfrm>
          <a:prstGeom prst="roundRect">
            <a:avLst>
              <a:gd name="adj" fmla="val 5435"/>
            </a:avLst>
          </a:prstGeom>
          <a:solidFill>
            <a:srgbClr val="E6EEF6"/>
          </a:solidFill>
          <a:ln/>
        </p:spPr>
      </p:sp>
      <p:sp>
        <p:nvSpPr>
          <p:cNvPr id="36" name="Shape 34"/>
          <p:cNvSpPr/>
          <p:nvPr/>
        </p:nvSpPr>
        <p:spPr>
          <a:xfrm>
            <a:off x="786384" y="5285232"/>
            <a:ext cx="310896" cy="310896"/>
          </a:xfrm>
          <a:prstGeom prst="ellipse">
            <a:avLst/>
          </a:prstGeom>
          <a:solidFill>
            <a:srgbClr val="065A82"/>
          </a:solidFill>
          <a:ln/>
        </p:spPr>
      </p:sp>
      <p:sp>
        <p:nvSpPr>
          <p:cNvPr id="37" name="Text 35"/>
          <p:cNvSpPr txBox="1"/>
          <p:nvPr/>
        </p:nvSpPr>
        <p:spPr>
          <a:xfrm>
            <a:off x="786384" y="530809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txBox="1"/>
          <p:nvPr/>
        </p:nvSpPr>
        <p:spPr>
          <a:xfrm>
            <a:off x="1188720" y="5266944"/>
            <a:ext cx="2011680" cy="292608"/>
          </a:xfrm>
          <a:prstGeom prst="rect">
            <a:avLst/>
          </a:prstGeom>
          <a:noFill/>
          <a:ln/>
        </p:spPr>
        <p:txBody>
          <a:bodyPr wrap="square" lIns="0" tIns="0" rIns="0" bIns="0" rtlCol="0" anchor="ctr"/>
          <a:lstStyle/>
          <a:p>
            <a:pPr indent="0" marL="0">
              <a:buNone/>
            </a:pPr>
            <a:r>
              <a:rPr lang="en-US" sz="1450" b="1" dirty="0">
                <a:solidFill>
                  <a:srgbClr val="17202B"/>
                </a:solidFill>
                <a:latin typeface="Calibri" pitchFamily="34" charset="0"/>
                <a:ea typeface="Calibri" pitchFamily="34" charset="-122"/>
                <a:cs typeface="Calibri" pitchFamily="34" charset="-120"/>
              </a:rPr>
              <a:t>Live accuracy</a:t>
            </a:r>
            <a:endParaRPr lang="en-US" sz="1450" dirty="0"/>
          </a:p>
        </p:txBody>
      </p:sp>
      <p:sp>
        <p:nvSpPr>
          <p:cNvPr id="39" name="Text 37"/>
          <p:cNvSpPr txBox="1"/>
          <p:nvPr/>
        </p:nvSpPr>
        <p:spPr>
          <a:xfrm>
            <a:off x="3264408" y="5294376"/>
            <a:ext cx="8037576" cy="457200"/>
          </a:xfrm>
          <a:prstGeom prst="rect">
            <a:avLst/>
          </a:prstGeom>
          <a:noFill/>
          <a:ln/>
        </p:spPr>
        <p:txBody>
          <a:bodyPr wrap="square" lIns="0" tIns="0" rIns="0" bIns="0" rtlCol="0" anchor="t"/>
          <a:lstStyle/>
          <a:p>
            <a:pPr indent="0" marL="0">
              <a:lnSpc>
                <a:spcPts val="1400"/>
              </a:lnSpc>
              <a:buNone/>
            </a:pPr>
            <a:r>
              <a:rPr lang="en-US" sz="1100" dirty="0">
                <a:solidFill>
                  <a:srgbClr val="5A6A78"/>
                </a:solidFill>
                <a:latin typeface="Calibri" pitchFamily="34" charset="0"/>
                <a:ea typeface="Calibri" pitchFamily="34" charset="-122"/>
                <a:cs typeface="Calibri" pitchFamily="34" charset="-120"/>
              </a:rPr>
              <a:t>Grades each week's forecast against what actually sold, once the week closes.</a:t>
            </a:r>
            <a:endParaRPr lang="en-US" sz="1100" dirty="0"/>
          </a:p>
        </p:txBody>
      </p:sp>
      <p:sp>
        <p:nvSpPr>
          <p:cNvPr id="40" name="Text 38"/>
          <p:cNvSpPr txBox="1"/>
          <p:nvPr/>
        </p:nvSpPr>
        <p:spPr>
          <a:xfrm>
            <a:off x="566928" y="6089904"/>
            <a:ext cx="11055096" cy="457200"/>
          </a:xfrm>
          <a:prstGeom prst="rect">
            <a:avLst/>
          </a:prstGeom>
          <a:noFill/>
          <a:ln/>
        </p:spPr>
        <p:txBody>
          <a:bodyPr wrap="square" lIns="0" tIns="0" rIns="0" bIns="0" rtlCol="0" anchor="ctr"/>
          <a:lstStyle/>
          <a:p>
            <a:pPr indent="0" marL="0">
              <a:lnSpc>
                <a:spcPts val="1600"/>
              </a:lnSpc>
              <a:buNone/>
            </a:pPr>
            <a:r>
              <a:rPr lang="en-US" sz="1200" i="1" dirty="0">
                <a:solidFill>
                  <a:srgbClr val="5A6A78"/>
                </a:solidFill>
                <a:latin typeface="Calibri" pitchFamily="34" charset="0"/>
                <a:ea typeface="Calibri" pitchFamily="34" charset="-122"/>
                <a:cs typeface="Calibri" pitchFamily="34" charset="-120"/>
              </a:rPr>
              <a:t>An assistant sits across all seven with the catalogue already in context, and every view exports to a formatted Excel workbook, including a reorder plan a buyer can act 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784080" y="-1371600"/>
            <a:ext cx="4206240" cy="4206240"/>
          </a:xfrm>
          <a:prstGeom prst="ellipse">
            <a:avLst/>
          </a:prstGeom>
          <a:solidFill>
            <a:srgbClr val="065A82">
              <a:alpha val="28000"/>
            </a:srgbClr>
          </a:solidFill>
          <a:ln/>
        </p:spPr>
      </p:sp>
      <p:sp>
        <p:nvSpPr>
          <p:cNvPr id="3" name="Shape 1"/>
          <p:cNvSpPr/>
          <p:nvPr/>
        </p:nvSpPr>
        <p:spPr>
          <a:xfrm>
            <a:off x="10881360" y="4023360"/>
            <a:ext cx="2926080" cy="2926080"/>
          </a:xfrm>
          <a:prstGeom prst="ellipse">
            <a:avLst/>
          </a:prstGeom>
          <a:solidFill>
            <a:srgbClr val="1C7293">
              <a:alpha val="20000"/>
            </a:srgbClr>
          </a:solidFill>
          <a:ln/>
        </p:spPr>
      </p:sp>
      <p:sp>
        <p:nvSpPr>
          <p:cNvPr id="4" name="Text 2"/>
          <p:cNvSpPr txBox="1"/>
          <p:nvPr/>
        </p:nvSpPr>
        <p:spPr>
          <a:xfrm>
            <a:off x="566928" y="713232"/>
            <a:ext cx="768096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Fleet</a:t>
            </a:r>
            <a:endParaRPr lang="en-US" sz="3400" dirty="0"/>
          </a:p>
        </p:txBody>
      </p:sp>
      <p:sp>
        <p:nvSpPr>
          <p:cNvPr id="5" name="Text 3"/>
          <p:cNvSpPr txBox="1"/>
          <p:nvPr/>
        </p:nvSpPr>
        <p:spPr>
          <a:xfrm>
            <a:off x="566928" y="1481328"/>
            <a:ext cx="7498080" cy="365760"/>
          </a:xfrm>
          <a:prstGeom prst="rect">
            <a:avLst/>
          </a:prstGeom>
          <a:noFill/>
          <a:ln/>
        </p:spPr>
        <p:txBody>
          <a:bodyPr wrap="square" lIns="0" tIns="0" rIns="0" bIns="0" rtlCol="0" anchor="ctr"/>
          <a:lstStyle/>
          <a:p>
            <a:pPr indent="0" marL="0">
              <a:buNone/>
            </a:pPr>
            <a:r>
              <a:rPr lang="en-US" sz="1350" dirty="0">
                <a:solidFill>
                  <a:srgbClr val="8FD4E8"/>
                </a:solidFill>
                <a:latin typeface="Calibri" pitchFamily="34" charset="0"/>
                <a:ea typeface="Calibri" pitchFamily="34" charset="-122"/>
                <a:cs typeface="Calibri" pitchFamily="34" charset="-120"/>
              </a:rPr>
              <a:t>The daily screen</a:t>
            </a:r>
            <a:endParaRPr lang="en-US" sz="1350" dirty="0"/>
          </a:p>
        </p:txBody>
      </p:sp>
      <p:sp>
        <p:nvSpPr>
          <p:cNvPr id="6" name="Text 4"/>
          <p:cNvSpPr txBox="1"/>
          <p:nvPr/>
        </p:nvSpPr>
        <p:spPr>
          <a:xfrm>
            <a:off x="621792" y="2139696"/>
            <a:ext cx="9509760" cy="3291840"/>
          </a:xfrm>
          <a:prstGeom prst="rect">
            <a:avLst/>
          </a:prstGeom>
          <a:noFill/>
          <a:ln/>
        </p:spPr>
        <p:txBody>
          <a:bodyPr wrap="square" lIns="0" tIns="0" rIns="0" bIns="0" rtlCol="0" anchor="t"/>
          <a:lstStyle/>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Catalogue health in one bar: at risk, overstocked, dead, healthy</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What needs ordering, ranked by urgency</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An eight-week buying schedule, in cash or in units</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Inventory value sitting on the shelf</a:t>
            </a:r>
            <a:endParaRPr lang="en-US" sz="1700" dirty="0"/>
          </a:p>
        </p:txBody>
      </p:sp>
      <p:sp>
        <p:nvSpPr>
          <p:cNvPr id="7" name="Text 5"/>
          <p:cNvSpPr txBox="1"/>
          <p:nvPr/>
        </p:nvSpPr>
        <p:spPr>
          <a:xfrm>
            <a:off x="566928" y="5248656"/>
            <a:ext cx="9692640" cy="457200"/>
          </a:xfrm>
          <a:prstGeom prst="rect">
            <a:avLst/>
          </a:prstGeom>
          <a:noFill/>
          <a:ln/>
        </p:spPr>
        <p:txBody>
          <a:bodyPr wrap="square" lIns="0" tIns="0" rIns="0" bIns="0" rtlCol="0" anchor="ctr"/>
          <a:lstStyle/>
          <a:p>
            <a:pPr indent="0" marL="0">
              <a:lnSpc>
                <a:spcPts val="1600"/>
              </a:lnSpc>
              <a:buNone/>
            </a:pPr>
            <a:r>
              <a:rPr lang="en-US" sz="1250" i="1" dirty="0">
                <a:solidFill>
                  <a:srgbClr val="9FB6C9"/>
                </a:solidFill>
                <a:latin typeface="Calibri" pitchFamily="34" charset="0"/>
                <a:ea typeface="Calibri" pitchFamily="34" charset="-122"/>
                <a:cs typeface="Calibri" pitchFamily="34" charset="-120"/>
              </a:rPr>
              <a:t>Attention goes to the few products that need it. The rest run themselves.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784080" y="-1371600"/>
            <a:ext cx="4206240" cy="4206240"/>
          </a:xfrm>
          <a:prstGeom prst="ellipse">
            <a:avLst/>
          </a:prstGeom>
          <a:solidFill>
            <a:srgbClr val="065A82">
              <a:alpha val="28000"/>
            </a:srgbClr>
          </a:solidFill>
          <a:ln/>
        </p:spPr>
      </p:sp>
      <p:sp>
        <p:nvSpPr>
          <p:cNvPr id="3" name="Shape 1"/>
          <p:cNvSpPr/>
          <p:nvPr/>
        </p:nvSpPr>
        <p:spPr>
          <a:xfrm>
            <a:off x="10881360" y="4023360"/>
            <a:ext cx="2926080" cy="2926080"/>
          </a:xfrm>
          <a:prstGeom prst="ellipse">
            <a:avLst/>
          </a:prstGeom>
          <a:solidFill>
            <a:srgbClr val="1C7293">
              <a:alpha val="20000"/>
            </a:srgbClr>
          </a:solidFill>
          <a:ln/>
        </p:spPr>
      </p:sp>
      <p:sp>
        <p:nvSpPr>
          <p:cNvPr id="4" name="Text 2"/>
          <p:cNvSpPr txBox="1"/>
          <p:nvPr/>
        </p:nvSpPr>
        <p:spPr>
          <a:xfrm>
            <a:off x="566928" y="713232"/>
            <a:ext cx="768096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Suppliers</a:t>
            </a:r>
            <a:endParaRPr lang="en-US" sz="3400" dirty="0"/>
          </a:p>
        </p:txBody>
      </p:sp>
      <p:sp>
        <p:nvSpPr>
          <p:cNvPr id="5" name="Text 3"/>
          <p:cNvSpPr txBox="1"/>
          <p:nvPr/>
        </p:nvSpPr>
        <p:spPr>
          <a:xfrm>
            <a:off x="566928" y="1481328"/>
            <a:ext cx="7498080" cy="365760"/>
          </a:xfrm>
          <a:prstGeom prst="rect">
            <a:avLst/>
          </a:prstGeom>
          <a:noFill/>
          <a:ln/>
        </p:spPr>
        <p:txBody>
          <a:bodyPr wrap="square" lIns="0" tIns="0" rIns="0" bIns="0" rtlCol="0" anchor="ctr"/>
          <a:lstStyle/>
          <a:p>
            <a:pPr indent="0" marL="0">
              <a:buNone/>
            </a:pPr>
            <a:r>
              <a:rPr lang="en-US" sz="1350" dirty="0">
                <a:solidFill>
                  <a:srgbClr val="8FD4E8"/>
                </a:solidFill>
                <a:latin typeface="Calibri" pitchFamily="34" charset="0"/>
                <a:ea typeface="Calibri" pitchFamily="34" charset="-122"/>
                <a:cs typeface="Calibri" pitchFamily="34" charset="-120"/>
              </a:rPr>
              <a:t>Where lead times come from</a:t>
            </a:r>
            <a:endParaRPr lang="en-US" sz="1350" dirty="0"/>
          </a:p>
        </p:txBody>
      </p:sp>
      <p:sp>
        <p:nvSpPr>
          <p:cNvPr id="6" name="Text 4"/>
          <p:cNvSpPr txBox="1"/>
          <p:nvPr/>
        </p:nvSpPr>
        <p:spPr>
          <a:xfrm>
            <a:off x="621792" y="2139696"/>
            <a:ext cx="9509760" cy="3291840"/>
          </a:xfrm>
          <a:prstGeom prst="rect">
            <a:avLst/>
          </a:prstGeom>
          <a:noFill/>
          <a:ln/>
        </p:spPr>
        <p:txBody>
          <a:bodyPr wrap="square" lIns="0" tIns="0" rIns="0" bIns="0" rtlCol="0" anchor="t"/>
          <a:lstStyle/>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Purchase orders tracked in transit and received against</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Real delivery times, per supplier and per shipping method</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A P80 planning figure rather than an average</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Stock jumps matched against open orders, so an arrival is confirmed in one click</a:t>
            </a:r>
            <a:endParaRPr lang="en-US" sz="1700" dirty="0"/>
          </a:p>
        </p:txBody>
      </p:sp>
      <p:sp>
        <p:nvSpPr>
          <p:cNvPr id="7" name="Text 5"/>
          <p:cNvSpPr txBox="1"/>
          <p:nvPr/>
        </p:nvSpPr>
        <p:spPr>
          <a:xfrm>
            <a:off x="566928" y="5248656"/>
            <a:ext cx="9692640" cy="457200"/>
          </a:xfrm>
          <a:prstGeom prst="rect">
            <a:avLst/>
          </a:prstGeom>
          <a:noFill/>
          <a:ln/>
        </p:spPr>
        <p:txBody>
          <a:bodyPr wrap="square" lIns="0" tIns="0" rIns="0" bIns="0" rtlCol="0" anchor="ctr"/>
          <a:lstStyle/>
          <a:p>
            <a:pPr indent="0" marL="0">
              <a:lnSpc>
                <a:spcPts val="1600"/>
              </a:lnSpc>
              <a:buNone/>
            </a:pPr>
            <a:r>
              <a:rPr lang="en-US" sz="1250" i="1" dirty="0">
                <a:solidFill>
                  <a:srgbClr val="9FB6C9"/>
                </a:solidFill>
                <a:latin typeface="Calibri" pitchFamily="34" charset="0"/>
                <a:ea typeface="Calibri" pitchFamily="34" charset="-122"/>
                <a:cs typeface="Calibri" pitchFamily="34" charset="-120"/>
              </a:rPr>
              <a:t>Planning to the average leaves half your orders late. P80 needs three received orders before it is offered.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784080" y="-1371600"/>
            <a:ext cx="4206240" cy="4206240"/>
          </a:xfrm>
          <a:prstGeom prst="ellipse">
            <a:avLst/>
          </a:prstGeom>
          <a:solidFill>
            <a:srgbClr val="065A82">
              <a:alpha val="28000"/>
            </a:srgbClr>
          </a:solidFill>
          <a:ln/>
        </p:spPr>
      </p:sp>
      <p:sp>
        <p:nvSpPr>
          <p:cNvPr id="3" name="Shape 1"/>
          <p:cNvSpPr/>
          <p:nvPr/>
        </p:nvSpPr>
        <p:spPr>
          <a:xfrm>
            <a:off x="10881360" y="4023360"/>
            <a:ext cx="2926080" cy="2926080"/>
          </a:xfrm>
          <a:prstGeom prst="ellipse">
            <a:avLst/>
          </a:prstGeom>
          <a:solidFill>
            <a:srgbClr val="1C7293">
              <a:alpha val="20000"/>
            </a:srgbClr>
          </a:solidFill>
          <a:ln/>
        </p:spPr>
      </p:sp>
      <p:sp>
        <p:nvSpPr>
          <p:cNvPr id="4" name="Text 2"/>
          <p:cNvSpPr txBox="1"/>
          <p:nvPr/>
        </p:nvSpPr>
        <p:spPr>
          <a:xfrm>
            <a:off x="566928" y="713232"/>
            <a:ext cx="768096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Scorecard</a:t>
            </a:r>
            <a:endParaRPr lang="en-US" sz="3400" dirty="0"/>
          </a:p>
        </p:txBody>
      </p:sp>
      <p:sp>
        <p:nvSpPr>
          <p:cNvPr id="5" name="Text 3"/>
          <p:cNvSpPr txBox="1"/>
          <p:nvPr/>
        </p:nvSpPr>
        <p:spPr>
          <a:xfrm>
            <a:off x="566928" y="1481328"/>
            <a:ext cx="7498080" cy="365760"/>
          </a:xfrm>
          <a:prstGeom prst="rect">
            <a:avLst/>
          </a:prstGeom>
          <a:noFill/>
          <a:ln/>
        </p:spPr>
        <p:txBody>
          <a:bodyPr wrap="square" lIns="0" tIns="0" rIns="0" bIns="0" rtlCol="0" anchor="ctr"/>
          <a:lstStyle/>
          <a:p>
            <a:pPr indent="0" marL="0">
              <a:buNone/>
            </a:pPr>
            <a:r>
              <a:rPr lang="en-US" sz="1350" dirty="0">
                <a:solidFill>
                  <a:srgbClr val="8FD4E8"/>
                </a:solidFill>
                <a:latin typeface="Calibri" pitchFamily="34" charset="0"/>
                <a:ea typeface="Calibri" pitchFamily="34" charset="-122"/>
                <a:cs typeface="Calibri" pitchFamily="34" charset="-120"/>
              </a:rPr>
              <a:t>The money view</a:t>
            </a:r>
            <a:endParaRPr lang="en-US" sz="1350" dirty="0"/>
          </a:p>
        </p:txBody>
      </p:sp>
      <p:sp>
        <p:nvSpPr>
          <p:cNvPr id="6" name="Text 4"/>
          <p:cNvSpPr txBox="1"/>
          <p:nvPr/>
        </p:nvSpPr>
        <p:spPr>
          <a:xfrm>
            <a:off x="621792" y="2139696"/>
            <a:ext cx="9509760" cy="3291840"/>
          </a:xfrm>
          <a:prstGeom prst="rect">
            <a:avLst/>
          </a:prstGeom>
          <a:noFill/>
          <a:ln/>
        </p:spPr>
        <p:txBody>
          <a:bodyPr wrap="square" lIns="0" tIns="0" rIns="0" bIns="0" rtlCol="0" anchor="t"/>
          <a:lstStyle/>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Margin and capital tied up, per product</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One ranked list of what needs attention across the catalogue</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Promotion demand and normal demand shown separately</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Flags for dead stock, overstock, and products selling below cost</a:t>
            </a:r>
            <a:endParaRPr lang="en-US" sz="1700" dirty="0"/>
          </a:p>
        </p:txBody>
      </p:sp>
      <p:sp>
        <p:nvSpPr>
          <p:cNvPr id="7" name="Text 5"/>
          <p:cNvSpPr txBox="1"/>
          <p:nvPr/>
        </p:nvSpPr>
        <p:spPr>
          <a:xfrm>
            <a:off x="566928" y="5248656"/>
            <a:ext cx="9692640" cy="457200"/>
          </a:xfrm>
          <a:prstGeom prst="rect">
            <a:avLst/>
          </a:prstGeom>
          <a:noFill/>
          <a:ln/>
        </p:spPr>
        <p:txBody>
          <a:bodyPr wrap="square" lIns="0" tIns="0" rIns="0" bIns="0" rtlCol="0" anchor="ctr"/>
          <a:lstStyle/>
          <a:p>
            <a:pPr indent="0" marL="0">
              <a:lnSpc>
                <a:spcPts val="1600"/>
              </a:lnSpc>
              <a:buNone/>
            </a:pPr>
            <a:r>
              <a:rPr lang="en-US" sz="1250" i="1" dirty="0">
                <a:solidFill>
                  <a:srgbClr val="9FB6C9"/>
                </a:solidFill>
                <a:latin typeface="Calibri" pitchFamily="34" charset="0"/>
                <a:ea typeface="Calibri" pitchFamily="34" charset="-122"/>
                <a:cs typeface="Calibri" pitchFamily="34" charset="-120"/>
              </a:rPr>
              <a:t>Products with no cost on file are left out of the money view rather than priced on a guess.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784080" y="-1371600"/>
            <a:ext cx="4206240" cy="4206240"/>
          </a:xfrm>
          <a:prstGeom prst="ellipse">
            <a:avLst/>
          </a:prstGeom>
          <a:solidFill>
            <a:srgbClr val="065A82">
              <a:alpha val="28000"/>
            </a:srgbClr>
          </a:solidFill>
          <a:ln/>
        </p:spPr>
      </p:sp>
      <p:sp>
        <p:nvSpPr>
          <p:cNvPr id="3" name="Shape 1"/>
          <p:cNvSpPr/>
          <p:nvPr/>
        </p:nvSpPr>
        <p:spPr>
          <a:xfrm>
            <a:off x="10881360" y="4023360"/>
            <a:ext cx="2926080" cy="2926080"/>
          </a:xfrm>
          <a:prstGeom prst="ellipse">
            <a:avLst/>
          </a:prstGeom>
          <a:solidFill>
            <a:srgbClr val="1C7293">
              <a:alpha val="20000"/>
            </a:srgbClr>
          </a:solidFill>
          <a:ln/>
        </p:spPr>
      </p:sp>
      <p:sp>
        <p:nvSpPr>
          <p:cNvPr id="4" name="Text 2"/>
          <p:cNvSpPr txBox="1"/>
          <p:nvPr/>
        </p:nvSpPr>
        <p:spPr>
          <a:xfrm>
            <a:off x="566928" y="713232"/>
            <a:ext cx="768096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Grouping</a:t>
            </a:r>
            <a:endParaRPr lang="en-US" sz="3400" dirty="0"/>
          </a:p>
        </p:txBody>
      </p:sp>
      <p:sp>
        <p:nvSpPr>
          <p:cNvPr id="5" name="Text 3"/>
          <p:cNvSpPr txBox="1"/>
          <p:nvPr/>
        </p:nvSpPr>
        <p:spPr>
          <a:xfrm>
            <a:off x="566928" y="1481328"/>
            <a:ext cx="7498080" cy="365760"/>
          </a:xfrm>
          <a:prstGeom prst="rect">
            <a:avLst/>
          </a:prstGeom>
          <a:noFill/>
          <a:ln/>
        </p:spPr>
        <p:txBody>
          <a:bodyPr wrap="square" lIns="0" tIns="0" rIns="0" bIns="0" rtlCol="0" anchor="ctr"/>
          <a:lstStyle/>
          <a:p>
            <a:pPr indent="0" marL="0">
              <a:buNone/>
            </a:pPr>
            <a:r>
              <a:rPr lang="en-US" sz="1350" dirty="0">
                <a:solidFill>
                  <a:srgbClr val="8FD4E8"/>
                </a:solidFill>
                <a:latin typeface="Calibri" pitchFamily="34" charset="0"/>
                <a:ea typeface="Calibri" pitchFamily="34" charset="-122"/>
                <a:cs typeface="Calibri" pitchFamily="34" charset="-120"/>
              </a:rPr>
              <a:t>How products learn from each other</a:t>
            </a:r>
            <a:endParaRPr lang="en-US" sz="1350" dirty="0"/>
          </a:p>
        </p:txBody>
      </p:sp>
      <p:sp>
        <p:nvSpPr>
          <p:cNvPr id="6" name="Text 4"/>
          <p:cNvSpPr txBox="1"/>
          <p:nvPr/>
        </p:nvSpPr>
        <p:spPr>
          <a:xfrm>
            <a:off x="621792" y="2139696"/>
            <a:ext cx="9509760" cy="3291840"/>
          </a:xfrm>
          <a:prstGeom prst="rect">
            <a:avLst/>
          </a:prstGeom>
          <a:noFill/>
          <a:ln/>
        </p:spPr>
        <p:txBody>
          <a:bodyPr wrap="square" lIns="0" tIns="0" rIns="0" bIns="0" rtlCol="0" anchor="t"/>
          <a:lstStyle/>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Categories assigned automatically, with sub-families where they matter</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Attributes read from product names: brand, size, colour</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Products clustered by how they sell, not only by what they are</a:t>
            </a:r>
            <a:endParaRPr lang="en-US" sz="1700" dirty="0"/>
          </a:p>
        </p:txBody>
      </p:sp>
      <p:sp>
        <p:nvSpPr>
          <p:cNvPr id="7" name="Text 5"/>
          <p:cNvSpPr txBox="1"/>
          <p:nvPr/>
        </p:nvSpPr>
        <p:spPr>
          <a:xfrm>
            <a:off x="566928" y="4535424"/>
            <a:ext cx="9692640" cy="457200"/>
          </a:xfrm>
          <a:prstGeom prst="rect">
            <a:avLst/>
          </a:prstGeom>
          <a:noFill/>
          <a:ln/>
        </p:spPr>
        <p:txBody>
          <a:bodyPr wrap="square" lIns="0" tIns="0" rIns="0" bIns="0" rtlCol="0" anchor="ctr"/>
          <a:lstStyle/>
          <a:p>
            <a:pPr indent="0" marL="0">
              <a:lnSpc>
                <a:spcPts val="1600"/>
              </a:lnSpc>
              <a:buNone/>
            </a:pPr>
            <a:r>
              <a:rPr lang="en-US" sz="1250" i="1" dirty="0">
                <a:solidFill>
                  <a:srgbClr val="9FB6C9"/>
                </a:solidFill>
                <a:latin typeface="Calibri" pitchFamily="34" charset="0"/>
                <a:ea typeface="Calibri" pitchFamily="34" charset="-122"/>
                <a:cs typeface="Calibri" pitchFamily="34" charset="-120"/>
              </a:rPr>
              <a:t>A look-alike product that sells nothing alike does not share a forecast.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1C7293"/>
                </a:solidFill>
                <a:latin typeface="Calibri" pitchFamily="34" charset="0"/>
                <a:ea typeface="Calibri" pitchFamily="34" charset="-122"/>
                <a:cs typeface="Calibri" pitchFamily="34" charset="-120"/>
              </a:rPr>
              <a:t>PRODUCTS TAB</a:t>
            </a:r>
            <a:endParaRPr lang="en-US" sz="105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Every product gets the method its data can support</a:t>
            </a:r>
            <a:endParaRPr lang="en-US" sz="3000" dirty="0"/>
          </a:p>
        </p:txBody>
      </p:sp>
      <p:sp>
        <p:nvSpPr>
          <p:cNvPr id="4" name="Text 2"/>
          <p:cNvSpPr txBox="1"/>
          <p:nvPr/>
        </p:nvSpPr>
        <p:spPr>
          <a:xfrm>
            <a:off x="566928" y="1243584"/>
            <a:ext cx="9957816" cy="384048"/>
          </a:xfrm>
          <a:prstGeom prst="rect">
            <a:avLst/>
          </a:prstGeom>
          <a:noFill/>
          <a:ln/>
        </p:spPr>
        <p:txBody>
          <a:bodyPr wrap="square" lIns="0" tIns="0" rIns="0" bIns="0" rtlCol="0" anchor="ctr"/>
          <a:lstStyle/>
          <a:p>
            <a:pPr indent="0" marL="0">
              <a:lnSpc>
                <a:spcPts val="1800"/>
              </a:lnSpc>
              <a:buNone/>
            </a:pPr>
            <a:r>
              <a:rPr lang="en-US" sz="1350" dirty="0">
                <a:solidFill>
                  <a:srgbClr val="5A6A78"/>
                </a:solidFill>
                <a:latin typeface="Calibri" pitchFamily="34" charset="0"/>
                <a:ea typeface="Calibri" pitchFamily="34" charset="-122"/>
                <a:cs typeface="Calibri" pitchFamily="34" charset="-120"/>
              </a:rPr>
              <a:t>Each product is judged on how much history it has and how many similar products it can learn from, then routed.</a:t>
            </a:r>
            <a:endParaRPr lang="en-US" sz="1350" dirty="0"/>
          </a:p>
        </p:txBody>
      </p:sp>
      <p:sp>
        <p:nvSpPr>
          <p:cNvPr id="5" name="Shape 3"/>
          <p:cNvSpPr/>
          <p:nvPr/>
        </p:nvSpPr>
        <p:spPr>
          <a:xfrm>
            <a:off x="566928" y="1956816"/>
            <a:ext cx="11055096" cy="822960"/>
          </a:xfrm>
          <a:prstGeom prst="roundRect">
            <a:avLst>
              <a:gd name="adj" fmla="val 5556"/>
            </a:avLst>
          </a:prstGeom>
          <a:solidFill>
            <a:srgbClr val="EDF3F7"/>
          </a:solidFill>
          <a:ln/>
        </p:spPr>
      </p:sp>
      <p:sp>
        <p:nvSpPr>
          <p:cNvPr id="6" name="Text 4"/>
          <p:cNvSpPr txBox="1"/>
          <p:nvPr/>
        </p:nvSpPr>
        <p:spPr>
          <a:xfrm>
            <a:off x="841248" y="2157984"/>
            <a:ext cx="3291840" cy="438912"/>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Long history, sells steadily</a:t>
            </a:r>
            <a:endParaRPr lang="en-US" sz="1250" dirty="0"/>
          </a:p>
        </p:txBody>
      </p:sp>
      <p:sp>
        <p:nvSpPr>
          <p:cNvPr id="7" name="Shape 5"/>
          <p:cNvSpPr/>
          <p:nvPr/>
        </p:nvSpPr>
        <p:spPr>
          <a:xfrm>
            <a:off x="4334256" y="2176272"/>
            <a:ext cx="1572768" cy="384048"/>
          </a:xfrm>
          <a:prstGeom prst="roundRect">
            <a:avLst>
              <a:gd name="adj" fmla="val 19048"/>
            </a:avLst>
          </a:prstGeom>
          <a:solidFill>
            <a:srgbClr val="065A82"/>
          </a:solidFill>
          <a:ln/>
        </p:spPr>
      </p:sp>
      <p:sp>
        <p:nvSpPr>
          <p:cNvPr id="8" name="Text 6"/>
          <p:cNvSpPr txBox="1"/>
          <p:nvPr/>
        </p:nvSpPr>
        <p:spPr>
          <a:xfrm>
            <a:off x="4334256" y="2212848"/>
            <a:ext cx="15727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Prophet</a:t>
            </a:r>
            <a:endParaRPr lang="en-US" sz="1150" dirty="0"/>
          </a:p>
        </p:txBody>
      </p:sp>
      <p:sp>
        <p:nvSpPr>
          <p:cNvPr id="9" name="Text 7"/>
          <p:cNvSpPr txBox="1"/>
          <p:nvPr/>
        </p:nvSpPr>
        <p:spPr>
          <a:xfrm>
            <a:off x="6254496" y="2121408"/>
            <a:ext cx="5120640" cy="548640"/>
          </a:xfrm>
          <a:prstGeom prst="rect">
            <a:avLst/>
          </a:prstGeom>
          <a:noFill/>
          <a:ln/>
        </p:spPr>
        <p:txBody>
          <a:bodyPr wrap="square" lIns="0" tIns="0" rIns="0" bIns="0" rtlCol="0" anchor="ctr"/>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Learns the product's own weekly and yearly rhythm, and responds to price and promotions.</a:t>
            </a:r>
            <a:endParaRPr lang="en-US" sz="1150" dirty="0"/>
          </a:p>
        </p:txBody>
      </p:sp>
      <p:sp>
        <p:nvSpPr>
          <p:cNvPr id="10" name="Shape 8"/>
          <p:cNvSpPr/>
          <p:nvPr/>
        </p:nvSpPr>
        <p:spPr>
          <a:xfrm>
            <a:off x="566928" y="2926080"/>
            <a:ext cx="11055096" cy="822960"/>
          </a:xfrm>
          <a:prstGeom prst="roundRect">
            <a:avLst>
              <a:gd name="adj" fmla="val 5556"/>
            </a:avLst>
          </a:prstGeom>
          <a:solidFill>
            <a:srgbClr val="E6EEF6"/>
          </a:solidFill>
          <a:ln/>
        </p:spPr>
      </p:sp>
      <p:sp>
        <p:nvSpPr>
          <p:cNvPr id="11" name="Text 9"/>
          <p:cNvSpPr txBox="1"/>
          <p:nvPr/>
        </p:nvSpPr>
        <p:spPr>
          <a:xfrm>
            <a:off x="841248" y="3127248"/>
            <a:ext cx="3291840" cy="438912"/>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Sells in bursts, has its own track record</a:t>
            </a:r>
            <a:endParaRPr lang="en-US" sz="1250" dirty="0"/>
          </a:p>
        </p:txBody>
      </p:sp>
      <p:sp>
        <p:nvSpPr>
          <p:cNvPr id="12" name="Shape 10"/>
          <p:cNvSpPr/>
          <p:nvPr/>
        </p:nvSpPr>
        <p:spPr>
          <a:xfrm>
            <a:off x="4334256" y="3145536"/>
            <a:ext cx="1572768" cy="384048"/>
          </a:xfrm>
          <a:prstGeom prst="roundRect">
            <a:avLst>
              <a:gd name="adj" fmla="val 19048"/>
            </a:avLst>
          </a:prstGeom>
          <a:solidFill>
            <a:srgbClr val="065A82"/>
          </a:solidFill>
          <a:ln/>
        </p:spPr>
      </p:sp>
      <p:sp>
        <p:nvSpPr>
          <p:cNvPr id="13" name="Text 11"/>
          <p:cNvSpPr txBox="1"/>
          <p:nvPr/>
        </p:nvSpPr>
        <p:spPr>
          <a:xfrm>
            <a:off x="4334256" y="3182112"/>
            <a:ext cx="15727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Croston / TSB</a:t>
            </a:r>
            <a:endParaRPr lang="en-US" sz="1150" dirty="0"/>
          </a:p>
        </p:txBody>
      </p:sp>
      <p:sp>
        <p:nvSpPr>
          <p:cNvPr id="14" name="Text 12"/>
          <p:cNvSpPr txBox="1"/>
          <p:nvPr/>
        </p:nvSpPr>
        <p:spPr>
          <a:xfrm>
            <a:off x="6254496" y="3090672"/>
            <a:ext cx="5120640" cy="548640"/>
          </a:xfrm>
          <a:prstGeom prst="rect">
            <a:avLst/>
          </a:prstGeom>
          <a:noFill/>
          <a:ln/>
        </p:spPr>
        <p:txBody>
          <a:bodyPr wrap="square" lIns="0" tIns="0" rIns="0" bIns="0" rtlCol="0" anchor="ctr"/>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Forecasts sale size and sale frequency separately, so long runs of zeros do not read as dead.</a:t>
            </a:r>
            <a:endParaRPr lang="en-US" sz="1150" dirty="0"/>
          </a:p>
        </p:txBody>
      </p:sp>
      <p:sp>
        <p:nvSpPr>
          <p:cNvPr id="15" name="Shape 13"/>
          <p:cNvSpPr/>
          <p:nvPr/>
        </p:nvSpPr>
        <p:spPr>
          <a:xfrm>
            <a:off x="566928" y="3895344"/>
            <a:ext cx="11055096" cy="822960"/>
          </a:xfrm>
          <a:prstGeom prst="roundRect">
            <a:avLst>
              <a:gd name="adj" fmla="val 5556"/>
            </a:avLst>
          </a:prstGeom>
          <a:solidFill>
            <a:srgbClr val="EDF3F7"/>
          </a:solidFill>
          <a:ln/>
        </p:spPr>
      </p:sp>
      <p:sp>
        <p:nvSpPr>
          <p:cNvPr id="16" name="Text 14"/>
          <p:cNvSpPr txBox="1"/>
          <p:nvPr/>
        </p:nvSpPr>
        <p:spPr>
          <a:xfrm>
            <a:off x="841248" y="4096512"/>
            <a:ext cx="3291840" cy="438912"/>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New or thin, similar products to learn from</a:t>
            </a:r>
            <a:endParaRPr lang="en-US" sz="1250" dirty="0"/>
          </a:p>
        </p:txBody>
      </p:sp>
      <p:sp>
        <p:nvSpPr>
          <p:cNvPr id="17" name="Shape 15"/>
          <p:cNvSpPr/>
          <p:nvPr/>
        </p:nvSpPr>
        <p:spPr>
          <a:xfrm>
            <a:off x="4334256" y="4114800"/>
            <a:ext cx="1572768" cy="384048"/>
          </a:xfrm>
          <a:prstGeom prst="roundRect">
            <a:avLst>
              <a:gd name="adj" fmla="val 19048"/>
            </a:avLst>
          </a:prstGeom>
          <a:solidFill>
            <a:srgbClr val="065A82"/>
          </a:solidFill>
          <a:ln/>
        </p:spPr>
      </p:sp>
      <p:sp>
        <p:nvSpPr>
          <p:cNvPr id="18" name="Text 16"/>
          <p:cNvSpPr txBox="1"/>
          <p:nvPr/>
        </p:nvSpPr>
        <p:spPr>
          <a:xfrm>
            <a:off x="4334256" y="4151376"/>
            <a:ext cx="15727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Pooled model</a:t>
            </a:r>
            <a:endParaRPr lang="en-US" sz="1150" dirty="0"/>
          </a:p>
        </p:txBody>
      </p:sp>
      <p:sp>
        <p:nvSpPr>
          <p:cNvPr id="19" name="Text 17"/>
          <p:cNvSpPr txBox="1"/>
          <p:nvPr/>
        </p:nvSpPr>
        <p:spPr>
          <a:xfrm>
            <a:off x="6254496" y="4059936"/>
            <a:ext cx="5120640" cy="548640"/>
          </a:xfrm>
          <a:prstGeom prst="rect">
            <a:avLst/>
          </a:prstGeom>
          <a:noFill/>
          <a:ln/>
        </p:spPr>
        <p:txBody>
          <a:bodyPr wrap="square" lIns="0" tIns="0" rIns="0" bIns="0" rtlCol="0" anchor="ctr"/>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Borrows the seasonal shape from its cluster and sets volume from the product's own recent sales.</a:t>
            </a:r>
            <a:endParaRPr lang="en-US" sz="1150" dirty="0"/>
          </a:p>
        </p:txBody>
      </p:sp>
      <p:sp>
        <p:nvSpPr>
          <p:cNvPr id="20" name="Shape 18"/>
          <p:cNvSpPr/>
          <p:nvPr/>
        </p:nvSpPr>
        <p:spPr>
          <a:xfrm>
            <a:off x="566928" y="4864608"/>
            <a:ext cx="11055096" cy="822960"/>
          </a:xfrm>
          <a:prstGeom prst="roundRect">
            <a:avLst>
              <a:gd name="adj" fmla="val 5556"/>
            </a:avLst>
          </a:prstGeom>
          <a:solidFill>
            <a:srgbClr val="E6EEF6"/>
          </a:solidFill>
          <a:ln/>
        </p:spPr>
      </p:sp>
      <p:sp>
        <p:nvSpPr>
          <p:cNvPr id="21" name="Text 19"/>
          <p:cNvSpPr txBox="1"/>
          <p:nvPr/>
        </p:nvSpPr>
        <p:spPr>
          <a:xfrm>
            <a:off x="841248" y="5065776"/>
            <a:ext cx="3291840" cy="438912"/>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Too little history for any of the above</a:t>
            </a:r>
            <a:endParaRPr lang="en-US" sz="1250" dirty="0"/>
          </a:p>
        </p:txBody>
      </p:sp>
      <p:sp>
        <p:nvSpPr>
          <p:cNvPr id="22" name="Shape 20"/>
          <p:cNvSpPr/>
          <p:nvPr/>
        </p:nvSpPr>
        <p:spPr>
          <a:xfrm>
            <a:off x="4334256" y="5084064"/>
            <a:ext cx="1572768" cy="384048"/>
          </a:xfrm>
          <a:prstGeom prst="roundRect">
            <a:avLst>
              <a:gd name="adj" fmla="val 19048"/>
            </a:avLst>
          </a:prstGeom>
          <a:solidFill>
            <a:srgbClr val="065A82"/>
          </a:solidFill>
          <a:ln/>
        </p:spPr>
      </p:sp>
      <p:sp>
        <p:nvSpPr>
          <p:cNvPr id="23" name="Text 21"/>
          <p:cNvSpPr txBox="1"/>
          <p:nvPr/>
        </p:nvSpPr>
        <p:spPr>
          <a:xfrm>
            <a:off x="4334256" y="5120640"/>
            <a:ext cx="15727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Abstain</a:t>
            </a:r>
            <a:endParaRPr lang="en-US" sz="1150" dirty="0"/>
          </a:p>
        </p:txBody>
      </p:sp>
      <p:sp>
        <p:nvSpPr>
          <p:cNvPr id="24" name="Text 22"/>
          <p:cNvSpPr txBox="1"/>
          <p:nvPr/>
        </p:nvSpPr>
        <p:spPr>
          <a:xfrm>
            <a:off x="6254496" y="5029200"/>
            <a:ext cx="5120640" cy="548640"/>
          </a:xfrm>
          <a:prstGeom prst="rect">
            <a:avLst/>
          </a:prstGeom>
          <a:noFill/>
          <a:ln/>
        </p:spPr>
        <p:txBody>
          <a:bodyPr wrap="square" lIns="0" tIns="0" rIns="0" bIns="0" rtlCol="0" anchor="ctr"/>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A flat recent average, openly marked low confidence rather than dressed up as a forecast.</a:t>
            </a:r>
            <a:endParaRPr lang="en-US" sz="1150" dirty="0"/>
          </a:p>
        </p:txBody>
      </p:sp>
      <p:sp>
        <p:nvSpPr>
          <p:cNvPr id="25" name="Text 23"/>
          <p:cNvSpPr txBox="1"/>
          <p:nvPr/>
        </p:nvSpPr>
        <p:spPr>
          <a:xfrm>
            <a:off x="566928" y="6053328"/>
            <a:ext cx="11055096" cy="365760"/>
          </a:xfrm>
          <a:prstGeom prst="rect">
            <a:avLst/>
          </a:prstGeom>
          <a:noFill/>
          <a:ln/>
        </p:spPr>
        <p:txBody>
          <a:bodyPr wrap="square" lIns="0" tIns="0" rIns="0" bIns="0" rtlCol="0" anchor="ctr"/>
          <a:lstStyle/>
          <a:p>
            <a:pPr indent="0" marL="0">
              <a:lnSpc>
                <a:spcPts val="1300"/>
              </a:lnSpc>
              <a:buNone/>
            </a:pPr>
            <a:r>
              <a:rPr lang="en-US" sz="1050" i="1" dirty="0">
                <a:solidFill>
                  <a:srgbClr val="5A6A78"/>
                </a:solidFill>
                <a:latin typeface="Calibri" pitchFamily="34" charset="0"/>
                <a:ea typeface="Calibri" pitchFamily="34" charset="-122"/>
                <a:cs typeface="Calibri" pitchFamily="34" charset="-120"/>
              </a:rPr>
              <a:t>All four report uncertainty the same way, as an 80% range calculated identically, so a number means the same thing whichever method produced it.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1C7293"/>
                </a:solidFill>
                <a:latin typeface="Calibri" pitchFamily="34" charset="0"/>
                <a:ea typeface="Calibri" pitchFamily="34" charset="-122"/>
                <a:cs typeface="Calibri" pitchFamily="34" charset="-120"/>
              </a:rPr>
              <a:t>PRODUCTS TAB</a:t>
            </a:r>
            <a:endParaRPr lang="en-US" sz="105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What changes as a product builds up history</a:t>
            </a:r>
            <a:endParaRPr lang="en-US" sz="3000" dirty="0"/>
          </a:p>
        </p:txBody>
      </p:sp>
      <p:sp>
        <p:nvSpPr>
          <p:cNvPr id="4" name="Text 2"/>
          <p:cNvSpPr txBox="1"/>
          <p:nvPr/>
        </p:nvSpPr>
        <p:spPr>
          <a:xfrm>
            <a:off x="566928" y="1243584"/>
            <a:ext cx="9957816" cy="384048"/>
          </a:xfrm>
          <a:prstGeom prst="rect">
            <a:avLst/>
          </a:prstGeom>
          <a:noFill/>
          <a:ln/>
        </p:spPr>
        <p:txBody>
          <a:bodyPr wrap="square" lIns="0" tIns="0" rIns="0" bIns="0" rtlCol="0" anchor="ctr"/>
          <a:lstStyle/>
          <a:p>
            <a:pPr indent="0" marL="0">
              <a:lnSpc>
                <a:spcPts val="1800"/>
              </a:lnSpc>
              <a:buNone/>
            </a:pPr>
            <a:r>
              <a:rPr lang="en-US" sz="1350" dirty="0">
                <a:solidFill>
                  <a:srgbClr val="5A6A78"/>
                </a:solidFill>
                <a:latin typeface="Calibri" pitchFamily="34" charset="0"/>
                <a:ea typeface="Calibri" pitchFamily="34" charset="-122"/>
                <a:cs typeface="Calibri" pitchFamily="34" charset="-120"/>
              </a:rPr>
              <a:t>The tool loosens its guardrails in stages, as evidence accumulates.</a:t>
            </a:r>
            <a:endParaRPr lang="en-US" sz="1350" dirty="0"/>
          </a:p>
        </p:txBody>
      </p:sp>
      <p:sp>
        <p:nvSpPr>
          <p:cNvPr id="5" name="Shape 3"/>
          <p:cNvSpPr/>
          <p:nvPr/>
        </p:nvSpPr>
        <p:spPr>
          <a:xfrm>
            <a:off x="566928" y="1975104"/>
            <a:ext cx="2286000" cy="603504"/>
          </a:xfrm>
          <a:prstGeom prst="roundRect">
            <a:avLst>
              <a:gd name="adj" fmla="val 7576"/>
            </a:avLst>
          </a:prstGeom>
          <a:solidFill>
            <a:srgbClr val="EDF3F7"/>
          </a:solidFill>
          <a:ln/>
        </p:spPr>
      </p:sp>
      <p:sp>
        <p:nvSpPr>
          <p:cNvPr id="6" name="Text 4"/>
          <p:cNvSpPr txBox="1"/>
          <p:nvPr/>
        </p:nvSpPr>
        <p:spPr>
          <a:xfrm>
            <a:off x="566928" y="2130552"/>
            <a:ext cx="2286000" cy="310896"/>
          </a:xfrm>
          <a:prstGeom prst="rect">
            <a:avLst/>
          </a:prstGeom>
          <a:noFill/>
          <a:ln/>
        </p:spPr>
        <p:txBody>
          <a:bodyPr wrap="square" lIns="0" tIns="0" rIns="0" bIns="0" rtlCol="0" anchor="ctr"/>
          <a:lstStyle/>
          <a:p>
            <a:pPr algn="ctr" indent="0" marL="0">
              <a:buNone/>
            </a:pPr>
            <a:r>
              <a:rPr lang="en-US" sz="1250" b="1" dirty="0">
                <a:solidFill>
                  <a:srgbClr val="065A82"/>
                </a:solidFill>
                <a:latin typeface="Calibri" pitchFamily="34" charset="0"/>
                <a:ea typeface="Calibri" pitchFamily="34" charset="-122"/>
                <a:cs typeface="Calibri" pitchFamily="34" charset="-120"/>
              </a:rPr>
              <a:t>Under 1 week</a:t>
            </a:r>
            <a:endParaRPr lang="en-US" sz="1250" dirty="0"/>
          </a:p>
        </p:txBody>
      </p:sp>
      <p:sp>
        <p:nvSpPr>
          <p:cNvPr id="7" name="Text 5"/>
          <p:cNvSpPr txBox="1"/>
          <p:nvPr/>
        </p:nvSpPr>
        <p:spPr>
          <a:xfrm>
            <a:off x="3108960" y="2011680"/>
            <a:ext cx="8503920" cy="566928"/>
          </a:xfrm>
          <a:prstGeom prst="rect">
            <a:avLst/>
          </a:prstGeom>
          <a:noFill/>
          <a:ln/>
        </p:spPr>
        <p:txBody>
          <a:bodyPr wrap="square" lIns="0" tIns="0" rIns="0" bIns="0" rtlCol="0" anchor="ctr"/>
          <a:lstStyle/>
          <a:p>
            <a:pPr indent="0" marL="0">
              <a:lnSpc>
                <a:spcPts val="1650"/>
              </a:lnSpc>
              <a:buNone/>
            </a:pPr>
            <a:r>
              <a:rPr lang="en-US" sz="1250" dirty="0">
                <a:solidFill>
                  <a:srgbClr val="17202B"/>
                </a:solidFill>
                <a:latin typeface="Calibri" pitchFamily="34" charset="0"/>
                <a:ea typeface="Calibri" pitchFamily="34" charset="-122"/>
                <a:cs typeface="Calibri" pitchFamily="34" charset="-120"/>
              </a:rPr>
              <a:t>A forecast is shown. No order is recommended yet.</a:t>
            </a:r>
            <a:endParaRPr lang="en-US" sz="1250" dirty="0"/>
          </a:p>
        </p:txBody>
      </p:sp>
      <p:sp>
        <p:nvSpPr>
          <p:cNvPr id="8" name="Shape 6"/>
          <p:cNvSpPr/>
          <p:nvPr/>
        </p:nvSpPr>
        <p:spPr>
          <a:xfrm>
            <a:off x="566928" y="2761488"/>
            <a:ext cx="2286000" cy="603504"/>
          </a:xfrm>
          <a:prstGeom prst="roundRect">
            <a:avLst>
              <a:gd name="adj" fmla="val 7576"/>
            </a:avLst>
          </a:prstGeom>
          <a:solidFill>
            <a:srgbClr val="EDF3F7"/>
          </a:solidFill>
          <a:ln/>
        </p:spPr>
      </p:sp>
      <p:sp>
        <p:nvSpPr>
          <p:cNvPr id="9" name="Text 7"/>
          <p:cNvSpPr txBox="1"/>
          <p:nvPr/>
        </p:nvSpPr>
        <p:spPr>
          <a:xfrm>
            <a:off x="566928" y="2916936"/>
            <a:ext cx="2286000" cy="310896"/>
          </a:xfrm>
          <a:prstGeom prst="rect">
            <a:avLst/>
          </a:prstGeom>
          <a:noFill/>
          <a:ln/>
        </p:spPr>
        <p:txBody>
          <a:bodyPr wrap="square" lIns="0" tIns="0" rIns="0" bIns="0" rtlCol="0" anchor="ctr"/>
          <a:lstStyle/>
          <a:p>
            <a:pPr algn="ctr" indent="0" marL="0">
              <a:buNone/>
            </a:pPr>
            <a:r>
              <a:rPr lang="en-US" sz="1250" b="1" dirty="0">
                <a:solidFill>
                  <a:srgbClr val="065A82"/>
                </a:solidFill>
                <a:latin typeface="Calibri" pitchFamily="34" charset="0"/>
                <a:ea typeface="Calibri" pitchFamily="34" charset="-122"/>
                <a:cs typeface="Calibri" pitchFamily="34" charset="-120"/>
              </a:rPr>
              <a:t>1 to 4 weeks</a:t>
            </a:r>
            <a:endParaRPr lang="en-US" sz="1250" dirty="0"/>
          </a:p>
        </p:txBody>
      </p:sp>
      <p:sp>
        <p:nvSpPr>
          <p:cNvPr id="10" name="Text 8"/>
          <p:cNvSpPr txBox="1"/>
          <p:nvPr/>
        </p:nvSpPr>
        <p:spPr>
          <a:xfrm>
            <a:off x="3108960" y="2798064"/>
            <a:ext cx="8503920" cy="566928"/>
          </a:xfrm>
          <a:prstGeom prst="rect">
            <a:avLst/>
          </a:prstGeom>
          <a:noFill/>
          <a:ln/>
        </p:spPr>
        <p:txBody>
          <a:bodyPr wrap="square" lIns="0" tIns="0" rIns="0" bIns="0" rtlCol="0" anchor="ctr"/>
          <a:lstStyle/>
          <a:p>
            <a:pPr indent="0" marL="0">
              <a:lnSpc>
                <a:spcPts val="1650"/>
              </a:lnSpc>
              <a:buNone/>
            </a:pPr>
            <a:r>
              <a:rPr lang="en-US" sz="1250" dirty="0">
                <a:solidFill>
                  <a:srgbClr val="17202B"/>
                </a:solidFill>
                <a:latin typeface="Calibri" pitchFamily="34" charset="0"/>
                <a:ea typeface="Calibri" pitchFamily="34" charset="-122"/>
                <a:cs typeface="Calibri" pitchFamily="34" charset="-120"/>
              </a:rPr>
              <a:t>Reorder timing is a heads-up rather than a deadline, and the first order is kept conservative.</a:t>
            </a:r>
            <a:endParaRPr lang="en-US" sz="1250" dirty="0"/>
          </a:p>
        </p:txBody>
      </p:sp>
      <p:sp>
        <p:nvSpPr>
          <p:cNvPr id="11" name="Shape 9"/>
          <p:cNvSpPr/>
          <p:nvPr/>
        </p:nvSpPr>
        <p:spPr>
          <a:xfrm>
            <a:off x="566928" y="3547872"/>
            <a:ext cx="2286000" cy="603504"/>
          </a:xfrm>
          <a:prstGeom prst="roundRect">
            <a:avLst>
              <a:gd name="adj" fmla="val 7576"/>
            </a:avLst>
          </a:prstGeom>
          <a:solidFill>
            <a:srgbClr val="EDF3F7"/>
          </a:solidFill>
          <a:ln/>
        </p:spPr>
      </p:sp>
      <p:sp>
        <p:nvSpPr>
          <p:cNvPr id="12" name="Text 10"/>
          <p:cNvSpPr txBox="1"/>
          <p:nvPr/>
        </p:nvSpPr>
        <p:spPr>
          <a:xfrm>
            <a:off x="566928" y="3703320"/>
            <a:ext cx="2286000" cy="310896"/>
          </a:xfrm>
          <a:prstGeom prst="rect">
            <a:avLst/>
          </a:prstGeom>
          <a:noFill/>
          <a:ln/>
        </p:spPr>
        <p:txBody>
          <a:bodyPr wrap="square" lIns="0" tIns="0" rIns="0" bIns="0" rtlCol="0" anchor="ctr"/>
          <a:lstStyle/>
          <a:p>
            <a:pPr algn="ctr" indent="0" marL="0">
              <a:buNone/>
            </a:pPr>
            <a:r>
              <a:rPr lang="en-US" sz="1250" b="1" dirty="0">
                <a:solidFill>
                  <a:srgbClr val="065A82"/>
                </a:solidFill>
                <a:latin typeface="Calibri" pitchFamily="34" charset="0"/>
                <a:ea typeface="Calibri" pitchFamily="34" charset="-122"/>
                <a:cs typeface="Calibri" pitchFamily="34" charset="-120"/>
              </a:rPr>
              <a:t>Under 3 months</a:t>
            </a:r>
            <a:endParaRPr lang="en-US" sz="1250" dirty="0"/>
          </a:p>
        </p:txBody>
      </p:sp>
      <p:sp>
        <p:nvSpPr>
          <p:cNvPr id="13" name="Text 11"/>
          <p:cNvSpPr txBox="1"/>
          <p:nvPr/>
        </p:nvSpPr>
        <p:spPr>
          <a:xfrm>
            <a:off x="3108960" y="3584448"/>
            <a:ext cx="8503920" cy="566928"/>
          </a:xfrm>
          <a:prstGeom prst="rect">
            <a:avLst/>
          </a:prstGeom>
          <a:noFill/>
          <a:ln/>
        </p:spPr>
        <p:txBody>
          <a:bodyPr wrap="square" lIns="0" tIns="0" rIns="0" bIns="0" rtlCol="0" anchor="ctr"/>
          <a:lstStyle/>
          <a:p>
            <a:pPr indent="0" marL="0">
              <a:lnSpc>
                <a:spcPts val="1650"/>
              </a:lnSpc>
              <a:buNone/>
            </a:pPr>
            <a:r>
              <a:rPr lang="en-US" sz="1250" dirty="0">
                <a:solidFill>
                  <a:srgbClr val="17202B"/>
                </a:solidFill>
                <a:latin typeface="Calibri" pitchFamily="34" charset="0"/>
                <a:ea typeface="Calibri" pitchFamily="34" charset="-122"/>
                <a:cs typeface="Calibri" pitchFamily="34" charset="-120"/>
              </a:rPr>
              <a:t>Orders are flagged as thin and capped near six weeks of cover.</a:t>
            </a:r>
            <a:endParaRPr lang="en-US" sz="1250" dirty="0"/>
          </a:p>
        </p:txBody>
      </p:sp>
      <p:sp>
        <p:nvSpPr>
          <p:cNvPr id="14" name="Shape 12"/>
          <p:cNvSpPr/>
          <p:nvPr/>
        </p:nvSpPr>
        <p:spPr>
          <a:xfrm>
            <a:off x="566928" y="4334256"/>
            <a:ext cx="2286000" cy="603504"/>
          </a:xfrm>
          <a:prstGeom prst="roundRect">
            <a:avLst>
              <a:gd name="adj" fmla="val 7576"/>
            </a:avLst>
          </a:prstGeom>
          <a:solidFill>
            <a:srgbClr val="EDF3F7"/>
          </a:solidFill>
          <a:ln/>
        </p:spPr>
      </p:sp>
      <p:sp>
        <p:nvSpPr>
          <p:cNvPr id="15" name="Text 13"/>
          <p:cNvSpPr txBox="1"/>
          <p:nvPr/>
        </p:nvSpPr>
        <p:spPr>
          <a:xfrm>
            <a:off x="566928" y="4489704"/>
            <a:ext cx="2286000" cy="310896"/>
          </a:xfrm>
          <a:prstGeom prst="rect">
            <a:avLst/>
          </a:prstGeom>
          <a:noFill/>
          <a:ln/>
        </p:spPr>
        <p:txBody>
          <a:bodyPr wrap="square" lIns="0" tIns="0" rIns="0" bIns="0" rtlCol="0" anchor="ctr"/>
          <a:lstStyle/>
          <a:p>
            <a:pPr algn="ctr" indent="0" marL="0">
              <a:buNone/>
            </a:pPr>
            <a:r>
              <a:rPr lang="en-US" sz="1250" b="1" dirty="0">
                <a:solidFill>
                  <a:srgbClr val="065A82"/>
                </a:solidFill>
                <a:latin typeface="Calibri" pitchFamily="34" charset="0"/>
                <a:ea typeface="Calibri" pitchFamily="34" charset="-122"/>
                <a:cs typeface="Calibri" pitchFamily="34" charset="-120"/>
              </a:rPr>
              <a:t>Under 4 months</a:t>
            </a:r>
            <a:endParaRPr lang="en-US" sz="1250" dirty="0"/>
          </a:p>
        </p:txBody>
      </p:sp>
      <p:sp>
        <p:nvSpPr>
          <p:cNvPr id="16" name="Text 14"/>
          <p:cNvSpPr txBox="1"/>
          <p:nvPr/>
        </p:nvSpPr>
        <p:spPr>
          <a:xfrm>
            <a:off x="3108960" y="4370832"/>
            <a:ext cx="8503920" cy="566928"/>
          </a:xfrm>
          <a:prstGeom prst="rect">
            <a:avLst/>
          </a:prstGeom>
          <a:noFill/>
          <a:ln/>
        </p:spPr>
        <p:txBody>
          <a:bodyPr wrap="square" lIns="0" tIns="0" rIns="0" bIns="0" rtlCol="0" anchor="ctr"/>
          <a:lstStyle/>
          <a:p>
            <a:pPr indent="0" marL="0">
              <a:lnSpc>
                <a:spcPts val="1650"/>
              </a:lnSpc>
              <a:buNone/>
            </a:pPr>
            <a:r>
              <a:rPr lang="en-US" sz="1250" dirty="0">
                <a:solidFill>
                  <a:srgbClr val="17202B"/>
                </a:solidFill>
                <a:latin typeface="Calibri" pitchFamily="34" charset="0"/>
                <a:ea typeface="Calibri" pitchFamily="34" charset="-122"/>
                <a:cs typeface="Calibri" pitchFamily="34" charset="-120"/>
              </a:rPr>
              <a:t>Not enough history to test itself, so the forecast range is widened by 30%.</a:t>
            </a:r>
            <a:endParaRPr lang="en-US" sz="1250" dirty="0"/>
          </a:p>
        </p:txBody>
      </p:sp>
      <p:sp>
        <p:nvSpPr>
          <p:cNvPr id="17" name="Shape 15"/>
          <p:cNvSpPr/>
          <p:nvPr/>
        </p:nvSpPr>
        <p:spPr>
          <a:xfrm>
            <a:off x="566928" y="5120640"/>
            <a:ext cx="2286000" cy="603504"/>
          </a:xfrm>
          <a:prstGeom prst="roundRect">
            <a:avLst>
              <a:gd name="adj" fmla="val 7576"/>
            </a:avLst>
          </a:prstGeom>
          <a:solidFill>
            <a:srgbClr val="065A82"/>
          </a:solidFill>
          <a:ln/>
        </p:spPr>
      </p:sp>
      <p:sp>
        <p:nvSpPr>
          <p:cNvPr id="18" name="Text 16"/>
          <p:cNvSpPr txBox="1"/>
          <p:nvPr/>
        </p:nvSpPr>
        <p:spPr>
          <a:xfrm>
            <a:off x="566928" y="5276088"/>
            <a:ext cx="228600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 months and beyond</a:t>
            </a:r>
            <a:endParaRPr lang="en-US" sz="1250" dirty="0"/>
          </a:p>
        </p:txBody>
      </p:sp>
      <p:sp>
        <p:nvSpPr>
          <p:cNvPr id="19" name="Text 17"/>
          <p:cNvSpPr txBox="1"/>
          <p:nvPr/>
        </p:nvSpPr>
        <p:spPr>
          <a:xfrm>
            <a:off x="3108960" y="5157216"/>
            <a:ext cx="8503920" cy="566928"/>
          </a:xfrm>
          <a:prstGeom prst="rect">
            <a:avLst/>
          </a:prstGeom>
          <a:noFill/>
          <a:ln/>
        </p:spPr>
        <p:txBody>
          <a:bodyPr wrap="square" lIns="0" tIns="0" rIns="0" bIns="0" rtlCol="0" anchor="ctr"/>
          <a:lstStyle/>
          <a:p>
            <a:pPr indent="0" marL="0">
              <a:lnSpc>
                <a:spcPts val="1650"/>
              </a:lnSpc>
              <a:buNone/>
            </a:pPr>
            <a:r>
              <a:rPr lang="en-US" sz="1250" dirty="0">
                <a:solidFill>
                  <a:srgbClr val="17202B"/>
                </a:solidFill>
                <a:latin typeface="Calibri" pitchFamily="34" charset="0"/>
                <a:ea typeface="Calibri" pitchFamily="34" charset="-122"/>
                <a:cs typeface="Calibri" pitchFamily="34" charset="-120"/>
              </a:rPr>
              <a:t>The model holds recent data back, rebuilds the forecast without it, and measures how far off it was. That measured error is what sizes the safety cushion.</a:t>
            </a:r>
            <a:endParaRPr lang="en-US" sz="1250" dirty="0"/>
          </a:p>
        </p:txBody>
      </p:sp>
      <p:sp>
        <p:nvSpPr>
          <p:cNvPr id="20" name="Text 18"/>
          <p:cNvSpPr txBox="1"/>
          <p:nvPr/>
        </p:nvSpPr>
        <p:spPr>
          <a:xfrm>
            <a:off x="566928" y="6016752"/>
            <a:ext cx="11055096" cy="365760"/>
          </a:xfrm>
          <a:prstGeom prst="rect">
            <a:avLst/>
          </a:prstGeom>
          <a:noFill/>
          <a:ln/>
        </p:spPr>
        <p:txBody>
          <a:bodyPr wrap="square" lIns="0" tIns="0" rIns="0" bIns="0" rtlCol="0" anchor="ctr"/>
          <a:lstStyle/>
          <a:p>
            <a:pPr indent="0" marL="0">
              <a:lnSpc>
                <a:spcPts val="1300"/>
              </a:lnSpc>
              <a:buNone/>
            </a:pPr>
            <a:r>
              <a:rPr lang="en-US" sz="1050" i="1" dirty="0">
                <a:solidFill>
                  <a:srgbClr val="5A6A78"/>
                </a:solidFill>
                <a:latin typeface="Calibri" pitchFamily="34" charset="0"/>
                <a:ea typeface="Calibri" pitchFamily="34" charset="-122"/>
                <a:cs typeface="Calibri" pitchFamily="34" charset="-120"/>
              </a:rPr>
              <a:t>Measuring error on data the model has already seen always flatters it. That is why the range is widened until a real test is possible, rather than reported as precise.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1C7293"/>
                </a:solidFill>
                <a:latin typeface="Calibri" pitchFamily="34" charset="0"/>
                <a:ea typeface="Calibri" pitchFamily="34" charset="-122"/>
                <a:cs typeface="Calibri" pitchFamily="34" charset="-120"/>
              </a:rPr>
              <a:t>PRODUCTS TAB</a:t>
            </a:r>
            <a:endParaRPr lang="en-US" sz="105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What it learns from your price changes</a:t>
            </a:r>
            <a:endParaRPr lang="en-US" sz="3000" dirty="0"/>
          </a:p>
        </p:txBody>
      </p:sp>
      <p:sp>
        <p:nvSpPr>
          <p:cNvPr id="4" name="Text 2"/>
          <p:cNvSpPr txBox="1"/>
          <p:nvPr/>
        </p:nvSpPr>
        <p:spPr>
          <a:xfrm>
            <a:off x="566928" y="1243584"/>
            <a:ext cx="9957816" cy="384048"/>
          </a:xfrm>
          <a:prstGeom prst="rect">
            <a:avLst/>
          </a:prstGeom>
          <a:noFill/>
          <a:ln/>
        </p:spPr>
        <p:txBody>
          <a:bodyPr wrap="square" lIns="0" tIns="0" rIns="0" bIns="0" rtlCol="0" anchor="ctr"/>
          <a:lstStyle/>
          <a:p>
            <a:pPr indent="0" marL="0">
              <a:lnSpc>
                <a:spcPts val="1800"/>
              </a:lnSpc>
              <a:buNone/>
            </a:pPr>
            <a:r>
              <a:rPr lang="en-US" sz="1350" dirty="0">
                <a:solidFill>
                  <a:srgbClr val="5A6A78"/>
                </a:solidFill>
                <a:latin typeface="Calibri" pitchFamily="34" charset="0"/>
                <a:ea typeface="Calibri" pitchFamily="34" charset="-122"/>
                <a:cs typeface="Calibri" pitchFamily="34" charset="-120"/>
              </a:rPr>
              <a:t>If the sheet carries a price column, price becomes an input the forecast responds to rather than background detail.</a:t>
            </a:r>
            <a:endParaRPr lang="en-US" sz="1350" dirty="0"/>
          </a:p>
        </p:txBody>
      </p:sp>
      <p:sp>
        <p:nvSpPr>
          <p:cNvPr id="5" name="Shape 3"/>
          <p:cNvSpPr/>
          <p:nvPr/>
        </p:nvSpPr>
        <p:spPr>
          <a:xfrm>
            <a:off x="566928" y="1975104"/>
            <a:ext cx="5276088" cy="1453896"/>
          </a:xfrm>
          <a:prstGeom prst="roundRect">
            <a:avLst>
              <a:gd name="adj" fmla="val 3145"/>
            </a:avLst>
          </a:prstGeom>
          <a:solidFill>
            <a:srgbClr val="EDF3F7"/>
          </a:solidFill>
          <a:ln/>
        </p:spPr>
      </p:sp>
      <p:sp>
        <p:nvSpPr>
          <p:cNvPr id="6" name="Text 4"/>
          <p:cNvSpPr txBox="1"/>
          <p:nvPr/>
        </p:nvSpPr>
        <p:spPr>
          <a:xfrm>
            <a:off x="841248" y="2157984"/>
            <a:ext cx="4754880" cy="292608"/>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It records every price the product sold at</a:t>
            </a:r>
            <a:endParaRPr lang="en-US" sz="1350" dirty="0"/>
          </a:p>
        </p:txBody>
      </p:sp>
      <p:sp>
        <p:nvSpPr>
          <p:cNvPr id="7" name="Text 5"/>
          <p:cNvSpPr txBox="1"/>
          <p:nvPr/>
        </p:nvSpPr>
        <p:spPr>
          <a:xfrm>
            <a:off x="841248" y="2487168"/>
            <a:ext cx="4754880" cy="859536"/>
          </a:xfrm>
          <a:prstGeom prst="rect">
            <a:avLst/>
          </a:prstGeom>
          <a:noFill/>
          <a:ln/>
        </p:spPr>
        <p:txBody>
          <a:bodyPr wrap="square" lIns="0" tIns="0" rIns="0" bIns="0" rtlCol="0" anchor="ctr"/>
          <a:lstStyle/>
          <a:p>
            <a:pPr indent="0" marL="0">
              <a:lnSpc>
                <a:spcPts val="1550"/>
              </a:lnSpc>
              <a:buNone/>
            </a:pPr>
            <a:r>
              <a:rPr lang="en-US" sz="1150" dirty="0">
                <a:solidFill>
                  <a:srgbClr val="17202B"/>
                </a:solidFill>
                <a:latin typeface="Calibri" pitchFamily="34" charset="0"/>
                <a:ea typeface="Calibri" pitchFamily="34" charset="-122"/>
                <a:cs typeface="Calibri" pitchFamily="34" charset="-120"/>
              </a:rPr>
              <a:t>Each distinct price point is stored with how many days the product actually spent there.</a:t>
            </a:r>
            <a:endParaRPr lang="en-US" sz="1150" dirty="0"/>
          </a:p>
        </p:txBody>
      </p:sp>
      <p:sp>
        <p:nvSpPr>
          <p:cNvPr id="8" name="Shape 6"/>
          <p:cNvSpPr/>
          <p:nvPr/>
        </p:nvSpPr>
        <p:spPr>
          <a:xfrm>
            <a:off x="6345936" y="1975104"/>
            <a:ext cx="5276088" cy="1453896"/>
          </a:xfrm>
          <a:prstGeom prst="roundRect">
            <a:avLst>
              <a:gd name="adj" fmla="val 3145"/>
            </a:avLst>
          </a:prstGeom>
          <a:solidFill>
            <a:srgbClr val="EDF3F7"/>
          </a:solidFill>
          <a:ln/>
        </p:spPr>
      </p:sp>
      <p:sp>
        <p:nvSpPr>
          <p:cNvPr id="9" name="Text 7"/>
          <p:cNvSpPr txBox="1"/>
          <p:nvPr/>
        </p:nvSpPr>
        <p:spPr>
          <a:xfrm>
            <a:off x="6620256" y="2157984"/>
            <a:ext cx="4754880" cy="292608"/>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It grades how well each price is evidenced</a:t>
            </a:r>
            <a:endParaRPr lang="en-US" sz="1350" dirty="0"/>
          </a:p>
        </p:txBody>
      </p:sp>
      <p:sp>
        <p:nvSpPr>
          <p:cNvPr id="10" name="Text 8"/>
          <p:cNvSpPr txBox="1"/>
          <p:nvPr/>
        </p:nvSpPr>
        <p:spPr>
          <a:xfrm>
            <a:off x="6620256" y="2487168"/>
            <a:ext cx="4754880" cy="859536"/>
          </a:xfrm>
          <a:prstGeom prst="rect">
            <a:avLst/>
          </a:prstGeom>
          <a:noFill/>
          <a:ln/>
        </p:spPr>
        <p:txBody>
          <a:bodyPr wrap="square" lIns="0" tIns="0" rIns="0" bIns="0" rtlCol="0" anchor="ctr"/>
          <a:lstStyle/>
          <a:p>
            <a:pPr indent="0" marL="0">
              <a:lnSpc>
                <a:spcPts val="1550"/>
              </a:lnSpc>
              <a:buNone/>
            </a:pPr>
            <a:r>
              <a:rPr lang="en-US" sz="1150" dirty="0">
                <a:solidFill>
                  <a:srgbClr val="17202B"/>
                </a:solidFill>
                <a:latin typeface="Calibri" pitchFamily="34" charset="0"/>
                <a:ea typeface="Calibri" pitchFamily="34" charset="-122"/>
                <a:cs typeface="Calibri" pitchFamily="34" charset="-120"/>
              </a:rPr>
              <a:t>Under 30 days is insufficient, 30 to 60 is weak, 60 to 90 is moderate, 90 or more is reliable. A price you tried briefly does not carry the same weight as one you held all season.</a:t>
            </a:r>
            <a:endParaRPr lang="en-US" sz="1150" dirty="0"/>
          </a:p>
        </p:txBody>
      </p:sp>
      <p:sp>
        <p:nvSpPr>
          <p:cNvPr id="11" name="Shape 9"/>
          <p:cNvSpPr/>
          <p:nvPr/>
        </p:nvSpPr>
        <p:spPr>
          <a:xfrm>
            <a:off x="566928" y="3931920"/>
            <a:ext cx="5276088" cy="1453896"/>
          </a:xfrm>
          <a:prstGeom prst="roundRect">
            <a:avLst>
              <a:gd name="adj" fmla="val 3145"/>
            </a:avLst>
          </a:prstGeom>
          <a:solidFill>
            <a:srgbClr val="EDF3F7"/>
          </a:solidFill>
          <a:ln/>
        </p:spPr>
      </p:sp>
      <p:sp>
        <p:nvSpPr>
          <p:cNvPr id="12" name="Text 10"/>
          <p:cNvSpPr txBox="1"/>
          <p:nvPr/>
        </p:nvSpPr>
        <p:spPr>
          <a:xfrm>
            <a:off x="841248" y="4114800"/>
            <a:ext cx="4754880" cy="292608"/>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The forecast responds to price and promotions</a:t>
            </a:r>
            <a:endParaRPr lang="en-US" sz="1350" dirty="0"/>
          </a:p>
        </p:txBody>
      </p:sp>
      <p:sp>
        <p:nvSpPr>
          <p:cNvPr id="13" name="Text 11"/>
          <p:cNvSpPr txBox="1"/>
          <p:nvPr/>
        </p:nvSpPr>
        <p:spPr>
          <a:xfrm>
            <a:off x="841248" y="4443984"/>
            <a:ext cx="4754880" cy="859536"/>
          </a:xfrm>
          <a:prstGeom prst="rect">
            <a:avLst/>
          </a:prstGeom>
          <a:noFill/>
          <a:ln/>
        </p:spPr>
        <p:txBody>
          <a:bodyPr wrap="square" lIns="0" tIns="0" rIns="0" bIns="0" rtlCol="0" anchor="ctr"/>
          <a:lstStyle/>
          <a:p>
            <a:pPr indent="0" marL="0">
              <a:lnSpc>
                <a:spcPts val="1550"/>
              </a:lnSpc>
              <a:buNone/>
            </a:pPr>
            <a:r>
              <a:rPr lang="en-US" sz="1150" dirty="0">
                <a:solidFill>
                  <a:srgbClr val="17202B"/>
                </a:solidFill>
                <a:latin typeface="Calibri" pitchFamily="34" charset="0"/>
                <a:ea typeface="Calibri" pitchFamily="34" charset="-122"/>
                <a:cs typeface="Calibri" pitchFamily="34" charset="-120"/>
              </a:rPr>
              <a:t>For established products, price and promotion are inputs to the model, so a planned change moves the forecast and the scorecard can show demand with promotions stripped out.</a:t>
            </a:r>
            <a:endParaRPr lang="en-US" sz="1150" dirty="0"/>
          </a:p>
        </p:txBody>
      </p:sp>
      <p:sp>
        <p:nvSpPr>
          <p:cNvPr id="14" name="Shape 12"/>
          <p:cNvSpPr/>
          <p:nvPr/>
        </p:nvSpPr>
        <p:spPr>
          <a:xfrm>
            <a:off x="6345936" y="3931920"/>
            <a:ext cx="5276088" cy="1453896"/>
          </a:xfrm>
          <a:prstGeom prst="roundRect">
            <a:avLst>
              <a:gd name="adj" fmla="val 3145"/>
            </a:avLst>
          </a:prstGeom>
          <a:solidFill>
            <a:srgbClr val="EDF3F7"/>
          </a:solidFill>
          <a:ln/>
        </p:spPr>
      </p:sp>
      <p:sp>
        <p:nvSpPr>
          <p:cNvPr id="15" name="Text 13"/>
          <p:cNvSpPr txBox="1"/>
          <p:nvPr/>
        </p:nvSpPr>
        <p:spPr>
          <a:xfrm>
            <a:off x="6620256" y="4114800"/>
            <a:ext cx="4754880" cy="292608"/>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It says when not to trust it</a:t>
            </a:r>
            <a:endParaRPr lang="en-US" sz="1350" dirty="0"/>
          </a:p>
        </p:txBody>
      </p:sp>
      <p:sp>
        <p:nvSpPr>
          <p:cNvPr id="16" name="Text 14"/>
          <p:cNvSpPr txBox="1"/>
          <p:nvPr/>
        </p:nvSpPr>
        <p:spPr>
          <a:xfrm>
            <a:off x="6620256" y="4443984"/>
            <a:ext cx="4754880" cy="859536"/>
          </a:xfrm>
          <a:prstGeom prst="rect">
            <a:avLst/>
          </a:prstGeom>
          <a:noFill/>
          <a:ln/>
        </p:spPr>
        <p:txBody>
          <a:bodyPr wrap="square" lIns="0" tIns="0" rIns="0" bIns="0" rtlCol="0" anchor="ctr"/>
          <a:lstStyle/>
          <a:p>
            <a:pPr indent="0" marL="0">
              <a:lnSpc>
                <a:spcPts val="1550"/>
              </a:lnSpc>
              <a:buNone/>
            </a:pPr>
            <a:r>
              <a:rPr lang="en-US" sz="1150" dirty="0">
                <a:solidFill>
                  <a:srgbClr val="17202B"/>
                </a:solidFill>
                <a:latin typeface="Calibri" pitchFamily="34" charset="0"/>
                <a:ea typeface="Calibri" pitchFamily="34" charset="-122"/>
                <a:cs typeface="Calibri" pitchFamily="34" charset="-120"/>
              </a:rPr>
              <a:t>Asked about a price well outside anything ever tested, it flags that rather than answering confidently. It also warns about large untested gaps between price points.</a:t>
            </a:r>
            <a:endParaRPr lang="en-US" sz="1150" dirty="0"/>
          </a:p>
        </p:txBody>
      </p:sp>
      <p:sp>
        <p:nvSpPr>
          <p:cNvPr id="17" name="Text 15"/>
          <p:cNvSpPr txBox="1"/>
          <p:nvPr/>
        </p:nvSpPr>
        <p:spPr>
          <a:xfrm>
            <a:off x="566928" y="5779008"/>
            <a:ext cx="11055096" cy="365760"/>
          </a:xfrm>
          <a:prstGeom prst="rect">
            <a:avLst/>
          </a:prstGeom>
          <a:noFill/>
          <a:ln/>
        </p:spPr>
        <p:txBody>
          <a:bodyPr wrap="square" lIns="0" tIns="0" rIns="0" bIns="0" rtlCol="0" anchor="ctr"/>
          <a:lstStyle/>
          <a:p>
            <a:pPr indent="0" marL="0">
              <a:lnSpc>
                <a:spcPts val="1300"/>
              </a:lnSpc>
              <a:buNone/>
            </a:pPr>
            <a:r>
              <a:rPr lang="en-US" sz="1050" i="1" dirty="0">
                <a:solidFill>
                  <a:srgbClr val="5A6A78"/>
                </a:solidFill>
                <a:latin typeface="Calibri" pitchFamily="34" charset="0"/>
                <a:ea typeface="Calibri" pitchFamily="34" charset="-122"/>
                <a:cs typeface="Calibri" pitchFamily="34" charset="-120"/>
              </a:rPr>
              <a:t>A discount that lifted sales 60% is borrowed demand, not new demand. Without separating the price effect, a promotion teaches the tool to over-order for months afterwards.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1C7293"/>
                </a:solidFill>
                <a:latin typeface="Calibri" pitchFamily="34" charset="0"/>
                <a:ea typeface="Calibri" pitchFamily="34" charset="-122"/>
                <a:cs typeface="Calibri" pitchFamily="34" charset="-120"/>
              </a:rPr>
              <a:t>THE REORDER DECISION  ·  BACKTEST TAB</a:t>
            </a:r>
            <a:endParaRPr lang="en-US" sz="105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How much cushion to hold, and how it is chosen</a:t>
            </a:r>
            <a:endParaRPr lang="en-US" sz="3000" dirty="0"/>
          </a:p>
        </p:txBody>
      </p:sp>
      <p:sp>
        <p:nvSpPr>
          <p:cNvPr id="4" name="Text 2"/>
          <p:cNvSpPr txBox="1"/>
          <p:nvPr/>
        </p:nvSpPr>
        <p:spPr>
          <a:xfrm>
            <a:off x="566928" y="1243584"/>
            <a:ext cx="9957816" cy="384048"/>
          </a:xfrm>
          <a:prstGeom prst="rect">
            <a:avLst/>
          </a:prstGeom>
          <a:noFill/>
          <a:ln/>
        </p:spPr>
        <p:txBody>
          <a:bodyPr wrap="square" lIns="0" tIns="0" rIns="0" bIns="0" rtlCol="0" anchor="ctr"/>
          <a:lstStyle/>
          <a:p>
            <a:pPr indent="0" marL="0">
              <a:lnSpc>
                <a:spcPts val="1800"/>
              </a:lnSpc>
              <a:buNone/>
            </a:pPr>
            <a:r>
              <a:rPr lang="en-US" sz="1350" dirty="0">
                <a:solidFill>
                  <a:srgbClr val="5A6A78"/>
                </a:solidFill>
                <a:latin typeface="Calibri" pitchFamily="34" charset="0"/>
                <a:ea typeface="Calibri" pitchFamily="34" charset="-122"/>
                <a:cs typeface="Calibri" pitchFamily="34" charset="-120"/>
              </a:rPr>
              <a:t>Safety stock absorbs a busier week than expected, or a delivery that runs late. The size is measured rather than assumed.</a:t>
            </a:r>
            <a:endParaRPr lang="en-US" sz="1350" dirty="0"/>
          </a:p>
        </p:txBody>
      </p:sp>
      <p:sp>
        <p:nvSpPr>
          <p:cNvPr id="5" name="Text 3"/>
          <p:cNvSpPr txBox="1"/>
          <p:nvPr/>
        </p:nvSpPr>
        <p:spPr>
          <a:xfrm>
            <a:off x="566928" y="1975104"/>
            <a:ext cx="5120640" cy="292608"/>
          </a:xfrm>
          <a:prstGeom prst="rect">
            <a:avLst/>
          </a:prstGeom>
          <a:noFill/>
          <a:ln/>
        </p:spPr>
        <p:txBody>
          <a:bodyPr wrap="square" lIns="0" tIns="0" rIns="0" bIns="0" rtlCol="0" anchor="ctr"/>
          <a:lstStyle/>
          <a:p>
            <a:pPr indent="0" marL="0">
              <a:buNone/>
            </a:pPr>
            <a:r>
              <a:rPr lang="en-US" sz="1100" b="1" spc="140" kern="0" dirty="0">
                <a:solidFill>
                  <a:srgbClr val="065A82"/>
                </a:solidFill>
                <a:latin typeface="Calibri" pitchFamily="34" charset="0"/>
                <a:ea typeface="Calibri" pitchFamily="34" charset="-122"/>
                <a:cs typeface="Calibri" pitchFamily="34" charset="-120"/>
              </a:rPr>
              <a:t>WHAT SETS THE SIZE</a:t>
            </a:r>
            <a:endParaRPr lang="en-US" sz="1100" dirty="0"/>
          </a:p>
        </p:txBody>
      </p:sp>
      <p:sp>
        <p:nvSpPr>
          <p:cNvPr id="6" name="Text 4"/>
          <p:cNvSpPr txBox="1"/>
          <p:nvPr/>
        </p:nvSpPr>
        <p:spPr>
          <a:xfrm>
            <a:off x="603504" y="2359152"/>
            <a:ext cx="5120640" cy="1828800"/>
          </a:xfrm>
          <a:prstGeom prst="rect">
            <a:avLst/>
          </a:prstGeom>
          <a:noFill/>
          <a:ln/>
        </p:spPr>
        <p:txBody>
          <a:bodyPr wrap="square" lIns="0" tIns="0" rIns="0" bIns="0" rtlCol="0" anchor="t"/>
          <a:lstStyle/>
          <a:p>
            <a:pPr marL="342900" indent="-342900">
              <a:lnSpc>
                <a:spcPts val="1700"/>
              </a:lnSpc>
              <a:spcAft>
                <a:spcPts val="1100"/>
              </a:spcAft>
              <a:buSzPct val="100000"/>
              <a:buChar char="•"/>
            </a:pPr>
            <a:r>
              <a:rPr lang="en-US" sz="1250" dirty="0">
                <a:solidFill>
                  <a:srgbClr val="17202B"/>
                </a:solidFill>
                <a:latin typeface="Calibri" pitchFamily="34" charset="0"/>
                <a:ea typeface="Calibri" pitchFamily="34" charset="-122"/>
                <a:cs typeface="Calibri" pitchFamily="34" charset="-120"/>
              </a:rPr>
              <a:t>How far this product's forecasts have actually missed in the past.</a:t>
            </a:r>
            <a:endParaRPr lang="en-US" sz="1250" dirty="0"/>
          </a:p>
          <a:p>
            <a:pPr marL="342900" indent="-342900">
              <a:lnSpc>
                <a:spcPts val="1700"/>
              </a:lnSpc>
              <a:spcAft>
                <a:spcPts val="1100"/>
              </a:spcAft>
              <a:buSzPct val="100000"/>
              <a:buChar char="•"/>
            </a:pPr>
            <a:r>
              <a:rPr lang="en-US" sz="1250" dirty="0">
                <a:solidFill>
                  <a:srgbClr val="17202B"/>
                </a:solidFill>
                <a:latin typeface="Calibri" pitchFamily="34" charset="0"/>
                <a:ea typeface="Calibri" pitchFamily="34" charset="-122"/>
                <a:cs typeface="Calibri" pitchFamily="34" charset="-120"/>
              </a:rPr>
              <a:t>How long the supplier takes to deliver. Harder to predict, or slower to restock, means a bigger cushion.</a:t>
            </a:r>
            <a:endParaRPr lang="en-US" sz="1250" dirty="0"/>
          </a:p>
          <a:p>
            <a:pPr marL="342900" indent="-342900">
              <a:lnSpc>
                <a:spcPts val="1700"/>
              </a:lnSpc>
              <a:spcAft>
                <a:spcPts val="1100"/>
              </a:spcAft>
              <a:buSzPct val="100000"/>
              <a:buChar char="•"/>
            </a:pPr>
            <a:r>
              <a:rPr lang="en-US" sz="1250" dirty="0">
                <a:solidFill>
                  <a:srgbClr val="17202B"/>
                </a:solidFill>
                <a:latin typeface="Calibri" pitchFamily="34" charset="0"/>
                <a:ea typeface="Calibri" pitchFamily="34" charset="-122"/>
                <a:cs typeface="Calibri" pitchFamily="34" charset="-120"/>
              </a:rPr>
              <a:t>The protection level, which is how often you are willing to run out of this product.</a:t>
            </a:r>
            <a:endParaRPr lang="en-US" sz="1250" dirty="0"/>
          </a:p>
        </p:txBody>
      </p:sp>
      <p:sp>
        <p:nvSpPr>
          <p:cNvPr id="7" name="Text 5"/>
          <p:cNvSpPr txBox="1"/>
          <p:nvPr/>
        </p:nvSpPr>
        <p:spPr>
          <a:xfrm>
            <a:off x="6583680" y="1975104"/>
            <a:ext cx="5029200" cy="292608"/>
          </a:xfrm>
          <a:prstGeom prst="rect">
            <a:avLst/>
          </a:prstGeom>
          <a:noFill/>
          <a:ln/>
        </p:spPr>
        <p:txBody>
          <a:bodyPr wrap="square" lIns="0" tIns="0" rIns="0" bIns="0" rtlCol="0" anchor="ctr"/>
          <a:lstStyle/>
          <a:p>
            <a:pPr indent="0" marL="0">
              <a:buNone/>
            </a:pPr>
            <a:r>
              <a:rPr lang="en-US" sz="1100" b="1" spc="140" kern="0" dirty="0">
                <a:solidFill>
                  <a:srgbClr val="065A82"/>
                </a:solidFill>
                <a:latin typeface="Calibri" pitchFamily="34" charset="0"/>
                <a:ea typeface="Calibri" pitchFamily="34" charset="-122"/>
                <a:cs typeface="Calibri" pitchFamily="34" charset="-120"/>
              </a:rPr>
              <a:t>HOW THE LEVEL IS CHOSEN</a:t>
            </a:r>
            <a:endParaRPr lang="en-US" sz="1100" dirty="0"/>
          </a:p>
        </p:txBody>
      </p:sp>
      <p:sp>
        <p:nvSpPr>
          <p:cNvPr id="8" name="Text 6"/>
          <p:cNvSpPr txBox="1"/>
          <p:nvPr/>
        </p:nvSpPr>
        <p:spPr>
          <a:xfrm>
            <a:off x="6620256" y="2359152"/>
            <a:ext cx="5029200" cy="1828800"/>
          </a:xfrm>
          <a:prstGeom prst="rect">
            <a:avLst/>
          </a:prstGeom>
          <a:noFill/>
          <a:ln/>
        </p:spPr>
        <p:txBody>
          <a:bodyPr wrap="square" lIns="0" tIns="0" rIns="0" bIns="0" rtlCol="0" anchor="t"/>
          <a:lstStyle/>
          <a:p>
            <a:pPr marL="342900" indent="-342900">
              <a:lnSpc>
                <a:spcPts val="1700"/>
              </a:lnSpc>
              <a:spcAft>
                <a:spcPts val="1100"/>
              </a:spcAft>
              <a:buSzPct val="100000"/>
              <a:buChar char="•"/>
            </a:pPr>
            <a:r>
              <a:rPr lang="en-US" sz="1250" dirty="0">
                <a:solidFill>
                  <a:srgbClr val="17202B"/>
                </a:solidFill>
                <a:latin typeface="Calibri" pitchFamily="34" charset="0"/>
                <a:ea typeface="Calibri" pitchFamily="34" charset="-122"/>
                <a:cs typeface="Calibri" pitchFamily="34" charset="-120"/>
              </a:rPr>
              <a:t>The tool replays the product's own history, rewinding to past dates and checking what each level would have done.</a:t>
            </a:r>
            <a:endParaRPr lang="en-US" sz="1250" dirty="0"/>
          </a:p>
          <a:p>
            <a:pPr marL="342900" indent="-342900">
              <a:lnSpc>
                <a:spcPts val="1700"/>
              </a:lnSpc>
              <a:spcAft>
                <a:spcPts val="1100"/>
              </a:spcAft>
              <a:buSzPct val="100000"/>
              <a:buChar char="•"/>
            </a:pPr>
            <a:r>
              <a:rPr lang="en-US" sz="1250" dirty="0">
                <a:solidFill>
                  <a:srgbClr val="17202B"/>
                </a:solidFill>
                <a:latin typeface="Calibri" pitchFamily="34" charset="0"/>
                <a:ea typeface="Calibri" pitchFamily="34" charset="-122"/>
                <a:cs typeface="Calibri" pitchFamily="34" charset="-120"/>
              </a:rPr>
              <a:t>Each level is scored on two costs: profit lost to stockouts, and cash tied up in stock that sat unused.</a:t>
            </a:r>
            <a:endParaRPr lang="en-US" sz="1250" dirty="0"/>
          </a:p>
          <a:p>
            <a:pPr marL="342900" indent="-342900">
              <a:lnSpc>
                <a:spcPts val="1700"/>
              </a:lnSpc>
              <a:spcAft>
                <a:spcPts val="1100"/>
              </a:spcAft>
              <a:buSzPct val="100000"/>
              <a:buChar char="•"/>
            </a:pPr>
            <a:r>
              <a:rPr lang="en-US" sz="1250" dirty="0">
                <a:solidFill>
                  <a:srgbClr val="17202B"/>
                </a:solidFill>
                <a:latin typeface="Calibri" pitchFamily="34" charset="0"/>
                <a:ea typeface="Calibri" pitchFamily="34" charset="-122"/>
                <a:cs typeface="Calibri" pitchFamily="34" charset="-120"/>
              </a:rPr>
              <a:t>The cheapest balance of the two wins, and it comes out different for different products.</a:t>
            </a:r>
            <a:endParaRPr lang="en-US" sz="1250" dirty="0"/>
          </a:p>
        </p:txBody>
      </p:sp>
      <p:sp>
        <p:nvSpPr>
          <p:cNvPr id="9" name="Text 7"/>
          <p:cNvSpPr txBox="1"/>
          <p:nvPr/>
        </p:nvSpPr>
        <p:spPr>
          <a:xfrm>
            <a:off x="566928" y="4023360"/>
            <a:ext cx="3657600" cy="256032"/>
          </a:xfrm>
          <a:prstGeom prst="rect">
            <a:avLst/>
          </a:prstGeom>
          <a:noFill/>
          <a:ln/>
        </p:spPr>
        <p:txBody>
          <a:bodyPr wrap="square" lIns="0" tIns="0" rIns="0" bIns="0" rtlCol="0" anchor="ctr"/>
          <a:lstStyle/>
          <a:p>
            <a:pPr indent="0" marL="0">
              <a:buNone/>
            </a:pPr>
            <a:r>
              <a:rPr lang="en-US" sz="1100" b="1" spc="140" kern="0" dirty="0">
                <a:solidFill>
                  <a:srgbClr val="065A82"/>
                </a:solidFill>
                <a:latin typeface="Calibri" pitchFamily="34" charset="0"/>
                <a:ea typeface="Calibri" pitchFamily="34" charset="-122"/>
                <a:cs typeface="Calibri" pitchFamily="34" charset="-120"/>
              </a:rPr>
              <a:t>THE FIVE LEVELS</a:t>
            </a:r>
            <a:endParaRPr lang="en-US" sz="1100" dirty="0"/>
          </a:p>
        </p:txBody>
      </p:sp>
      <p:sp>
        <p:nvSpPr>
          <p:cNvPr id="10" name="Shape 8"/>
          <p:cNvSpPr/>
          <p:nvPr/>
        </p:nvSpPr>
        <p:spPr>
          <a:xfrm>
            <a:off x="566928" y="4443984"/>
            <a:ext cx="2028139" cy="658368"/>
          </a:xfrm>
          <a:prstGeom prst="roundRect">
            <a:avLst>
              <a:gd name="adj" fmla="val 6944"/>
            </a:avLst>
          </a:prstGeom>
          <a:solidFill>
            <a:srgbClr val="EDF3F7"/>
          </a:solidFill>
          <a:ln/>
        </p:spPr>
      </p:sp>
      <p:sp>
        <p:nvSpPr>
          <p:cNvPr id="11" name="Text 9"/>
          <p:cNvSpPr txBox="1"/>
          <p:nvPr/>
        </p:nvSpPr>
        <p:spPr>
          <a:xfrm>
            <a:off x="566928" y="4517136"/>
            <a:ext cx="2028139" cy="274320"/>
          </a:xfrm>
          <a:prstGeom prst="rect">
            <a:avLst/>
          </a:prstGeom>
          <a:noFill/>
          <a:ln/>
        </p:spPr>
        <p:txBody>
          <a:bodyPr wrap="square" lIns="0" tIns="0" rIns="0" bIns="0" rtlCol="0" anchor="ctr"/>
          <a:lstStyle/>
          <a:p>
            <a:pPr algn="ctr" indent="0" marL="0">
              <a:buNone/>
            </a:pPr>
            <a:r>
              <a:rPr lang="en-US" sz="1600" b="1" dirty="0">
                <a:solidFill>
                  <a:srgbClr val="17202B"/>
                </a:solidFill>
                <a:latin typeface="Cambria" pitchFamily="34" charset="0"/>
                <a:ea typeface="Cambria" pitchFamily="34" charset="-122"/>
                <a:cs typeface="Cambria" pitchFamily="34" charset="-120"/>
              </a:rPr>
              <a:t>90%</a:t>
            </a:r>
            <a:endParaRPr lang="en-US" sz="1600" dirty="0"/>
          </a:p>
        </p:txBody>
      </p:sp>
      <p:sp>
        <p:nvSpPr>
          <p:cNvPr id="12" name="Text 10"/>
          <p:cNvSpPr txBox="1"/>
          <p:nvPr/>
        </p:nvSpPr>
        <p:spPr>
          <a:xfrm>
            <a:off x="566928" y="4791456"/>
            <a:ext cx="2028139" cy="237744"/>
          </a:xfrm>
          <a:prstGeom prst="rect">
            <a:avLst/>
          </a:prstGeom>
          <a:noFill/>
          <a:ln/>
        </p:spPr>
        <p:txBody>
          <a:bodyPr wrap="square" lIns="0" tIns="0" rIns="0" bIns="0" rtlCol="0" anchor="ctr"/>
          <a:lstStyle/>
          <a:p>
            <a:pPr algn="ctr" indent="0" marL="0">
              <a:buNone/>
            </a:pPr>
            <a:r>
              <a:rPr lang="en-US" sz="1100" dirty="0">
                <a:solidFill>
                  <a:srgbClr val="5A6A78"/>
                </a:solidFill>
                <a:latin typeface="Calibri" pitchFamily="34" charset="0"/>
                <a:ea typeface="Calibri" pitchFamily="34" charset="-122"/>
                <a:cs typeface="Calibri" pitchFamily="34" charset="-120"/>
              </a:rPr>
              <a:t>Light</a:t>
            </a:r>
            <a:endParaRPr lang="en-US" sz="1100" dirty="0"/>
          </a:p>
        </p:txBody>
      </p:sp>
      <p:sp>
        <p:nvSpPr>
          <p:cNvPr id="13" name="Shape 11"/>
          <p:cNvSpPr/>
          <p:nvPr/>
        </p:nvSpPr>
        <p:spPr>
          <a:xfrm>
            <a:off x="2823667" y="4443984"/>
            <a:ext cx="2028139" cy="658368"/>
          </a:xfrm>
          <a:prstGeom prst="roundRect">
            <a:avLst>
              <a:gd name="adj" fmla="val 6944"/>
            </a:avLst>
          </a:prstGeom>
          <a:solidFill>
            <a:srgbClr val="EDF3F7"/>
          </a:solidFill>
          <a:ln/>
        </p:spPr>
      </p:sp>
      <p:sp>
        <p:nvSpPr>
          <p:cNvPr id="14" name="Text 12"/>
          <p:cNvSpPr txBox="1"/>
          <p:nvPr/>
        </p:nvSpPr>
        <p:spPr>
          <a:xfrm>
            <a:off x="2823667" y="4517136"/>
            <a:ext cx="2028139" cy="274320"/>
          </a:xfrm>
          <a:prstGeom prst="rect">
            <a:avLst/>
          </a:prstGeom>
          <a:noFill/>
          <a:ln/>
        </p:spPr>
        <p:txBody>
          <a:bodyPr wrap="square" lIns="0" tIns="0" rIns="0" bIns="0" rtlCol="0" anchor="ctr"/>
          <a:lstStyle/>
          <a:p>
            <a:pPr algn="ctr" indent="0" marL="0">
              <a:buNone/>
            </a:pPr>
            <a:r>
              <a:rPr lang="en-US" sz="1600" b="1" dirty="0">
                <a:solidFill>
                  <a:srgbClr val="17202B"/>
                </a:solidFill>
                <a:latin typeface="Cambria" pitchFamily="34" charset="0"/>
                <a:ea typeface="Cambria" pitchFamily="34" charset="-122"/>
                <a:cs typeface="Cambria" pitchFamily="34" charset="-120"/>
              </a:rPr>
              <a:t>95%</a:t>
            </a:r>
            <a:endParaRPr lang="en-US" sz="1600" dirty="0"/>
          </a:p>
        </p:txBody>
      </p:sp>
      <p:sp>
        <p:nvSpPr>
          <p:cNvPr id="15" name="Text 13"/>
          <p:cNvSpPr txBox="1"/>
          <p:nvPr/>
        </p:nvSpPr>
        <p:spPr>
          <a:xfrm>
            <a:off x="2823667" y="4791456"/>
            <a:ext cx="2028139" cy="237744"/>
          </a:xfrm>
          <a:prstGeom prst="rect">
            <a:avLst/>
          </a:prstGeom>
          <a:noFill/>
          <a:ln/>
        </p:spPr>
        <p:txBody>
          <a:bodyPr wrap="square" lIns="0" tIns="0" rIns="0" bIns="0" rtlCol="0" anchor="ctr"/>
          <a:lstStyle/>
          <a:p>
            <a:pPr algn="ctr" indent="0" marL="0">
              <a:buNone/>
            </a:pPr>
            <a:r>
              <a:rPr lang="en-US" sz="1100" dirty="0">
                <a:solidFill>
                  <a:srgbClr val="5A6A78"/>
                </a:solidFill>
                <a:latin typeface="Calibri" pitchFamily="34" charset="0"/>
                <a:ea typeface="Calibri" pitchFamily="34" charset="-122"/>
                <a:cs typeface="Calibri" pitchFamily="34" charset="-120"/>
              </a:rPr>
              <a:t>Standard</a:t>
            </a:r>
            <a:endParaRPr lang="en-US" sz="1100" dirty="0"/>
          </a:p>
        </p:txBody>
      </p:sp>
      <p:sp>
        <p:nvSpPr>
          <p:cNvPr id="16" name="Shape 14"/>
          <p:cNvSpPr/>
          <p:nvPr/>
        </p:nvSpPr>
        <p:spPr>
          <a:xfrm>
            <a:off x="5080406" y="4443984"/>
            <a:ext cx="2028139" cy="658368"/>
          </a:xfrm>
          <a:prstGeom prst="roundRect">
            <a:avLst>
              <a:gd name="adj" fmla="val 6944"/>
            </a:avLst>
          </a:prstGeom>
          <a:solidFill>
            <a:srgbClr val="EDF3F7"/>
          </a:solidFill>
          <a:ln/>
        </p:spPr>
      </p:sp>
      <p:sp>
        <p:nvSpPr>
          <p:cNvPr id="17" name="Text 15"/>
          <p:cNvSpPr txBox="1"/>
          <p:nvPr/>
        </p:nvSpPr>
        <p:spPr>
          <a:xfrm>
            <a:off x="5080406" y="4517136"/>
            <a:ext cx="2028139" cy="274320"/>
          </a:xfrm>
          <a:prstGeom prst="rect">
            <a:avLst/>
          </a:prstGeom>
          <a:noFill/>
          <a:ln/>
        </p:spPr>
        <p:txBody>
          <a:bodyPr wrap="square" lIns="0" tIns="0" rIns="0" bIns="0" rtlCol="0" anchor="ctr"/>
          <a:lstStyle/>
          <a:p>
            <a:pPr algn="ctr" indent="0" marL="0">
              <a:buNone/>
            </a:pPr>
            <a:r>
              <a:rPr lang="en-US" sz="1600" b="1" dirty="0">
                <a:solidFill>
                  <a:srgbClr val="17202B"/>
                </a:solidFill>
                <a:latin typeface="Cambria" pitchFamily="34" charset="0"/>
                <a:ea typeface="Cambria" pitchFamily="34" charset="-122"/>
                <a:cs typeface="Cambria" pitchFamily="34" charset="-120"/>
              </a:rPr>
              <a:t>98%</a:t>
            </a:r>
            <a:endParaRPr lang="en-US" sz="1600" dirty="0"/>
          </a:p>
        </p:txBody>
      </p:sp>
      <p:sp>
        <p:nvSpPr>
          <p:cNvPr id="18" name="Text 16"/>
          <p:cNvSpPr txBox="1"/>
          <p:nvPr/>
        </p:nvSpPr>
        <p:spPr>
          <a:xfrm>
            <a:off x="5080406" y="4791456"/>
            <a:ext cx="2028139" cy="237744"/>
          </a:xfrm>
          <a:prstGeom prst="rect">
            <a:avLst/>
          </a:prstGeom>
          <a:noFill/>
          <a:ln/>
        </p:spPr>
        <p:txBody>
          <a:bodyPr wrap="square" lIns="0" tIns="0" rIns="0" bIns="0" rtlCol="0" anchor="ctr"/>
          <a:lstStyle/>
          <a:p>
            <a:pPr algn="ctr" indent="0" marL="0">
              <a:buNone/>
            </a:pPr>
            <a:r>
              <a:rPr lang="en-US" sz="1100" dirty="0">
                <a:solidFill>
                  <a:srgbClr val="5A6A78"/>
                </a:solidFill>
                <a:latin typeface="Calibri" pitchFamily="34" charset="0"/>
                <a:ea typeface="Calibri" pitchFamily="34" charset="-122"/>
                <a:cs typeface="Calibri" pitchFamily="34" charset="-120"/>
              </a:rPr>
              <a:t>High</a:t>
            </a:r>
            <a:endParaRPr lang="en-US" sz="1100" dirty="0"/>
          </a:p>
        </p:txBody>
      </p:sp>
      <p:sp>
        <p:nvSpPr>
          <p:cNvPr id="19" name="Shape 17"/>
          <p:cNvSpPr/>
          <p:nvPr/>
        </p:nvSpPr>
        <p:spPr>
          <a:xfrm>
            <a:off x="7337146" y="4443984"/>
            <a:ext cx="2028139" cy="658368"/>
          </a:xfrm>
          <a:prstGeom prst="roundRect">
            <a:avLst>
              <a:gd name="adj" fmla="val 6944"/>
            </a:avLst>
          </a:prstGeom>
          <a:solidFill>
            <a:srgbClr val="EDF3F7"/>
          </a:solidFill>
          <a:ln/>
        </p:spPr>
      </p:sp>
      <p:sp>
        <p:nvSpPr>
          <p:cNvPr id="20" name="Text 18"/>
          <p:cNvSpPr txBox="1"/>
          <p:nvPr/>
        </p:nvSpPr>
        <p:spPr>
          <a:xfrm>
            <a:off x="7337146" y="4517136"/>
            <a:ext cx="2028139" cy="274320"/>
          </a:xfrm>
          <a:prstGeom prst="rect">
            <a:avLst/>
          </a:prstGeom>
          <a:noFill/>
          <a:ln/>
        </p:spPr>
        <p:txBody>
          <a:bodyPr wrap="square" lIns="0" tIns="0" rIns="0" bIns="0" rtlCol="0" anchor="ctr"/>
          <a:lstStyle/>
          <a:p>
            <a:pPr algn="ctr" indent="0" marL="0">
              <a:buNone/>
            </a:pPr>
            <a:r>
              <a:rPr lang="en-US" sz="1600" b="1" dirty="0">
                <a:solidFill>
                  <a:srgbClr val="17202B"/>
                </a:solidFill>
                <a:latin typeface="Cambria" pitchFamily="34" charset="0"/>
                <a:ea typeface="Cambria" pitchFamily="34" charset="-122"/>
                <a:cs typeface="Cambria" pitchFamily="34" charset="-120"/>
              </a:rPr>
              <a:t>99%</a:t>
            </a:r>
            <a:endParaRPr lang="en-US" sz="1600" dirty="0"/>
          </a:p>
        </p:txBody>
      </p:sp>
      <p:sp>
        <p:nvSpPr>
          <p:cNvPr id="21" name="Text 19"/>
          <p:cNvSpPr txBox="1"/>
          <p:nvPr/>
        </p:nvSpPr>
        <p:spPr>
          <a:xfrm>
            <a:off x="7337146" y="4791456"/>
            <a:ext cx="2028139" cy="237744"/>
          </a:xfrm>
          <a:prstGeom prst="rect">
            <a:avLst/>
          </a:prstGeom>
          <a:noFill/>
          <a:ln/>
        </p:spPr>
        <p:txBody>
          <a:bodyPr wrap="square" lIns="0" tIns="0" rIns="0" bIns="0" rtlCol="0" anchor="ctr"/>
          <a:lstStyle/>
          <a:p>
            <a:pPr algn="ctr" indent="0" marL="0">
              <a:buNone/>
            </a:pPr>
            <a:r>
              <a:rPr lang="en-US" sz="1100" dirty="0">
                <a:solidFill>
                  <a:srgbClr val="5A6A78"/>
                </a:solidFill>
                <a:latin typeface="Calibri" pitchFamily="34" charset="0"/>
                <a:ea typeface="Calibri" pitchFamily="34" charset="-122"/>
                <a:cs typeface="Calibri" pitchFamily="34" charset="-120"/>
              </a:rPr>
              <a:t>Very high</a:t>
            </a:r>
            <a:endParaRPr lang="en-US" sz="1100" dirty="0"/>
          </a:p>
        </p:txBody>
      </p:sp>
      <p:sp>
        <p:nvSpPr>
          <p:cNvPr id="22" name="Shape 20"/>
          <p:cNvSpPr/>
          <p:nvPr/>
        </p:nvSpPr>
        <p:spPr>
          <a:xfrm>
            <a:off x="9593885" y="4443984"/>
            <a:ext cx="2028139" cy="658368"/>
          </a:xfrm>
          <a:prstGeom prst="roundRect">
            <a:avLst>
              <a:gd name="adj" fmla="val 6944"/>
            </a:avLst>
          </a:prstGeom>
          <a:solidFill>
            <a:srgbClr val="065A82"/>
          </a:solidFill>
          <a:ln/>
        </p:spPr>
      </p:sp>
      <p:sp>
        <p:nvSpPr>
          <p:cNvPr id="23" name="Text 21"/>
          <p:cNvSpPr txBox="1"/>
          <p:nvPr/>
        </p:nvSpPr>
        <p:spPr>
          <a:xfrm>
            <a:off x="9593885" y="4517136"/>
            <a:ext cx="2028139"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99.5%</a:t>
            </a:r>
            <a:endParaRPr lang="en-US" sz="1600" dirty="0"/>
          </a:p>
        </p:txBody>
      </p:sp>
      <p:sp>
        <p:nvSpPr>
          <p:cNvPr id="24" name="Text 22"/>
          <p:cNvSpPr txBox="1"/>
          <p:nvPr/>
        </p:nvSpPr>
        <p:spPr>
          <a:xfrm>
            <a:off x="9593885" y="4791456"/>
            <a:ext cx="2028139" cy="237744"/>
          </a:xfrm>
          <a:prstGeom prst="rect">
            <a:avLst/>
          </a:prstGeom>
          <a:noFill/>
          <a:ln/>
        </p:spPr>
        <p:txBody>
          <a:bodyPr wrap="square" lIns="0" tIns="0" rIns="0" bIns="0" rtlCol="0" anchor="ctr"/>
          <a:lstStyle/>
          <a:p>
            <a:pPr algn="ctr" indent="0" marL="0">
              <a:buNone/>
            </a:pPr>
            <a:r>
              <a:rPr lang="en-US" sz="1100" dirty="0">
                <a:solidFill>
                  <a:srgbClr val="8FD4E8"/>
                </a:solidFill>
                <a:latin typeface="Calibri" pitchFamily="34" charset="0"/>
                <a:ea typeface="Calibri" pitchFamily="34" charset="-122"/>
                <a:cs typeface="Calibri" pitchFamily="34" charset="-120"/>
              </a:rPr>
              <a:t>Maximum</a:t>
            </a:r>
            <a:endParaRPr lang="en-US" sz="1100" dirty="0"/>
          </a:p>
        </p:txBody>
      </p:sp>
      <p:sp>
        <p:nvSpPr>
          <p:cNvPr id="25" name="Shape 23"/>
          <p:cNvSpPr/>
          <p:nvPr/>
        </p:nvSpPr>
        <p:spPr>
          <a:xfrm>
            <a:off x="566928" y="5340096"/>
            <a:ext cx="11055096" cy="786384"/>
          </a:xfrm>
          <a:prstGeom prst="roundRect">
            <a:avLst>
              <a:gd name="adj" fmla="val 5814"/>
            </a:avLst>
          </a:prstGeom>
          <a:solidFill>
            <a:srgbClr val="E6EEF6"/>
          </a:solidFill>
          <a:ln/>
        </p:spPr>
      </p:sp>
      <p:sp>
        <p:nvSpPr>
          <p:cNvPr id="26" name="Text 24"/>
          <p:cNvSpPr txBox="1"/>
          <p:nvPr/>
        </p:nvSpPr>
        <p:spPr>
          <a:xfrm>
            <a:off x="841248" y="5449824"/>
            <a:ext cx="10515600" cy="585216"/>
          </a:xfrm>
          <a:prstGeom prst="rect">
            <a:avLst/>
          </a:prstGeom>
          <a:noFill/>
          <a:ln/>
        </p:spPr>
        <p:txBody>
          <a:bodyPr wrap="square" lIns="0" tIns="0" rIns="0" bIns="0" rtlCol="0" anchor="ctr"/>
          <a:lstStyle/>
          <a:p>
            <a:pPr indent="0" marL="0">
              <a:lnSpc>
                <a:spcPts val="1600"/>
              </a:lnSpc>
              <a:buNone/>
            </a:pPr>
            <a:r>
              <a:rPr lang="en-US" sz="1150" b="1" dirty="0">
                <a:solidFill>
                  <a:srgbClr val="065A82"/>
                </a:solidFill>
                <a:latin typeface="Calibri" pitchFamily="34" charset="0"/>
                <a:ea typeface="Calibri" pitchFamily="34" charset="-122"/>
                <a:cs typeface="Calibri" pitchFamily="34" charset="-120"/>
              </a:rPr>
              <a:t>You buy the cushion once.   </a:t>
            </a:r>
            <a:pPr indent="0" marL="0">
              <a:lnSpc>
                <a:spcPts val="1600"/>
              </a:lnSpc>
              <a:buNone/>
            </a:pPr>
            <a:r>
              <a:rPr lang="en-US" sz="1150" dirty="0">
                <a:solidFill>
                  <a:srgbClr val="17202B"/>
                </a:solidFill>
                <a:latin typeface="Calibri" pitchFamily="34" charset="0"/>
                <a:ea typeface="Calibri" pitchFamily="34" charset="-122"/>
                <a:cs typeface="Calibri" pitchFamily="34" charset="-120"/>
              </a:rPr>
              <a:t>Safety stock is a standing level, not a recurring purchase. It is bought on the first order and then stays on the shelf, and every later order replaces what sold. A higher protection level is a one-off capital cost, weighed against stockout losses that repeat every year.</a:t>
            </a:r>
            <a:endParaRPr lang="en-US" sz="1150" dirty="0"/>
          </a:p>
        </p:txBody>
      </p:sp>
      <p:sp>
        <p:nvSpPr>
          <p:cNvPr id="27" name="Text 25"/>
          <p:cNvSpPr txBox="1"/>
          <p:nvPr/>
        </p:nvSpPr>
        <p:spPr>
          <a:xfrm>
            <a:off x="566928" y="6272784"/>
            <a:ext cx="11055096" cy="365760"/>
          </a:xfrm>
          <a:prstGeom prst="rect">
            <a:avLst/>
          </a:prstGeom>
          <a:noFill/>
          <a:ln/>
        </p:spPr>
        <p:txBody>
          <a:bodyPr wrap="square" lIns="0" tIns="0" rIns="0" bIns="0" rtlCol="0" anchor="ctr"/>
          <a:lstStyle/>
          <a:p>
            <a:pPr indent="0" marL="0">
              <a:lnSpc>
                <a:spcPts val="1300"/>
              </a:lnSpc>
              <a:buNone/>
            </a:pPr>
            <a:r>
              <a:rPr lang="en-US" sz="1050" i="1" dirty="0">
                <a:solidFill>
                  <a:srgbClr val="5A6A78"/>
                </a:solidFill>
                <a:latin typeface="Calibri" pitchFamily="34" charset="0"/>
                <a:ea typeface="Calibri" pitchFamily="34" charset="-122"/>
                <a:cs typeface="Calibri" pitchFamily="34" charset="-120"/>
              </a:rPr>
              <a:t>Discontinued products get no cushion. Under a week of history gets no recommendation at all.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784080" y="-1371600"/>
            <a:ext cx="4206240" cy="4206240"/>
          </a:xfrm>
          <a:prstGeom prst="ellipse">
            <a:avLst/>
          </a:prstGeom>
          <a:solidFill>
            <a:srgbClr val="065A82">
              <a:alpha val="28000"/>
            </a:srgbClr>
          </a:solidFill>
          <a:ln/>
        </p:spPr>
      </p:sp>
      <p:sp>
        <p:nvSpPr>
          <p:cNvPr id="3" name="Shape 1"/>
          <p:cNvSpPr/>
          <p:nvPr/>
        </p:nvSpPr>
        <p:spPr>
          <a:xfrm>
            <a:off x="10881360" y="4023360"/>
            <a:ext cx="2926080" cy="2926080"/>
          </a:xfrm>
          <a:prstGeom prst="ellipse">
            <a:avLst/>
          </a:prstGeom>
          <a:solidFill>
            <a:srgbClr val="1C7293">
              <a:alpha val="20000"/>
            </a:srgbClr>
          </a:solidFill>
          <a:ln/>
        </p:spPr>
      </p:sp>
      <p:sp>
        <p:nvSpPr>
          <p:cNvPr id="4" name="Text 2"/>
          <p:cNvSpPr txBox="1"/>
          <p:nvPr/>
        </p:nvSpPr>
        <p:spPr>
          <a:xfrm>
            <a:off x="566928" y="713232"/>
            <a:ext cx="768096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assistant</a:t>
            </a:r>
            <a:endParaRPr lang="en-US" sz="3400" dirty="0"/>
          </a:p>
        </p:txBody>
      </p:sp>
      <p:sp>
        <p:nvSpPr>
          <p:cNvPr id="5" name="Text 3"/>
          <p:cNvSpPr txBox="1"/>
          <p:nvPr/>
        </p:nvSpPr>
        <p:spPr>
          <a:xfrm>
            <a:off x="566928" y="1481328"/>
            <a:ext cx="7498080" cy="365760"/>
          </a:xfrm>
          <a:prstGeom prst="rect">
            <a:avLst/>
          </a:prstGeom>
          <a:noFill/>
          <a:ln/>
        </p:spPr>
        <p:txBody>
          <a:bodyPr wrap="square" lIns="0" tIns="0" rIns="0" bIns="0" rtlCol="0" anchor="ctr"/>
          <a:lstStyle/>
          <a:p>
            <a:pPr indent="0" marL="0">
              <a:buNone/>
            </a:pPr>
            <a:r>
              <a:rPr lang="en-US" sz="1350" dirty="0">
                <a:solidFill>
                  <a:srgbClr val="8FD4E8"/>
                </a:solidFill>
                <a:latin typeface="Calibri" pitchFamily="34" charset="0"/>
                <a:ea typeface="Calibri" pitchFamily="34" charset="-122"/>
                <a:cs typeface="Calibri" pitchFamily="34" charset="-120"/>
              </a:rPr>
              <a:t>Questions answered against your own catalogue</a:t>
            </a:r>
            <a:endParaRPr lang="en-US" sz="1350" dirty="0"/>
          </a:p>
        </p:txBody>
      </p:sp>
      <p:sp>
        <p:nvSpPr>
          <p:cNvPr id="6" name="Text 4"/>
          <p:cNvSpPr txBox="1"/>
          <p:nvPr/>
        </p:nvSpPr>
        <p:spPr>
          <a:xfrm>
            <a:off x="621792" y="2139696"/>
            <a:ext cx="9509760" cy="3291840"/>
          </a:xfrm>
          <a:prstGeom prst="rect">
            <a:avLst/>
          </a:prstGeom>
          <a:noFill/>
          <a:ln/>
        </p:spPr>
        <p:txBody>
          <a:bodyPr wrap="square" lIns="0" tIns="0" rIns="0" bIns="0" rtlCol="0" anchor="t"/>
          <a:lstStyle/>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Ask what to reorder this week</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Ask what is tying up cash right now</a:t>
            </a:r>
            <a:endParaRPr lang="en-US" sz="1700" dirty="0"/>
          </a:p>
          <a:p>
            <a:pPr marL="342900" indent="-342900">
              <a:lnSpc>
                <a:spcPts val="3200"/>
              </a:lnSpc>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It already holds the whole catalogue in context</a:t>
            </a:r>
            <a:endParaRPr lang="en-US" sz="1700" dirty="0"/>
          </a:p>
        </p:txBody>
      </p:sp>
      <p:sp>
        <p:nvSpPr>
          <p:cNvPr id="7" name="Text 5"/>
          <p:cNvSpPr txBox="1"/>
          <p:nvPr/>
        </p:nvSpPr>
        <p:spPr>
          <a:xfrm>
            <a:off x="566928" y="4535424"/>
            <a:ext cx="9692640" cy="457200"/>
          </a:xfrm>
          <a:prstGeom prst="rect">
            <a:avLst/>
          </a:prstGeom>
          <a:noFill/>
          <a:ln/>
        </p:spPr>
        <p:txBody>
          <a:bodyPr wrap="square" lIns="0" tIns="0" rIns="0" bIns="0" rtlCol="0" anchor="ctr"/>
          <a:lstStyle/>
          <a:p>
            <a:pPr indent="0" marL="0">
              <a:lnSpc>
                <a:spcPts val="1600"/>
              </a:lnSpc>
              <a:buNone/>
            </a:pPr>
            <a:r>
              <a:rPr lang="en-US" sz="1250" i="1" dirty="0">
                <a:solidFill>
                  <a:srgbClr val="9FB6C9"/>
                </a:solidFill>
                <a:latin typeface="Calibri" pitchFamily="34" charset="0"/>
                <a:ea typeface="Calibri" pitchFamily="34" charset="-122"/>
                <a:cs typeface="Calibri" pitchFamily="34" charset="-120"/>
              </a:rPr>
              <a:t>Full sales-history mode is built and working. It is gated by AI token budget, which is a billing decision rather than an engineering one.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LogiTrack V2 Stakeholder Briefing</dc:title>
  <dc:subject>PptxGenJS Presentation</dc:subject>
  <dc:creator>LogiTrack</dc:creator>
  <cp:lastModifiedBy>LogiTrack</cp:lastModifiedBy>
  <cp:revision>1</cp:revision>
  <dcterms:created xsi:type="dcterms:W3CDTF">2026-08-29T00:17:29Z</dcterms:created>
  <dcterms:modified xsi:type="dcterms:W3CDTF">2026-08-29T00:17:29Z</dcterms:modified>
</cp:coreProperties>
</file>