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competitor is a spreadsheet and a good memory, not an enterprise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slide. $19K = 47% of the $40K, the ordering/forecasting-caused share we address (capture a portion, not all; backtest measures it on their data). Markdown strip: 30% of markdowns from overbuying (cause share, robust); 12% base rate varies by category (kept parenthetical). Sources printed at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Layout conveys it: LEFT column = manual work you already do -&gt; the $5-15K time value sits directly beneath it (dark box). RIGHT column = net-new capabilities -&gt; a light "pure upside, not counted" box beneath it. The dollar figure is visually owned by the left column only. Value is buyer-calculated, BLS $36/hr floor, never a fixed hours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Grouping tab. Verbal point to make: the pool is chosen on sales behaviour, so a seasonal item can’t hand its seasonality to a year-round look-alike.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product's screen shows which method it got and why, in plain language. The cut-offs are named, adjustable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two bits of jargon worth explaining out loud. Widening the range = a deliberate humility correction. Testing itself = holding data back to measure real error, which then sizes the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 handling is quietly one of the strongest features. The honest framing: it is only as good as the price variation in the data, and the tool grades its own evidence rather than assuming it has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Fleet tab. The eight-week buying schedule is the standout — the forecast turned into a purchasing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assistant with a real question. Talking track: the read-full-history toggle exists and works; unlocking it is a paid-tier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Scorecard tab. The refusal to fabricate a margin when cost is unknown is worth pointing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Suppliers tab. Show the average-vs-P80 comparison and explain that planning to the average leaves half your orders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one-off point matters commercially: buying protection is a single capital outlay, while the stockouts it prevents recur every year. That asymmetry is why the cheapest level is often higher than a merchant would guess. Guardrails: discontinued products get no cushion; under a week of history gets no recommendation; new products are capped near six weeks of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281160" y="-1371600"/>
            <a:ext cx="4754880" cy="4754880"/>
          </a:xfrm>
          <a:prstGeom prst="ellipse">
            <a:avLst/>
          </a:prstGeom>
          <a:solidFill>
            <a:srgbClr val="065A82">
              <a:alpha val="45000"/>
            </a:srgbClr>
          </a:solidFill>
          <a:ln/>
        </p:spPr>
      </p:sp>
      <p:sp>
        <p:nvSpPr>
          <p:cNvPr id="3" name="Shape 1"/>
          <p:cNvSpPr/>
          <p:nvPr/>
        </p:nvSpPr>
        <p:spPr>
          <a:xfrm>
            <a:off x="10607040" y="4206240"/>
            <a:ext cx="3108960" cy="3108960"/>
          </a:xfrm>
          <a:prstGeom prst="ellipse">
            <a:avLst/>
          </a:prstGeom>
          <a:solidFill>
            <a:srgbClr val="1C7293">
              <a:alpha val="35000"/>
            </a:srgbClr>
          </a:solidFill>
          <a:ln/>
        </p:spPr>
      </p:sp>
      <p:sp>
        <p:nvSpPr>
          <p:cNvPr id="4" name="Text 2"/>
          <p:cNvSpPr/>
          <p:nvPr/>
        </p:nvSpPr>
        <p:spPr>
          <a:xfrm>
            <a:off x="822960" y="2057400"/>
            <a:ext cx="841248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LogiTrack V2</a:t>
            </a:r>
            <a:endParaRPr lang="en-US" sz="6000" dirty="0"/>
          </a:p>
        </p:txBody>
      </p:sp>
      <p:sp>
        <p:nvSpPr>
          <p:cNvPr id="5" name="Text 3"/>
          <p:cNvSpPr/>
          <p:nvPr/>
        </p:nvSpPr>
        <p:spPr>
          <a:xfrm>
            <a:off x="822960" y="3200400"/>
            <a:ext cx="7863840" cy="914400"/>
          </a:xfrm>
          <a:prstGeom prst="rect">
            <a:avLst/>
          </a:prstGeom>
          <a:noFill/>
          <a:ln/>
        </p:spPr>
        <p:txBody>
          <a:bodyPr wrap="square" lIns="0" tIns="0" rIns="0" bIns="0" rtlCol="0" anchor="ctr"/>
          <a:lstStyle/>
          <a:p>
            <a:pPr indent="0" marL="0">
              <a:lnSpc>
                <a:spcPts val="2700"/>
              </a:lnSpc>
              <a:buNone/>
            </a:pPr>
            <a:r>
              <a:rPr lang="en-US" sz="1900" dirty="0">
                <a:solidFill>
                  <a:srgbClr val="CFDDE9"/>
                </a:solidFill>
                <a:latin typeface="Calibri" pitchFamily="34" charset="0"/>
                <a:ea typeface="Calibri" pitchFamily="34" charset="-122"/>
                <a:cs typeface="Calibri" pitchFamily="34" charset="-120"/>
              </a:rPr>
              <a:t>Demand forecasting and reorder decisions</a:t>
            </a:r>
            <a:endParaRPr lang="en-US" sz="1900" dirty="0"/>
          </a:p>
          <a:p>
            <a:pPr indent="0" marL="0">
              <a:lnSpc>
                <a:spcPts val="2700"/>
              </a:lnSpc>
              <a:buNone/>
            </a:pPr>
            <a:r>
              <a:rPr lang="en-US" sz="1900" dirty="0">
                <a:solidFill>
                  <a:srgbClr val="CFDDE9"/>
                </a:solidFill>
                <a:latin typeface="Calibri" pitchFamily="34" charset="0"/>
                <a:ea typeface="Calibri" pitchFamily="34" charset="-122"/>
                <a:cs typeface="Calibri" pitchFamily="34" charset="-120"/>
              </a:rPr>
              <a:t>for growing product catalogs</a:t>
            </a:r>
            <a:endParaRPr lang="en-US" sz="1900" dirty="0"/>
          </a:p>
        </p:txBody>
      </p:sp>
      <p:sp>
        <p:nvSpPr>
          <p:cNvPr id="6" name="Text 4"/>
          <p:cNvSpPr/>
          <p:nvPr/>
        </p:nvSpPr>
        <p:spPr>
          <a:xfrm>
            <a:off x="822960" y="4343400"/>
            <a:ext cx="8138160" cy="640080"/>
          </a:xfrm>
          <a:prstGeom prst="rect">
            <a:avLst/>
          </a:prstGeom>
          <a:noFill/>
          <a:ln/>
        </p:spPr>
        <p:txBody>
          <a:bodyPr wrap="square" lIns="0" tIns="0" rIns="0" bIns="0" rtlCol="0" anchor="ctr"/>
          <a:lstStyle/>
          <a:p>
            <a:pPr indent="0" marL="0">
              <a:lnSpc>
                <a:spcPts val="1900"/>
              </a:lnSpc>
              <a:buNone/>
            </a:pPr>
            <a:r>
              <a:rPr lang="en-US" sz="1350" i="1" dirty="0">
                <a:solidFill>
                  <a:srgbClr val="8FA8BE"/>
                </a:solidFill>
                <a:latin typeface="Calibri" pitchFamily="34" charset="0"/>
                <a:ea typeface="Calibri" pitchFamily="34" charset="-122"/>
                <a:cs typeface="Calibri" pitchFamily="34" charset="-120"/>
              </a:rPr>
              <a:t>Each product is forecast by the method its own sales history can support — and the ones with too little history are flagged rather than guessed at.</a:t>
            </a:r>
            <a:endParaRPr lang="en-US" sz="1350" dirty="0"/>
          </a:p>
        </p:txBody>
      </p:sp>
      <p:sp>
        <p:nvSpPr>
          <p:cNvPr id="7" name="Text 5"/>
          <p:cNvSpPr/>
          <p:nvPr/>
        </p:nvSpPr>
        <p:spPr>
          <a:xfrm>
            <a:off x="822960" y="5806440"/>
            <a:ext cx="5486400" cy="274320"/>
          </a:xfrm>
          <a:prstGeom prst="rect">
            <a:avLst/>
          </a:prstGeom>
          <a:noFill/>
          <a:ln/>
        </p:spPr>
        <p:txBody>
          <a:bodyPr wrap="square" lIns="0" tIns="0" rIns="0" bIns="0" rtlCol="0" anchor="ctr"/>
          <a:lstStyle/>
          <a:p>
            <a:pPr indent="0" marL="0">
              <a:buNone/>
            </a:pPr>
            <a:r>
              <a:rPr lang="en-US" sz="1200" b="1" spc="150" kern="0" dirty="0">
                <a:solidFill>
                  <a:srgbClr val="7E97AE"/>
                </a:solidFill>
                <a:latin typeface="Calibri" pitchFamily="34" charset="0"/>
                <a:ea typeface="Calibri" pitchFamily="34" charset="-122"/>
                <a:cs typeface="Calibri" pitchFamily="34" charset="-120"/>
              </a:rPr>
              <a:t>Stakeholder briefing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STARTING POINT</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Most merchants are not choosing between forecasting tools</a:t>
            </a:r>
            <a:endParaRPr lang="en-US" sz="3000" dirty="0"/>
          </a:p>
        </p:txBody>
      </p:sp>
      <p:sp>
        <p:nvSpPr>
          <p:cNvPr id="4" name="Text 2"/>
          <p:cNvSpPr/>
          <p:nvPr/>
        </p:nvSpPr>
        <p:spPr>
          <a:xfrm>
            <a:off x="640080" y="1481328"/>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They are choosing between guesswork and a spreadsheet. Both are free, and both quietly cost money.</a:t>
            </a:r>
            <a:endParaRPr lang="en-US" sz="1350" dirty="0"/>
          </a:p>
        </p:txBody>
      </p:sp>
      <p:sp>
        <p:nvSpPr>
          <p:cNvPr id="5" name="Shape 3"/>
          <p:cNvSpPr/>
          <p:nvPr/>
        </p:nvSpPr>
        <p:spPr>
          <a:xfrm>
            <a:off x="640080" y="1975104"/>
            <a:ext cx="2834640" cy="1572768"/>
          </a:xfrm>
          <a:prstGeom prst="roundRect">
            <a:avLst>
              <a:gd name="adj" fmla="val 5233"/>
            </a:avLst>
          </a:prstGeom>
          <a:solidFill>
            <a:srgbClr val="EDF3F7"/>
          </a:solidFill>
          <a:ln w="12700">
            <a:solidFill>
              <a:srgbClr val="EDF3F7"/>
            </a:solidFill>
            <a:prstDash val="solid"/>
          </a:ln>
        </p:spPr>
      </p:sp>
      <p:sp>
        <p:nvSpPr>
          <p:cNvPr id="6" name="Text 4"/>
          <p:cNvSpPr/>
          <p:nvPr/>
        </p:nvSpPr>
        <p:spPr>
          <a:xfrm>
            <a:off x="896112" y="2157984"/>
            <a:ext cx="2322576" cy="310896"/>
          </a:xfrm>
          <a:prstGeom prst="rect">
            <a:avLst/>
          </a:prstGeom>
          <a:noFill/>
          <a:ln/>
        </p:spPr>
        <p:txBody>
          <a:bodyPr wrap="square" lIns="0" tIns="0" rIns="0" bIns="0" rtlCol="0" anchor="t"/>
          <a:lstStyle/>
          <a:p>
            <a:pPr indent="0" marL="0">
              <a:buNone/>
            </a:pPr>
            <a:r>
              <a:rPr lang="en-US" sz="1500" b="1" dirty="0">
                <a:solidFill>
                  <a:srgbClr val="065A82"/>
                </a:solidFill>
                <a:latin typeface="Calibri" pitchFamily="34" charset="0"/>
                <a:ea typeface="Calibri" pitchFamily="34" charset="-122"/>
                <a:cs typeface="Calibri" pitchFamily="34" charset="-120"/>
              </a:rPr>
              <a:t>No system at all</a:t>
            </a:r>
            <a:endParaRPr lang="en-US" sz="1500" dirty="0"/>
          </a:p>
        </p:txBody>
      </p:sp>
      <p:sp>
        <p:nvSpPr>
          <p:cNvPr id="7" name="Text 5"/>
          <p:cNvSpPr/>
          <p:nvPr/>
        </p:nvSpPr>
        <p:spPr>
          <a:xfrm>
            <a:off x="896112" y="2505456"/>
            <a:ext cx="2322576" cy="91440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Reorder when a shelf looks empty, or when a customer asks for something you do not have. Nothing looks further ahead than today.</a:t>
            </a:r>
            <a:endParaRPr lang="en-US" sz="1150" dirty="0"/>
          </a:p>
        </p:txBody>
      </p:sp>
      <p:sp>
        <p:nvSpPr>
          <p:cNvPr id="8" name="Shape 6"/>
          <p:cNvSpPr/>
          <p:nvPr/>
        </p:nvSpPr>
        <p:spPr>
          <a:xfrm>
            <a:off x="3749040" y="1975104"/>
            <a:ext cx="2834640" cy="1572768"/>
          </a:xfrm>
          <a:prstGeom prst="roundRect">
            <a:avLst>
              <a:gd name="adj" fmla="val 5233"/>
            </a:avLst>
          </a:prstGeom>
          <a:solidFill>
            <a:srgbClr val="EDF3F7"/>
          </a:solidFill>
          <a:ln w="12700">
            <a:solidFill>
              <a:srgbClr val="EDF3F7"/>
            </a:solidFill>
            <a:prstDash val="solid"/>
          </a:ln>
        </p:spPr>
      </p:sp>
      <p:sp>
        <p:nvSpPr>
          <p:cNvPr id="9" name="Text 7"/>
          <p:cNvSpPr/>
          <p:nvPr/>
        </p:nvSpPr>
        <p:spPr>
          <a:xfrm>
            <a:off x="4005072" y="2157984"/>
            <a:ext cx="2322576" cy="310896"/>
          </a:xfrm>
          <a:prstGeom prst="rect">
            <a:avLst/>
          </a:prstGeom>
          <a:noFill/>
          <a:ln/>
        </p:spPr>
        <p:txBody>
          <a:bodyPr wrap="square" lIns="0" tIns="0" rIns="0" bIns="0" rtlCol="0" anchor="t"/>
          <a:lstStyle/>
          <a:p>
            <a:pPr indent="0" marL="0">
              <a:buNone/>
            </a:pPr>
            <a:r>
              <a:rPr lang="en-US" sz="1500" b="1" dirty="0">
                <a:solidFill>
                  <a:srgbClr val="1C7293"/>
                </a:solidFill>
                <a:latin typeface="Calibri" pitchFamily="34" charset="0"/>
                <a:ea typeface="Calibri" pitchFamily="34" charset="-122"/>
                <a:cs typeface="Calibri" pitchFamily="34" charset="-120"/>
              </a:rPr>
              <a:t>A spreadsheet average</a:t>
            </a:r>
            <a:endParaRPr lang="en-US" sz="1500" dirty="0"/>
          </a:p>
        </p:txBody>
      </p:sp>
      <p:sp>
        <p:nvSpPr>
          <p:cNvPr id="10" name="Text 8"/>
          <p:cNvSpPr/>
          <p:nvPr/>
        </p:nvSpPr>
        <p:spPr>
          <a:xfrm>
            <a:off x="4005072" y="2505456"/>
            <a:ext cx="2322576" cy="91440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The usual first upgrade: average the last few weeks, multiply by the delivery time, order that. One rule for every product.</a:t>
            </a:r>
            <a:endParaRPr lang="en-US" sz="1150" dirty="0"/>
          </a:p>
        </p:txBody>
      </p:sp>
      <p:sp>
        <p:nvSpPr>
          <p:cNvPr id="11" name="Text 9"/>
          <p:cNvSpPr/>
          <p:nvPr/>
        </p:nvSpPr>
        <p:spPr>
          <a:xfrm>
            <a:off x="640080" y="3749040"/>
            <a:ext cx="5943600" cy="292608"/>
          </a:xfrm>
          <a:prstGeom prst="rect">
            <a:avLst/>
          </a:prstGeom>
          <a:noFill/>
          <a:ln/>
        </p:spPr>
        <p:txBody>
          <a:bodyPr wrap="square" lIns="0" tIns="0" rIns="0" bIns="0" rtlCol="0" anchor="ctr"/>
          <a:lstStyle/>
          <a:p>
            <a:pPr indent="0" marL="0">
              <a:buNone/>
            </a:pPr>
            <a:r>
              <a:rPr lang="en-US" sz="1500" b="1" dirty="0">
                <a:solidFill>
                  <a:srgbClr val="17202B"/>
                </a:solidFill>
                <a:latin typeface="Calibri" pitchFamily="34" charset="0"/>
                <a:ea typeface="Calibri" pitchFamily="34" charset="-122"/>
                <a:cs typeface="Calibri" pitchFamily="34" charset="-120"/>
              </a:rPr>
              <a:t>Where the average breaks</a:t>
            </a:r>
            <a:endParaRPr lang="en-US" sz="1500" dirty="0"/>
          </a:p>
        </p:txBody>
      </p:sp>
      <p:sp>
        <p:nvSpPr>
          <p:cNvPr id="12" name="Shape 10"/>
          <p:cNvSpPr/>
          <p:nvPr/>
        </p:nvSpPr>
        <p:spPr>
          <a:xfrm>
            <a:off x="685800" y="4197096"/>
            <a:ext cx="219456" cy="219456"/>
          </a:xfrm>
          <a:prstGeom prst="ellipse">
            <a:avLst/>
          </a:prstGeom>
          <a:solidFill>
            <a:srgbClr val="065A82"/>
          </a:solidFill>
          <a:ln/>
        </p:spPr>
      </p:sp>
      <p:sp>
        <p:nvSpPr>
          <p:cNvPr id="13" name="Text 11"/>
          <p:cNvSpPr/>
          <p:nvPr/>
        </p:nvSpPr>
        <p:spPr>
          <a:xfrm>
            <a:off x="1051560" y="4151376"/>
            <a:ext cx="5394960" cy="256032"/>
          </a:xfrm>
          <a:prstGeom prst="rect">
            <a:avLst/>
          </a:prstGeom>
          <a:noFill/>
          <a:ln/>
        </p:spPr>
        <p:txBody>
          <a:bodyPr wrap="square" lIns="0" tIns="0" rIns="0" bIns="0" rtlCol="0" anchor="t"/>
          <a:lstStyle/>
          <a:p>
            <a:pPr indent="0" marL="0">
              <a:buNone/>
            </a:pPr>
            <a:r>
              <a:rPr lang="en-US" sz="1350" b="1" dirty="0">
                <a:solidFill>
                  <a:srgbClr val="17202B"/>
                </a:solidFill>
                <a:latin typeface="Calibri" pitchFamily="34" charset="0"/>
                <a:ea typeface="Calibri" pitchFamily="34" charset="-122"/>
                <a:cs typeface="Calibri" pitchFamily="34" charset="-120"/>
              </a:rPr>
              <a:t>Products that sell in bursts look dead</a:t>
            </a:r>
            <a:endParaRPr lang="en-US" sz="1350" dirty="0"/>
          </a:p>
        </p:txBody>
      </p:sp>
      <p:sp>
        <p:nvSpPr>
          <p:cNvPr id="14" name="Text 12"/>
          <p:cNvSpPr/>
          <p:nvPr/>
        </p:nvSpPr>
        <p:spPr>
          <a:xfrm>
            <a:off x="1051560" y="4398264"/>
            <a:ext cx="5394960" cy="45720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A few units, then nothing for weeks — that averages out to almost no demand, so the tool stops suggesting stock.</a:t>
            </a:r>
            <a:endParaRPr lang="en-US" sz="1150" dirty="0"/>
          </a:p>
        </p:txBody>
      </p:sp>
      <p:sp>
        <p:nvSpPr>
          <p:cNvPr id="15" name="Shape 13"/>
          <p:cNvSpPr/>
          <p:nvPr/>
        </p:nvSpPr>
        <p:spPr>
          <a:xfrm>
            <a:off x="685800" y="4928616"/>
            <a:ext cx="219456" cy="219456"/>
          </a:xfrm>
          <a:prstGeom prst="ellipse">
            <a:avLst/>
          </a:prstGeom>
          <a:solidFill>
            <a:srgbClr val="1C7293"/>
          </a:solidFill>
          <a:ln/>
        </p:spPr>
      </p:sp>
      <p:sp>
        <p:nvSpPr>
          <p:cNvPr id="16" name="Text 14"/>
          <p:cNvSpPr/>
          <p:nvPr/>
        </p:nvSpPr>
        <p:spPr>
          <a:xfrm>
            <a:off x="1051560" y="4882896"/>
            <a:ext cx="5394960" cy="256032"/>
          </a:xfrm>
          <a:prstGeom prst="rect">
            <a:avLst/>
          </a:prstGeom>
          <a:noFill/>
          <a:ln/>
        </p:spPr>
        <p:txBody>
          <a:bodyPr wrap="square" lIns="0" tIns="0" rIns="0" bIns="0" rtlCol="0" anchor="t"/>
          <a:lstStyle/>
          <a:p>
            <a:pPr indent="0" marL="0">
              <a:buNone/>
            </a:pPr>
            <a:r>
              <a:rPr lang="en-US" sz="1350" b="1" dirty="0">
                <a:solidFill>
                  <a:srgbClr val="17202B"/>
                </a:solidFill>
                <a:latin typeface="Calibri" pitchFamily="34" charset="0"/>
                <a:ea typeface="Calibri" pitchFamily="34" charset="-122"/>
                <a:cs typeface="Calibri" pitchFamily="34" charset="-120"/>
              </a:rPr>
              <a:t>New products have nothing to average</a:t>
            </a:r>
            <a:endParaRPr lang="en-US" sz="1350" dirty="0"/>
          </a:p>
        </p:txBody>
      </p:sp>
      <p:sp>
        <p:nvSpPr>
          <p:cNvPr id="17" name="Text 15"/>
          <p:cNvSpPr/>
          <p:nvPr/>
        </p:nvSpPr>
        <p:spPr>
          <a:xfrm>
            <a:off x="1051560" y="5129784"/>
            <a:ext cx="5394960" cy="45720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Exactly where a wrong call is most expensive, the method has no input at all.</a:t>
            </a:r>
            <a:endParaRPr lang="en-US" sz="1150" dirty="0"/>
          </a:p>
        </p:txBody>
      </p:sp>
      <p:sp>
        <p:nvSpPr>
          <p:cNvPr id="18" name="Shape 16"/>
          <p:cNvSpPr/>
          <p:nvPr/>
        </p:nvSpPr>
        <p:spPr>
          <a:xfrm>
            <a:off x="685800" y="5660136"/>
            <a:ext cx="219456" cy="219456"/>
          </a:xfrm>
          <a:prstGeom prst="ellipse">
            <a:avLst/>
          </a:prstGeom>
          <a:solidFill>
            <a:srgbClr val="065A82"/>
          </a:solidFill>
          <a:ln/>
        </p:spPr>
      </p:sp>
      <p:sp>
        <p:nvSpPr>
          <p:cNvPr id="19" name="Text 17"/>
          <p:cNvSpPr/>
          <p:nvPr/>
        </p:nvSpPr>
        <p:spPr>
          <a:xfrm>
            <a:off x="1051560" y="5614416"/>
            <a:ext cx="5394960" cy="256032"/>
          </a:xfrm>
          <a:prstGeom prst="rect">
            <a:avLst/>
          </a:prstGeom>
          <a:noFill/>
          <a:ln/>
        </p:spPr>
        <p:txBody>
          <a:bodyPr wrap="square" lIns="0" tIns="0" rIns="0" bIns="0" rtlCol="0" anchor="t"/>
          <a:lstStyle/>
          <a:p>
            <a:pPr indent="0" marL="0">
              <a:buNone/>
            </a:pPr>
            <a:r>
              <a:rPr lang="en-US" sz="1350" b="1" dirty="0">
                <a:solidFill>
                  <a:srgbClr val="17202B"/>
                </a:solidFill>
                <a:latin typeface="Calibri" pitchFamily="34" charset="0"/>
                <a:ea typeface="Calibri" pitchFamily="34" charset="-122"/>
                <a:cs typeface="Calibri" pitchFamily="34" charset="-120"/>
              </a:rPr>
              <a:t>Every number looks equally certain</a:t>
            </a:r>
            <a:endParaRPr lang="en-US" sz="1350" dirty="0"/>
          </a:p>
        </p:txBody>
      </p:sp>
      <p:sp>
        <p:nvSpPr>
          <p:cNvPr id="20" name="Text 18"/>
          <p:cNvSpPr/>
          <p:nvPr/>
        </p:nvSpPr>
        <p:spPr>
          <a:xfrm>
            <a:off x="1051560" y="5861304"/>
            <a:ext cx="5394960" cy="45720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Two years of history and two weeks of history produce answers that read the same on the page.</a:t>
            </a:r>
            <a:endParaRPr lang="en-US" sz="1150" dirty="0"/>
          </a:p>
        </p:txBody>
      </p:sp>
      <p:sp>
        <p:nvSpPr>
          <p:cNvPr id="21" name="Shape 19"/>
          <p:cNvSpPr/>
          <p:nvPr/>
        </p:nvSpPr>
        <p:spPr>
          <a:xfrm>
            <a:off x="6858000" y="1975104"/>
            <a:ext cx="4690872" cy="3986784"/>
          </a:xfrm>
          <a:prstGeom prst="roundRect">
            <a:avLst>
              <a:gd name="adj" fmla="val 2064"/>
            </a:avLst>
          </a:prstGeom>
          <a:solidFill>
            <a:srgbClr val="EDF3F7"/>
          </a:solidFill>
          <a:ln w="12700">
            <a:solidFill>
              <a:srgbClr val="EDF3F7"/>
            </a:solidFill>
            <a:prstDash val="solid"/>
          </a:ln>
        </p:spPr>
      </p:sp>
      <p:sp>
        <p:nvSpPr>
          <p:cNvPr id="22" name="Text 20"/>
          <p:cNvSpPr/>
          <p:nvPr/>
        </p:nvSpPr>
        <p:spPr>
          <a:xfrm>
            <a:off x="7178040" y="2231136"/>
            <a:ext cx="4069080" cy="310896"/>
          </a:xfrm>
          <a:prstGeom prst="rect">
            <a:avLst/>
          </a:prstGeom>
          <a:noFill/>
          <a:ln/>
        </p:spPr>
        <p:txBody>
          <a:bodyPr wrap="square" lIns="0" tIns="0" rIns="0" bIns="0" rtlCol="0" anchor="ctr"/>
          <a:lstStyle/>
          <a:p>
            <a:pPr indent="0" marL="0">
              <a:buNone/>
            </a:pPr>
            <a:r>
              <a:rPr lang="en-US" sz="1300" b="1" spc="120" kern="0" dirty="0">
                <a:solidFill>
                  <a:srgbClr val="1C7293"/>
                </a:solidFill>
                <a:latin typeface="Calibri" pitchFamily="34" charset="0"/>
                <a:ea typeface="Calibri" pitchFamily="34" charset="-122"/>
                <a:cs typeface="Calibri" pitchFamily="34" charset="-120"/>
              </a:rPr>
              <a:t>What that costs you</a:t>
            </a:r>
            <a:endParaRPr lang="en-US" sz="1300" dirty="0"/>
          </a:p>
        </p:txBody>
      </p:sp>
      <p:sp>
        <p:nvSpPr>
          <p:cNvPr id="23" name="Text 21"/>
          <p:cNvSpPr/>
          <p:nvPr/>
        </p:nvSpPr>
        <p:spPr>
          <a:xfrm>
            <a:off x="7178040" y="2670048"/>
            <a:ext cx="4069080" cy="1234440"/>
          </a:xfrm>
          <a:prstGeom prst="rect">
            <a:avLst/>
          </a:prstGeom>
          <a:noFill/>
          <a:ln/>
        </p:spPr>
        <p:txBody>
          <a:bodyPr wrap="square" lIns="0" tIns="0" rIns="0" bIns="0" rtlCol="0" anchor="t"/>
          <a:lstStyle/>
          <a:p>
            <a:pPr indent="0" marL="0">
              <a:lnSpc>
                <a:spcPts val="1800"/>
              </a:lnSpc>
              <a:buNone/>
            </a:pPr>
            <a:r>
              <a:rPr lang="en-US" sz="1450" b="1" dirty="0">
                <a:solidFill>
                  <a:srgbClr val="17202B"/>
                </a:solidFill>
                <a:latin typeface="Calibri" pitchFamily="34" charset="0"/>
                <a:ea typeface="Calibri" pitchFamily="34" charset="-122"/>
                <a:cs typeface="Calibri" pitchFamily="34" charset="-120"/>
              </a:rPr>
              <a:t>Stockouts on your winners</a:t>
            </a:r>
            <a:endParaRPr lang="en-US" sz="1450" dirty="0"/>
          </a:p>
          <a:p>
            <a:pPr indent="0" marL="0">
              <a:lnSpc>
                <a:spcPts val="1800"/>
              </a:lnSpc>
              <a:buNone/>
            </a:pPr>
            <a:r>
              <a:rPr lang="en-US" sz="1250" dirty="0">
                <a:solidFill>
                  <a:srgbClr val="5A6A78"/>
                </a:solidFill>
                <a:latin typeface="Calibri" pitchFamily="34" charset="0"/>
                <a:ea typeface="Calibri" pitchFamily="34" charset="-122"/>
                <a:cs typeface="Calibri" pitchFamily="34" charset="-120"/>
              </a:rPr>
              <a:t>The products that deserved more inventory ran dry, because nothing flagged the reorder point while there was still time to act.</a:t>
            </a:r>
            <a:endParaRPr lang="en-US" sz="1450" dirty="0"/>
          </a:p>
        </p:txBody>
      </p:sp>
      <p:sp>
        <p:nvSpPr>
          <p:cNvPr id="24" name="Text 22"/>
          <p:cNvSpPr/>
          <p:nvPr/>
        </p:nvSpPr>
        <p:spPr>
          <a:xfrm>
            <a:off x="7178040" y="3950208"/>
            <a:ext cx="4069080" cy="1234440"/>
          </a:xfrm>
          <a:prstGeom prst="rect">
            <a:avLst/>
          </a:prstGeom>
          <a:noFill/>
          <a:ln/>
        </p:spPr>
        <p:txBody>
          <a:bodyPr wrap="square" lIns="0" tIns="0" rIns="0" bIns="0" rtlCol="0" anchor="t"/>
          <a:lstStyle/>
          <a:p>
            <a:pPr indent="0" marL="0">
              <a:lnSpc>
                <a:spcPts val="1800"/>
              </a:lnSpc>
              <a:buNone/>
            </a:pPr>
            <a:r>
              <a:rPr lang="en-US" sz="1450" b="1" dirty="0">
                <a:solidFill>
                  <a:srgbClr val="17202B"/>
                </a:solidFill>
                <a:latin typeface="Calibri" pitchFamily="34" charset="0"/>
                <a:ea typeface="Calibri" pitchFamily="34" charset="-122"/>
                <a:cs typeface="Calibri" pitchFamily="34" charset="-120"/>
              </a:rPr>
              <a:t>Cash frozen in your losers</a:t>
            </a:r>
            <a:endParaRPr lang="en-US" sz="1450" dirty="0"/>
          </a:p>
          <a:p>
            <a:pPr indent="0" marL="0">
              <a:lnSpc>
                <a:spcPts val="1800"/>
              </a:lnSpc>
              <a:buNone/>
            </a:pPr>
            <a:r>
              <a:rPr lang="en-US" sz="1250" dirty="0">
                <a:solidFill>
                  <a:srgbClr val="5A6A78"/>
                </a:solidFill>
                <a:latin typeface="Calibri" pitchFamily="34" charset="0"/>
                <a:ea typeface="Calibri" pitchFamily="34" charset="-122"/>
                <a:cs typeface="Calibri" pitchFamily="34" charset="-120"/>
              </a:rPr>
              <a:t>Slow movers were over-ordered, so working capital sits in stock that will take months to clear, if it clears at all.</a:t>
            </a:r>
            <a:endParaRPr lang="en-US" sz="1450" dirty="0"/>
          </a:p>
        </p:txBody>
      </p:sp>
      <p:sp>
        <p:nvSpPr>
          <p:cNvPr id="25" name="Text 23"/>
          <p:cNvSpPr/>
          <p:nvPr/>
        </p:nvSpPr>
        <p:spPr>
          <a:xfrm>
            <a:off x="7178040" y="5175504"/>
            <a:ext cx="4069080" cy="594360"/>
          </a:xfrm>
          <a:prstGeom prst="rect">
            <a:avLst/>
          </a:prstGeom>
          <a:noFill/>
          <a:ln/>
        </p:spPr>
        <p:txBody>
          <a:bodyPr wrap="square" lIns="0" tIns="0" rIns="0" bIns="0" rtlCol="0" anchor="t"/>
          <a:lstStyle/>
          <a:p>
            <a:pPr indent="0" marL="0">
              <a:lnSpc>
                <a:spcPts val="1700"/>
              </a:lnSpc>
              <a:buNone/>
            </a:pPr>
            <a:r>
              <a:rPr lang="en-US" sz="1250" b="1" i="1" dirty="0">
                <a:solidFill>
                  <a:srgbClr val="065A82"/>
                </a:solidFill>
                <a:latin typeface="Calibri" pitchFamily="34" charset="0"/>
                <a:ea typeface="Calibri" pitchFamily="34" charset="-122"/>
                <a:cs typeface="Calibri" pitchFamily="34" charset="-120"/>
              </a:rPr>
              <a:t>Opposite symptoms, one shared cause: nothing is looking ahead, product by product.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VALUE AT STAKE</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2900" b="1" dirty="0">
                <a:solidFill>
                  <a:srgbClr val="21295C"/>
                </a:solidFill>
                <a:latin typeface="Cambria" pitchFamily="34" charset="0"/>
                <a:ea typeface="Cambria" pitchFamily="34" charset="-122"/>
                <a:cs typeface="Cambria" pitchFamily="34" charset="-120"/>
              </a:rPr>
              <a:t>The biggest cause of stockouts is the one you can fix</a:t>
            </a:r>
            <a:endParaRPr lang="en-US" sz="2900" dirty="0"/>
          </a:p>
        </p:txBody>
      </p:sp>
      <p:sp>
        <p:nvSpPr>
          <p:cNvPr id="4" name="Text 2"/>
          <p:cNvSpPr/>
          <p:nvPr/>
        </p:nvSpPr>
        <p:spPr>
          <a:xfrm>
            <a:off x="640080" y="1444752"/>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Nearly half of all stockouts come from ordering and forecasting decisions — not suppliers, not the warehouse. That is the exact call LogiTrack makes for you.</a:t>
            </a:r>
            <a:endParaRPr lang="en-US" sz="1350" dirty="0"/>
          </a:p>
        </p:txBody>
      </p:sp>
      <p:sp>
        <p:nvSpPr>
          <p:cNvPr id="5" name="Shape 3"/>
          <p:cNvSpPr/>
          <p:nvPr/>
        </p:nvSpPr>
        <p:spPr>
          <a:xfrm>
            <a:off x="640080" y="1938528"/>
            <a:ext cx="3886200" cy="2523744"/>
          </a:xfrm>
          <a:prstGeom prst="roundRect">
            <a:avLst>
              <a:gd name="adj" fmla="val 3261"/>
            </a:avLst>
          </a:prstGeom>
          <a:solidFill>
            <a:srgbClr val="21295C"/>
          </a:solidFill>
          <a:ln w="12700">
            <a:solidFill>
              <a:srgbClr val="21295C"/>
            </a:solidFill>
            <a:prstDash val="solid"/>
          </a:ln>
        </p:spPr>
      </p:sp>
      <p:sp>
        <p:nvSpPr>
          <p:cNvPr id="6" name="Text 4"/>
          <p:cNvSpPr/>
          <p:nvPr/>
        </p:nvSpPr>
        <p:spPr>
          <a:xfrm>
            <a:off x="731520" y="2231136"/>
            <a:ext cx="3703320" cy="822960"/>
          </a:xfrm>
          <a:prstGeom prst="rect">
            <a:avLst/>
          </a:prstGeom>
          <a:noFill/>
          <a:ln/>
        </p:spPr>
        <p:txBody>
          <a:bodyPr wrap="square" lIns="0" tIns="0" rIns="0" bIns="0" rtlCol="0" anchor="ctr"/>
          <a:lstStyle/>
          <a:p>
            <a:pPr algn="ctr" indent="0" marL="0">
              <a:buNone/>
            </a:pPr>
            <a:r>
              <a:rPr lang="en-US" sz="4400" b="1" dirty="0">
                <a:solidFill>
                  <a:srgbClr val="E0B071"/>
                </a:solidFill>
                <a:latin typeface="Cambria" pitchFamily="34" charset="0"/>
                <a:ea typeface="Cambria" pitchFamily="34" charset="-122"/>
                <a:cs typeface="Cambria" pitchFamily="34" charset="-120"/>
              </a:rPr>
              <a:t>$40,000</a:t>
            </a:r>
            <a:endParaRPr lang="en-US" sz="4400" dirty="0"/>
          </a:p>
        </p:txBody>
      </p:sp>
      <p:sp>
        <p:nvSpPr>
          <p:cNvPr id="7" name="Text 5"/>
          <p:cNvSpPr/>
          <p:nvPr/>
        </p:nvSpPr>
        <p:spPr>
          <a:xfrm>
            <a:off x="777240" y="3072384"/>
            <a:ext cx="3611880" cy="2743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per year, for every $1M of revenue</a:t>
            </a:r>
            <a:endParaRPr lang="en-US" sz="1250" dirty="0"/>
          </a:p>
        </p:txBody>
      </p:sp>
      <p:sp>
        <p:nvSpPr>
          <p:cNvPr id="8" name="Text 6"/>
          <p:cNvSpPr/>
          <p:nvPr/>
        </p:nvSpPr>
        <p:spPr>
          <a:xfrm>
            <a:off x="777240" y="3364992"/>
            <a:ext cx="3611880" cy="256032"/>
          </a:xfrm>
          <a:prstGeom prst="rect">
            <a:avLst/>
          </a:prstGeom>
          <a:noFill/>
          <a:ln/>
        </p:spPr>
        <p:txBody>
          <a:bodyPr wrap="square" lIns="0" tIns="0" rIns="0" bIns="0" rtlCol="0" anchor="ctr"/>
          <a:lstStyle/>
          <a:p>
            <a:pPr algn="ctr" indent="0" marL="0">
              <a:buNone/>
            </a:pPr>
            <a:r>
              <a:rPr lang="en-US" sz="1250" dirty="0">
                <a:solidFill>
                  <a:srgbClr val="CFDDE9"/>
                </a:solidFill>
                <a:latin typeface="Calibri" pitchFamily="34" charset="0"/>
                <a:ea typeface="Calibri" pitchFamily="34" charset="-122"/>
                <a:cs typeface="Calibri" pitchFamily="34" charset="-120"/>
              </a:rPr>
              <a:t>lost to stockouts  (≈ 4% of sales)</a:t>
            </a:r>
            <a:endParaRPr lang="en-US" sz="1250" dirty="0"/>
          </a:p>
        </p:txBody>
      </p:sp>
      <p:sp>
        <p:nvSpPr>
          <p:cNvPr id="9" name="Text 7"/>
          <p:cNvSpPr/>
          <p:nvPr/>
        </p:nvSpPr>
        <p:spPr>
          <a:xfrm>
            <a:off x="4709160" y="1965960"/>
            <a:ext cx="6839712" cy="256032"/>
          </a:xfrm>
          <a:prstGeom prst="rect">
            <a:avLst/>
          </a:prstGeom>
          <a:noFill/>
          <a:ln/>
        </p:spPr>
        <p:txBody>
          <a:bodyPr wrap="square" lIns="0" tIns="0" rIns="0" bIns="0" rtlCol="0" anchor="ctr"/>
          <a:lstStyle/>
          <a:p>
            <a:pPr indent="0" marL="0">
              <a:buNone/>
            </a:pPr>
            <a:r>
              <a:rPr lang="en-US" sz="1150" b="1" spc="140" kern="0" dirty="0">
                <a:solidFill>
                  <a:srgbClr val="1C7293"/>
                </a:solidFill>
                <a:latin typeface="Calibri" pitchFamily="34" charset="0"/>
                <a:ea typeface="Calibri" pitchFamily="34" charset="-122"/>
                <a:cs typeface="Calibri" pitchFamily="34" charset="-120"/>
              </a:rPr>
              <a:t>WHAT ACTUALLY CAUSES THOSE STOCKOUTS</a:t>
            </a:r>
            <a:endParaRPr lang="en-US" sz="1150" dirty="0"/>
          </a:p>
        </p:txBody>
      </p:sp>
      <p:sp>
        <p:nvSpPr>
          <p:cNvPr id="10" name="Shape 8"/>
          <p:cNvSpPr/>
          <p:nvPr/>
        </p:nvSpPr>
        <p:spPr>
          <a:xfrm>
            <a:off x="4709160" y="2267712"/>
            <a:ext cx="3214665" cy="457200"/>
          </a:xfrm>
          <a:prstGeom prst="rect">
            <a:avLst/>
          </a:prstGeom>
          <a:solidFill>
            <a:srgbClr val="065A82"/>
          </a:solidFill>
          <a:ln w="19050">
            <a:solidFill>
              <a:srgbClr val="FFFFFF"/>
            </a:solidFill>
            <a:prstDash val="solid"/>
          </a:ln>
        </p:spPr>
      </p:sp>
      <p:sp>
        <p:nvSpPr>
          <p:cNvPr id="11" name="Text 9"/>
          <p:cNvSpPr/>
          <p:nvPr/>
        </p:nvSpPr>
        <p:spPr>
          <a:xfrm>
            <a:off x="4709160" y="2267712"/>
            <a:ext cx="3214665"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47%</a:t>
            </a:r>
            <a:endParaRPr lang="en-US" sz="1400" dirty="0"/>
          </a:p>
        </p:txBody>
      </p:sp>
      <p:sp>
        <p:nvSpPr>
          <p:cNvPr id="12" name="Shape 10"/>
          <p:cNvSpPr/>
          <p:nvPr/>
        </p:nvSpPr>
        <p:spPr>
          <a:xfrm>
            <a:off x="7923825" y="2267712"/>
            <a:ext cx="1915119" cy="457200"/>
          </a:xfrm>
          <a:prstGeom prst="rect">
            <a:avLst/>
          </a:prstGeom>
          <a:solidFill>
            <a:srgbClr val="6B7A88"/>
          </a:solidFill>
          <a:ln w="19050">
            <a:solidFill>
              <a:srgbClr val="FFFFFF"/>
            </a:solidFill>
            <a:prstDash val="solid"/>
          </a:ln>
        </p:spPr>
      </p:sp>
      <p:sp>
        <p:nvSpPr>
          <p:cNvPr id="13" name="Text 11"/>
          <p:cNvSpPr/>
          <p:nvPr/>
        </p:nvSpPr>
        <p:spPr>
          <a:xfrm>
            <a:off x="7923825" y="2267712"/>
            <a:ext cx="1915119"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28%</a:t>
            </a:r>
            <a:endParaRPr lang="en-US" sz="1400" dirty="0"/>
          </a:p>
        </p:txBody>
      </p:sp>
      <p:sp>
        <p:nvSpPr>
          <p:cNvPr id="14" name="Shape 12"/>
          <p:cNvSpPr/>
          <p:nvPr/>
        </p:nvSpPr>
        <p:spPr>
          <a:xfrm>
            <a:off x="9838944" y="2267712"/>
            <a:ext cx="1709928" cy="457200"/>
          </a:xfrm>
          <a:prstGeom prst="rect">
            <a:avLst/>
          </a:prstGeom>
          <a:solidFill>
            <a:srgbClr val="9AA8B5"/>
          </a:solidFill>
          <a:ln w="19050">
            <a:solidFill>
              <a:srgbClr val="FFFFFF"/>
            </a:solidFill>
            <a:prstDash val="solid"/>
          </a:ln>
        </p:spPr>
      </p:sp>
      <p:sp>
        <p:nvSpPr>
          <p:cNvPr id="15" name="Text 13"/>
          <p:cNvSpPr/>
          <p:nvPr/>
        </p:nvSpPr>
        <p:spPr>
          <a:xfrm>
            <a:off x="9838944" y="2267712"/>
            <a:ext cx="1709928"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a:t>
            </a:r>
            <a:endParaRPr lang="en-US" sz="1400" dirty="0"/>
          </a:p>
        </p:txBody>
      </p:sp>
      <p:sp>
        <p:nvSpPr>
          <p:cNvPr id="16" name="Shape 14"/>
          <p:cNvSpPr/>
          <p:nvPr/>
        </p:nvSpPr>
        <p:spPr>
          <a:xfrm>
            <a:off x="4709160" y="2980944"/>
            <a:ext cx="182880" cy="182880"/>
          </a:xfrm>
          <a:prstGeom prst="ellipse">
            <a:avLst/>
          </a:prstGeom>
          <a:solidFill>
            <a:srgbClr val="065A82"/>
          </a:solidFill>
          <a:ln/>
        </p:spPr>
      </p:sp>
      <p:sp>
        <p:nvSpPr>
          <p:cNvPr id="17" name="Text 15"/>
          <p:cNvSpPr/>
          <p:nvPr/>
        </p:nvSpPr>
        <p:spPr>
          <a:xfrm>
            <a:off x="5020056" y="2944368"/>
            <a:ext cx="6528816" cy="274320"/>
          </a:xfrm>
          <a:prstGeom prst="rect">
            <a:avLst/>
          </a:prstGeom>
          <a:noFill/>
          <a:ln/>
        </p:spPr>
        <p:txBody>
          <a:bodyPr wrap="square" lIns="0" tIns="0" rIns="0" bIns="0" rtlCol="0" anchor="t"/>
          <a:lstStyle/>
          <a:p>
            <a:pPr indent="0" marL="0">
              <a:buNone/>
            </a:pPr>
            <a:r>
              <a:rPr lang="en-US" sz="1300" b="1" dirty="0">
                <a:solidFill>
                  <a:srgbClr val="17202B"/>
                </a:solidFill>
                <a:latin typeface="Calibri" pitchFamily="34" charset="0"/>
                <a:ea typeface="Calibri" pitchFamily="34" charset="-122"/>
                <a:cs typeface="Calibri" pitchFamily="34" charset="-120"/>
              </a:rPr>
              <a:t>47%   </a:t>
            </a:r>
            <a:pPr indent="0" marL="0">
              <a:buNone/>
            </a:pPr>
            <a:r>
              <a:rPr lang="en-US" sz="1300" dirty="0">
                <a:solidFill>
                  <a:srgbClr val="5A6A78"/>
                </a:solidFill>
                <a:latin typeface="Calibri" pitchFamily="34" charset="0"/>
                <a:ea typeface="Calibri" pitchFamily="34" charset="-122"/>
                <a:cs typeface="Calibri" pitchFamily="34" charset="-120"/>
              </a:rPr>
              <a:t>Store ordering &amp; forecasting</a:t>
            </a:r>
            <a:pPr indent="0" marL="0">
              <a:buNone/>
            </a:pPr>
            <a:r>
              <a:rPr lang="en-US" sz="1300" b="1" dirty="0">
                <a:solidFill>
                  <a:srgbClr val="1C7293"/>
                </a:solidFill>
                <a:latin typeface="Calibri" pitchFamily="34" charset="0"/>
                <a:ea typeface="Calibri" pitchFamily="34" charset="-122"/>
                <a:cs typeface="Calibri" pitchFamily="34" charset="-120"/>
              </a:rPr>
              <a:t>   ◄ what LogiTrack automates</a:t>
            </a:r>
            <a:endParaRPr lang="en-US" sz="1300" dirty="0"/>
          </a:p>
        </p:txBody>
      </p:sp>
      <p:sp>
        <p:nvSpPr>
          <p:cNvPr id="18" name="Shape 16"/>
          <p:cNvSpPr/>
          <p:nvPr/>
        </p:nvSpPr>
        <p:spPr>
          <a:xfrm>
            <a:off x="4709160" y="3374136"/>
            <a:ext cx="182880" cy="182880"/>
          </a:xfrm>
          <a:prstGeom prst="ellipse">
            <a:avLst/>
          </a:prstGeom>
          <a:solidFill>
            <a:srgbClr val="6B7A88"/>
          </a:solidFill>
          <a:ln/>
        </p:spPr>
      </p:sp>
      <p:sp>
        <p:nvSpPr>
          <p:cNvPr id="19" name="Text 17"/>
          <p:cNvSpPr/>
          <p:nvPr/>
        </p:nvSpPr>
        <p:spPr>
          <a:xfrm>
            <a:off x="5020056" y="3337560"/>
            <a:ext cx="6528816" cy="274320"/>
          </a:xfrm>
          <a:prstGeom prst="rect">
            <a:avLst/>
          </a:prstGeom>
          <a:noFill/>
          <a:ln/>
        </p:spPr>
        <p:txBody>
          <a:bodyPr wrap="square" lIns="0" tIns="0" rIns="0" bIns="0" rtlCol="0" anchor="t"/>
          <a:lstStyle/>
          <a:p>
            <a:pPr indent="0" marL="0">
              <a:buNone/>
            </a:pPr>
            <a:r>
              <a:rPr lang="en-US" sz="1300" b="1" dirty="0">
                <a:solidFill>
                  <a:srgbClr val="17202B"/>
                </a:solidFill>
                <a:latin typeface="Calibri" pitchFamily="34" charset="0"/>
                <a:ea typeface="Calibri" pitchFamily="34" charset="-122"/>
                <a:cs typeface="Calibri" pitchFamily="34" charset="-120"/>
              </a:rPr>
              <a:t>28%   </a:t>
            </a:r>
            <a:pPr indent="0" marL="0">
              <a:buNone/>
            </a:pPr>
            <a:r>
              <a:rPr lang="en-US" sz="1300" dirty="0">
                <a:solidFill>
                  <a:srgbClr val="5A6A78"/>
                </a:solidFill>
                <a:latin typeface="Calibri" pitchFamily="34" charset="0"/>
                <a:ea typeface="Calibri" pitchFamily="34" charset="-122"/>
                <a:cs typeface="Calibri" pitchFamily="34" charset="-120"/>
              </a:rPr>
              <a:t>Upstream supply &amp; distribution</a:t>
            </a:r>
            <a:pPr indent="0" marL="0">
              <a:buNone/>
            </a:pPr>
            <a:endParaRPr lang="en-US" sz="1300" dirty="0"/>
          </a:p>
        </p:txBody>
      </p:sp>
      <p:sp>
        <p:nvSpPr>
          <p:cNvPr id="20" name="Shape 18"/>
          <p:cNvSpPr/>
          <p:nvPr/>
        </p:nvSpPr>
        <p:spPr>
          <a:xfrm>
            <a:off x="4709160" y="3767328"/>
            <a:ext cx="182880" cy="182880"/>
          </a:xfrm>
          <a:prstGeom prst="ellipse">
            <a:avLst/>
          </a:prstGeom>
          <a:solidFill>
            <a:srgbClr val="9AA8B5"/>
          </a:solidFill>
          <a:ln/>
        </p:spPr>
      </p:sp>
      <p:sp>
        <p:nvSpPr>
          <p:cNvPr id="21" name="Text 19"/>
          <p:cNvSpPr/>
          <p:nvPr/>
        </p:nvSpPr>
        <p:spPr>
          <a:xfrm>
            <a:off x="5020056" y="3730752"/>
            <a:ext cx="6528816" cy="274320"/>
          </a:xfrm>
          <a:prstGeom prst="rect">
            <a:avLst/>
          </a:prstGeom>
          <a:noFill/>
          <a:ln/>
        </p:spPr>
        <p:txBody>
          <a:bodyPr wrap="square" lIns="0" tIns="0" rIns="0" bIns="0" rtlCol="0" anchor="t"/>
          <a:lstStyle/>
          <a:p>
            <a:pPr indent="0" marL="0">
              <a:buNone/>
            </a:pPr>
            <a:r>
              <a:rPr lang="en-US" sz="1300" b="1" dirty="0">
                <a:solidFill>
                  <a:srgbClr val="17202B"/>
                </a:solidFill>
                <a:latin typeface="Calibri" pitchFamily="34" charset="0"/>
                <a:ea typeface="Calibri" pitchFamily="34" charset="-122"/>
                <a:cs typeface="Calibri" pitchFamily="34" charset="-120"/>
              </a:rPr>
              <a:t>25%   </a:t>
            </a:r>
            <a:pPr indent="0" marL="0">
              <a:buNone/>
            </a:pPr>
            <a:r>
              <a:rPr lang="en-US" sz="1300" dirty="0">
                <a:solidFill>
                  <a:srgbClr val="5A6A78"/>
                </a:solidFill>
                <a:latin typeface="Calibri" pitchFamily="34" charset="0"/>
                <a:ea typeface="Calibri" pitchFamily="34" charset="-122"/>
                <a:cs typeface="Calibri" pitchFamily="34" charset="-120"/>
              </a:rPr>
              <a:t>On shelf, not restocked by staff</a:t>
            </a:r>
            <a:pPr indent="0" marL="0">
              <a:buNone/>
            </a:pPr>
            <a:endParaRPr lang="en-US" sz="1300" dirty="0"/>
          </a:p>
        </p:txBody>
      </p:sp>
      <p:sp>
        <p:nvSpPr>
          <p:cNvPr id="22" name="Shape 20"/>
          <p:cNvSpPr/>
          <p:nvPr/>
        </p:nvSpPr>
        <p:spPr>
          <a:xfrm>
            <a:off x="4709160" y="4169664"/>
            <a:ext cx="6839712" cy="438912"/>
          </a:xfrm>
          <a:prstGeom prst="roundRect">
            <a:avLst>
              <a:gd name="adj" fmla="val 18750"/>
            </a:avLst>
          </a:prstGeom>
          <a:solidFill>
            <a:srgbClr val="EDF3F7"/>
          </a:solidFill>
          <a:ln w="12700">
            <a:solidFill>
              <a:srgbClr val="EDF3F7"/>
            </a:solidFill>
            <a:prstDash val="solid"/>
          </a:ln>
        </p:spPr>
      </p:sp>
      <p:sp>
        <p:nvSpPr>
          <p:cNvPr id="23" name="Text 21"/>
          <p:cNvSpPr/>
          <p:nvPr/>
        </p:nvSpPr>
        <p:spPr>
          <a:xfrm>
            <a:off x="4937760" y="4169664"/>
            <a:ext cx="6382512" cy="438912"/>
          </a:xfrm>
          <a:prstGeom prst="rect">
            <a:avLst/>
          </a:prstGeom>
          <a:noFill/>
          <a:ln/>
        </p:spPr>
        <p:txBody>
          <a:bodyPr wrap="square" lIns="0" tIns="0" rIns="0" bIns="0" rtlCol="0" anchor="ctr"/>
          <a:lstStyle/>
          <a:p>
            <a:pPr indent="0" marL="0">
              <a:buNone/>
            </a:pPr>
            <a:r>
              <a:rPr lang="en-US" sz="1250" b="1" dirty="0">
                <a:solidFill>
                  <a:srgbClr val="065A82"/>
                </a:solidFill>
                <a:latin typeface="Calibri" pitchFamily="34" charset="0"/>
                <a:ea typeface="Calibri" pitchFamily="34" charset="-122"/>
                <a:cs typeface="Calibri" pitchFamily="34" charset="-120"/>
              </a:rPr>
              <a:t>That 47% ≈ $19K of the $40K</a:t>
            </a:r>
            <a:pPr indent="0" marL="0">
              <a:buNone/>
            </a:pPr>
            <a:r>
              <a:rPr lang="en-US" sz="1250" dirty="0">
                <a:solidFill>
                  <a:srgbClr val="17202B"/>
                </a:solidFill>
                <a:latin typeface="Calibri" pitchFamily="34" charset="0"/>
                <a:ea typeface="Calibri" pitchFamily="34" charset="-122"/>
                <a:cs typeface="Calibri" pitchFamily="34" charset="-120"/>
              </a:rPr>
              <a:t>  — the exact decision LogiTrack automates.</a:t>
            </a:r>
            <a:endParaRPr lang="en-US" sz="1250" dirty="0"/>
          </a:p>
        </p:txBody>
      </p:sp>
      <p:sp>
        <p:nvSpPr>
          <p:cNvPr id="24" name="Shape 22"/>
          <p:cNvSpPr/>
          <p:nvPr/>
        </p:nvSpPr>
        <p:spPr>
          <a:xfrm>
            <a:off x="640080" y="4791456"/>
            <a:ext cx="10908792" cy="950976"/>
          </a:xfrm>
          <a:prstGeom prst="roundRect">
            <a:avLst>
              <a:gd name="adj" fmla="val 8654"/>
            </a:avLst>
          </a:prstGeom>
          <a:solidFill>
            <a:srgbClr val="EDF3F7"/>
          </a:solidFill>
          <a:ln w="12700">
            <a:solidFill>
              <a:srgbClr val="EDF3F7"/>
            </a:solidFill>
            <a:prstDash val="solid"/>
          </a:ln>
        </p:spPr>
      </p:sp>
      <p:sp>
        <p:nvSpPr>
          <p:cNvPr id="25" name="Text 23"/>
          <p:cNvSpPr/>
          <p:nvPr/>
        </p:nvSpPr>
        <p:spPr>
          <a:xfrm>
            <a:off x="960120" y="4910328"/>
            <a:ext cx="7315200" cy="274320"/>
          </a:xfrm>
          <a:prstGeom prst="rect">
            <a:avLst/>
          </a:prstGeom>
          <a:noFill/>
          <a:ln/>
        </p:spPr>
        <p:txBody>
          <a:bodyPr wrap="square" lIns="0" tIns="0" rIns="0" bIns="0" rtlCol="0" anchor="ctr"/>
          <a:lstStyle/>
          <a:p>
            <a:pPr indent="0" marL="0">
              <a:buNone/>
            </a:pPr>
            <a:r>
              <a:rPr lang="en-US" sz="1250" b="1" spc="110" kern="0" dirty="0">
                <a:solidFill>
                  <a:srgbClr val="1C7293"/>
                </a:solidFill>
                <a:latin typeface="Calibri" pitchFamily="34" charset="0"/>
                <a:ea typeface="Calibri" pitchFamily="34" charset="-122"/>
                <a:cs typeface="Calibri" pitchFamily="34" charset="-120"/>
              </a:rPr>
              <a:t>Over-buying — the opposite mistake</a:t>
            </a:r>
            <a:endParaRPr lang="en-US" sz="1250" dirty="0"/>
          </a:p>
        </p:txBody>
      </p:sp>
      <p:sp>
        <p:nvSpPr>
          <p:cNvPr id="26" name="Text 24"/>
          <p:cNvSpPr/>
          <p:nvPr/>
        </p:nvSpPr>
        <p:spPr>
          <a:xfrm>
            <a:off x="960120" y="5184648"/>
            <a:ext cx="10241280" cy="512064"/>
          </a:xfrm>
          <a:prstGeom prst="rect">
            <a:avLst/>
          </a:prstGeom>
          <a:noFill/>
          <a:ln/>
        </p:spPr>
        <p:txBody>
          <a:bodyPr wrap="square" lIns="0" tIns="0" rIns="0" bIns="0" rtlCol="0" anchor="t"/>
          <a:lstStyle/>
          <a:p>
            <a:pPr indent="0" marL="0">
              <a:lnSpc>
                <a:spcPts val="1500"/>
              </a:lnSpc>
              <a:buNone/>
            </a:pPr>
            <a:r>
              <a:rPr lang="en-US" sz="1200" b="1" dirty="0">
                <a:solidFill>
                  <a:srgbClr val="17202B"/>
                </a:solidFill>
                <a:latin typeface="Calibri" pitchFamily="34" charset="0"/>
                <a:ea typeface="Calibri" pitchFamily="34" charset="-122"/>
                <a:cs typeface="Calibri" pitchFamily="34" charset="-120"/>
              </a:rPr>
              <a:t>About 30% of all retail markdowns are caused by overbuying</a:t>
            </a:r>
            <a:pPr indent="0" marL="0">
              <a:lnSpc>
                <a:spcPts val="1500"/>
              </a:lnSpc>
              <a:buNone/>
            </a:pPr>
            <a:r>
              <a:rPr lang="en-US" sz="1200" dirty="0">
                <a:solidFill>
                  <a:srgbClr val="5A6A78"/>
                </a:solidFill>
                <a:latin typeface="Calibri" pitchFamily="34" charset="0"/>
                <a:ea typeface="Calibri" pitchFamily="34" charset="-122"/>
                <a:cs typeface="Calibri" pitchFamily="34" charset="-120"/>
              </a:rPr>
              <a:t> — the demand-planning error LogiTrack helps prevent by right-sizing every order and flagging slow stock before it needs a discount. </a:t>
            </a:r>
            <a:pPr indent="0" marL="0">
              <a:lnSpc>
                <a:spcPts val="1500"/>
              </a:lnSpc>
              <a:buNone/>
            </a:pPr>
            <a:r>
              <a:rPr lang="en-US" sz="1200" i="1" dirty="0">
                <a:solidFill>
                  <a:srgbClr val="5A6A78"/>
                </a:solidFill>
                <a:latin typeface="Calibri" pitchFamily="34" charset="0"/>
                <a:ea typeface="Calibri" pitchFamily="34" charset="-122"/>
                <a:cs typeface="Calibri" pitchFamily="34" charset="-120"/>
              </a:rPr>
              <a:t>(Markdowns run ~12% of non-grocery sales.)</a:t>
            </a:r>
            <a:endParaRPr lang="en-US" sz="1200" dirty="0"/>
          </a:p>
        </p:txBody>
      </p:sp>
      <p:sp>
        <p:nvSpPr>
          <p:cNvPr id="27" name="Text 25"/>
          <p:cNvSpPr/>
          <p:nvPr/>
        </p:nvSpPr>
        <p:spPr>
          <a:xfrm>
            <a:off x="640080" y="5852160"/>
            <a:ext cx="10908792" cy="310896"/>
          </a:xfrm>
          <a:prstGeom prst="rect">
            <a:avLst/>
          </a:prstGeom>
          <a:noFill/>
          <a:ln/>
        </p:spPr>
        <p:txBody>
          <a:bodyPr wrap="square" lIns="0" tIns="0" rIns="0" bIns="0" rtlCol="0" anchor="t"/>
          <a:lstStyle/>
          <a:p>
            <a:pPr indent="0" marL="0">
              <a:lnSpc>
                <a:spcPts val="1100"/>
              </a:lnSpc>
              <a:buNone/>
            </a:pPr>
            <a:r>
              <a:rPr lang="en-US" sz="900" i="1" dirty="0">
                <a:solidFill>
                  <a:srgbClr val="065A82"/>
                </a:solidFill>
                <a:latin typeface="Calibri" pitchFamily="34" charset="0"/>
                <a:ea typeface="Calibri" pitchFamily="34" charset="-122"/>
                <a:cs typeface="Calibri" pitchFamily="34" charset="-120"/>
              </a:rPr>
              <a:t>Grocery/FMCG and non-grocery retail benchmarks, used as proxies — a DTC catalog will differ. The 47% and 30% are the shares of each loss CAUSED by ordering/forecasting and overbuying, not guaranteed recoveries.</a:t>
            </a:r>
            <a:endParaRPr lang="en-US" sz="900" dirty="0"/>
          </a:p>
        </p:txBody>
      </p:sp>
      <p:sp>
        <p:nvSpPr>
          <p:cNvPr id="28" name="Text 26"/>
          <p:cNvSpPr/>
          <p:nvPr/>
        </p:nvSpPr>
        <p:spPr>
          <a:xfrm>
            <a:off x="640080" y="6254496"/>
            <a:ext cx="10908792" cy="365760"/>
          </a:xfrm>
          <a:prstGeom prst="rect">
            <a:avLst/>
          </a:prstGeom>
          <a:noFill/>
          <a:ln/>
        </p:spPr>
        <p:txBody>
          <a:bodyPr wrap="square" lIns="0" tIns="0" rIns="0" bIns="0" rtlCol="0" anchor="t"/>
          <a:lstStyle/>
          <a:p>
            <a:pPr indent="0" marL="0">
              <a:lnSpc>
                <a:spcPts val="1100"/>
              </a:lnSpc>
              <a:buNone/>
            </a:pPr>
            <a:r>
              <a:rPr lang="en-US" sz="850" b="1" dirty="0">
                <a:solidFill>
                  <a:srgbClr val="5A6A78"/>
                </a:solidFill>
                <a:latin typeface="Calibri" pitchFamily="34" charset="0"/>
                <a:ea typeface="Calibri" pitchFamily="34" charset="-122"/>
                <a:cs typeface="Calibri" pitchFamily="34" charset="-120"/>
              </a:rPr>
              <a:t>Sources:  </a:t>
            </a:r>
            <a:pPr indent="0" marL="0">
              <a:lnSpc>
                <a:spcPts val="1100"/>
              </a:lnSpc>
              <a:buNone/>
            </a:pPr>
            <a:r>
              <a:rPr lang="en-US" sz="850" dirty="0">
                <a:solidFill>
                  <a:srgbClr val="5A6A78"/>
                </a:solidFill>
                <a:latin typeface="Calibri" pitchFamily="34" charset="0"/>
                <a:ea typeface="Calibri" pitchFamily="34" charset="-122"/>
                <a:cs typeface="Calibri" pitchFamily="34" charset="-120"/>
              </a:rPr>
              <a:t>Gruen, Corsten &amp; Bharadwaj, Retail Out-of-Stocks: A Worldwide Examination (2002) and Corsten &amp; Gruen (2004) — stockout share and causes.  Coresight Research, US retailer survey (2018) — markdowns.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TIME IT GIVES BACK</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2800" b="1" dirty="0">
                <a:solidFill>
                  <a:srgbClr val="21295C"/>
                </a:solidFill>
                <a:latin typeface="Cambria" pitchFamily="34" charset="0"/>
                <a:ea typeface="Cambria" pitchFamily="34" charset="-122"/>
                <a:cs typeface="Cambria" pitchFamily="34" charset="-120"/>
              </a:rPr>
              <a:t>What it takes off your plate — and what it adds</a:t>
            </a:r>
            <a:endParaRPr lang="en-US" sz="2800" dirty="0"/>
          </a:p>
        </p:txBody>
      </p:sp>
      <p:sp>
        <p:nvSpPr>
          <p:cNvPr id="4" name="Text 2"/>
          <p:cNvSpPr/>
          <p:nvPr/>
        </p:nvSpPr>
        <p:spPr>
          <a:xfrm>
            <a:off x="640080" y="1417320"/>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In a small team this planning falls on a founder between other jobs. LogiTrack does it for you — and layers on capabilities a spreadsheet never had.</a:t>
            </a:r>
            <a:endParaRPr lang="en-US" sz="1350" dirty="0"/>
          </a:p>
        </p:txBody>
      </p:sp>
      <p:sp>
        <p:nvSpPr>
          <p:cNvPr id="5" name="Shape 3"/>
          <p:cNvSpPr/>
          <p:nvPr/>
        </p:nvSpPr>
        <p:spPr>
          <a:xfrm>
            <a:off x="640080" y="1847088"/>
            <a:ext cx="5349240" cy="2322576"/>
          </a:xfrm>
          <a:prstGeom prst="roundRect">
            <a:avLst>
              <a:gd name="adj" fmla="val 3543"/>
            </a:avLst>
          </a:prstGeom>
          <a:solidFill>
            <a:srgbClr val="EDF3F7"/>
          </a:solidFill>
          <a:ln w="12700">
            <a:solidFill>
              <a:srgbClr val="EDF3F7"/>
            </a:solidFill>
            <a:prstDash val="solid"/>
          </a:ln>
        </p:spPr>
      </p:sp>
      <p:sp>
        <p:nvSpPr>
          <p:cNvPr id="6" name="Text 4"/>
          <p:cNvSpPr/>
          <p:nvPr/>
        </p:nvSpPr>
        <p:spPr>
          <a:xfrm>
            <a:off x="914400" y="2011680"/>
            <a:ext cx="4846320" cy="237744"/>
          </a:xfrm>
          <a:prstGeom prst="rect">
            <a:avLst/>
          </a:prstGeom>
          <a:noFill/>
          <a:ln/>
        </p:spPr>
        <p:txBody>
          <a:bodyPr wrap="square" lIns="0" tIns="0" rIns="0" bIns="0" rtlCol="0" anchor="ctr"/>
          <a:lstStyle/>
          <a:p>
            <a:pPr indent="0" marL="0">
              <a:buNone/>
            </a:pPr>
            <a:r>
              <a:rPr lang="en-US" sz="1100" b="1" spc="80" kern="0" dirty="0">
                <a:solidFill>
                  <a:srgbClr val="1C7293"/>
                </a:solidFill>
                <a:latin typeface="Calibri" pitchFamily="34" charset="0"/>
                <a:ea typeface="Calibri" pitchFamily="34" charset="-122"/>
                <a:cs typeface="Calibri" pitchFamily="34" charset="-120"/>
              </a:rPr>
              <a:t>THE WORK IT TAKES OFF YOUR PLATE</a:t>
            </a:r>
            <a:endParaRPr lang="en-US" sz="1100" dirty="0"/>
          </a:p>
        </p:txBody>
      </p:sp>
      <p:sp>
        <p:nvSpPr>
          <p:cNvPr id="7" name="Text 5"/>
          <p:cNvSpPr/>
          <p:nvPr/>
        </p:nvSpPr>
        <p:spPr>
          <a:xfrm>
            <a:off x="914400" y="2240280"/>
            <a:ext cx="4846320" cy="201168"/>
          </a:xfrm>
          <a:prstGeom prst="rect">
            <a:avLst/>
          </a:prstGeom>
          <a:noFill/>
          <a:ln/>
        </p:spPr>
        <p:txBody>
          <a:bodyPr wrap="square" lIns="0" tIns="0" rIns="0" bIns="0" rtlCol="0" anchor="ctr"/>
          <a:lstStyle/>
          <a:p>
            <a:pPr indent="0" marL="0">
              <a:buNone/>
            </a:pPr>
            <a:r>
              <a:rPr lang="en-US" sz="950" i="1" dirty="0">
                <a:solidFill>
                  <a:srgbClr val="5A6A78"/>
                </a:solidFill>
                <a:latin typeface="Calibri" pitchFamily="34" charset="0"/>
                <a:ea typeface="Calibri" pitchFamily="34" charset="-122"/>
                <a:cs typeface="Calibri" pitchFamily="34" charset="-120"/>
              </a:rPr>
              <a:t>things you already do by hand today</a:t>
            </a:r>
            <a:endParaRPr lang="en-US" sz="950" dirty="0"/>
          </a:p>
        </p:txBody>
      </p:sp>
      <p:sp>
        <p:nvSpPr>
          <p:cNvPr id="8" name="Shape 6"/>
          <p:cNvSpPr/>
          <p:nvPr/>
        </p:nvSpPr>
        <p:spPr>
          <a:xfrm>
            <a:off x="914400" y="2592324"/>
            <a:ext cx="146304" cy="146304"/>
          </a:xfrm>
          <a:prstGeom prst="ellipse">
            <a:avLst/>
          </a:prstGeom>
          <a:solidFill>
            <a:srgbClr val="065A82"/>
          </a:solidFill>
          <a:ln/>
        </p:spPr>
      </p:sp>
      <p:sp>
        <p:nvSpPr>
          <p:cNvPr id="9" name="Text 7"/>
          <p:cNvSpPr/>
          <p:nvPr/>
        </p:nvSpPr>
        <p:spPr>
          <a:xfrm>
            <a:off x="1179576" y="2551176"/>
            <a:ext cx="4709160" cy="274320"/>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Checking which products are running low</a:t>
            </a:r>
            <a:endParaRPr lang="en-US" sz="1150" dirty="0"/>
          </a:p>
        </p:txBody>
      </p:sp>
      <p:sp>
        <p:nvSpPr>
          <p:cNvPr id="10" name="Shape 8"/>
          <p:cNvSpPr/>
          <p:nvPr/>
        </p:nvSpPr>
        <p:spPr>
          <a:xfrm>
            <a:off x="914400" y="2862072"/>
            <a:ext cx="146304" cy="146304"/>
          </a:xfrm>
          <a:prstGeom prst="ellipse">
            <a:avLst/>
          </a:prstGeom>
          <a:solidFill>
            <a:srgbClr val="065A82"/>
          </a:solidFill>
          <a:ln/>
        </p:spPr>
      </p:sp>
      <p:sp>
        <p:nvSpPr>
          <p:cNvPr id="11" name="Text 9"/>
          <p:cNvSpPr/>
          <p:nvPr/>
        </p:nvSpPr>
        <p:spPr>
          <a:xfrm>
            <a:off x="1179576" y="2820924"/>
            <a:ext cx="4709160" cy="274320"/>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Working out how much to reorder, and when</a:t>
            </a:r>
            <a:endParaRPr lang="en-US" sz="1150" dirty="0"/>
          </a:p>
        </p:txBody>
      </p:sp>
      <p:sp>
        <p:nvSpPr>
          <p:cNvPr id="12" name="Shape 10"/>
          <p:cNvSpPr/>
          <p:nvPr/>
        </p:nvSpPr>
        <p:spPr>
          <a:xfrm>
            <a:off x="914400" y="3131820"/>
            <a:ext cx="146304" cy="146304"/>
          </a:xfrm>
          <a:prstGeom prst="ellipse">
            <a:avLst/>
          </a:prstGeom>
          <a:solidFill>
            <a:srgbClr val="065A82"/>
          </a:solidFill>
          <a:ln/>
        </p:spPr>
      </p:sp>
      <p:sp>
        <p:nvSpPr>
          <p:cNvPr id="13" name="Text 11"/>
          <p:cNvSpPr/>
          <p:nvPr/>
        </p:nvSpPr>
        <p:spPr>
          <a:xfrm>
            <a:off x="1179576" y="3090672"/>
            <a:ext cx="4709160" cy="274320"/>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Tracking what is on order and when it arrives</a:t>
            </a:r>
            <a:endParaRPr lang="en-US" sz="1150" dirty="0"/>
          </a:p>
        </p:txBody>
      </p:sp>
      <p:sp>
        <p:nvSpPr>
          <p:cNvPr id="14" name="Shape 12"/>
          <p:cNvSpPr/>
          <p:nvPr/>
        </p:nvSpPr>
        <p:spPr>
          <a:xfrm>
            <a:off x="914400" y="3401568"/>
            <a:ext cx="146304" cy="146304"/>
          </a:xfrm>
          <a:prstGeom prst="ellipse">
            <a:avLst/>
          </a:prstGeom>
          <a:solidFill>
            <a:srgbClr val="065A82"/>
          </a:solidFill>
          <a:ln/>
        </p:spPr>
      </p:sp>
      <p:sp>
        <p:nvSpPr>
          <p:cNvPr id="15" name="Text 13"/>
          <p:cNvSpPr/>
          <p:nvPr/>
        </p:nvSpPr>
        <p:spPr>
          <a:xfrm>
            <a:off x="1179576" y="3360420"/>
            <a:ext cx="4709160" cy="274320"/>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Spotting dead and slow-moving stock early</a:t>
            </a:r>
            <a:endParaRPr lang="en-US" sz="1150" dirty="0"/>
          </a:p>
        </p:txBody>
      </p:sp>
      <p:sp>
        <p:nvSpPr>
          <p:cNvPr id="16" name="Shape 14"/>
          <p:cNvSpPr/>
          <p:nvPr/>
        </p:nvSpPr>
        <p:spPr>
          <a:xfrm>
            <a:off x="914400" y="3671316"/>
            <a:ext cx="146304" cy="146304"/>
          </a:xfrm>
          <a:prstGeom prst="ellipse">
            <a:avLst/>
          </a:prstGeom>
          <a:solidFill>
            <a:srgbClr val="065A82"/>
          </a:solidFill>
          <a:ln/>
        </p:spPr>
      </p:sp>
      <p:sp>
        <p:nvSpPr>
          <p:cNvPr id="17" name="Text 15"/>
          <p:cNvSpPr/>
          <p:nvPr/>
        </p:nvSpPr>
        <p:spPr>
          <a:xfrm>
            <a:off x="1179576" y="3630168"/>
            <a:ext cx="4709160" cy="274320"/>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Seeing which products actually make money</a:t>
            </a:r>
            <a:endParaRPr lang="en-US" sz="1150" dirty="0"/>
          </a:p>
        </p:txBody>
      </p:sp>
      <p:sp>
        <p:nvSpPr>
          <p:cNvPr id="18" name="Shape 16"/>
          <p:cNvSpPr/>
          <p:nvPr/>
        </p:nvSpPr>
        <p:spPr>
          <a:xfrm>
            <a:off x="914400" y="3941064"/>
            <a:ext cx="146304" cy="146304"/>
          </a:xfrm>
          <a:prstGeom prst="ellipse">
            <a:avLst/>
          </a:prstGeom>
          <a:solidFill>
            <a:srgbClr val="065A82"/>
          </a:solidFill>
          <a:ln/>
        </p:spPr>
      </p:sp>
      <p:sp>
        <p:nvSpPr>
          <p:cNvPr id="19" name="Text 17"/>
          <p:cNvSpPr/>
          <p:nvPr/>
        </p:nvSpPr>
        <p:spPr>
          <a:xfrm>
            <a:off x="1179576" y="3899916"/>
            <a:ext cx="4709160" cy="274320"/>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Pulling it all into a buying plan</a:t>
            </a:r>
            <a:endParaRPr lang="en-US" sz="1150" dirty="0"/>
          </a:p>
        </p:txBody>
      </p:sp>
      <p:sp>
        <p:nvSpPr>
          <p:cNvPr id="20" name="Shape 18"/>
          <p:cNvSpPr/>
          <p:nvPr/>
        </p:nvSpPr>
        <p:spPr>
          <a:xfrm>
            <a:off x="640080" y="4297680"/>
            <a:ext cx="5349240" cy="1389888"/>
          </a:xfrm>
          <a:prstGeom prst="roundRect">
            <a:avLst>
              <a:gd name="adj" fmla="val 5921"/>
            </a:avLst>
          </a:prstGeom>
          <a:solidFill>
            <a:srgbClr val="21295C"/>
          </a:solidFill>
          <a:ln w="12700">
            <a:solidFill>
              <a:srgbClr val="21295C"/>
            </a:solidFill>
            <a:prstDash val="solid"/>
          </a:ln>
        </p:spPr>
      </p:sp>
      <p:sp>
        <p:nvSpPr>
          <p:cNvPr id="21" name="Text 19"/>
          <p:cNvSpPr/>
          <p:nvPr/>
        </p:nvSpPr>
        <p:spPr>
          <a:xfrm>
            <a:off x="960120" y="4443984"/>
            <a:ext cx="4754880" cy="237744"/>
          </a:xfrm>
          <a:prstGeom prst="rect">
            <a:avLst/>
          </a:prstGeom>
          <a:noFill/>
          <a:ln/>
        </p:spPr>
        <p:txBody>
          <a:bodyPr wrap="square" lIns="0" tIns="0" rIns="0" bIns="0" rtlCol="0" anchor="ctr"/>
          <a:lstStyle/>
          <a:p>
            <a:pPr indent="0" marL="0">
              <a:buNone/>
            </a:pPr>
            <a:r>
              <a:rPr lang="en-US" sz="1050" b="1" spc="120" kern="0" dirty="0">
                <a:solidFill>
                  <a:srgbClr val="9FB6C9"/>
                </a:solidFill>
                <a:latin typeface="Calibri" pitchFamily="34" charset="0"/>
                <a:ea typeface="Calibri" pitchFamily="34" charset="-122"/>
                <a:cs typeface="Calibri" pitchFamily="34" charset="-120"/>
              </a:rPr>
              <a:t>THE TIME THIS GIVES BACK</a:t>
            </a:r>
            <a:endParaRPr lang="en-US" sz="1050" dirty="0"/>
          </a:p>
        </p:txBody>
      </p:sp>
      <p:sp>
        <p:nvSpPr>
          <p:cNvPr id="22" name="Text 20"/>
          <p:cNvSpPr/>
          <p:nvPr/>
        </p:nvSpPr>
        <p:spPr>
          <a:xfrm>
            <a:off x="914400" y="4672584"/>
            <a:ext cx="5029200" cy="502920"/>
          </a:xfrm>
          <a:prstGeom prst="rect">
            <a:avLst/>
          </a:prstGeom>
          <a:noFill/>
          <a:ln/>
        </p:spPr>
        <p:txBody>
          <a:bodyPr wrap="square" lIns="0" tIns="0" rIns="0" bIns="0" rtlCol="0" anchor="ctr"/>
          <a:lstStyle/>
          <a:p>
            <a:pPr indent="0" marL="0">
              <a:buNone/>
            </a:pPr>
            <a:r>
              <a:rPr lang="en-US" sz="3000" b="1" dirty="0">
                <a:solidFill>
                  <a:srgbClr val="E0B071"/>
                </a:solidFill>
                <a:latin typeface="Cambria" pitchFamily="34" charset="0"/>
                <a:ea typeface="Cambria" pitchFamily="34" charset="-122"/>
                <a:cs typeface="Cambria" pitchFamily="34" charset="-120"/>
              </a:rPr>
              <a:t>$5,000 – $15,000</a:t>
            </a:r>
            <a:endParaRPr lang="en-US" sz="3000" dirty="0"/>
          </a:p>
        </p:txBody>
      </p:sp>
      <p:sp>
        <p:nvSpPr>
          <p:cNvPr id="23" name="Text 21"/>
          <p:cNvSpPr/>
          <p:nvPr/>
        </p:nvSpPr>
        <p:spPr>
          <a:xfrm>
            <a:off x="960120" y="5193792"/>
            <a:ext cx="4846320" cy="219456"/>
          </a:xfrm>
          <a:prstGeom prst="rect">
            <a:avLst/>
          </a:prstGeom>
          <a:noFill/>
          <a:ln/>
        </p:spPr>
        <p:txBody>
          <a:bodyPr wrap="square" lIns="0" tIns="0" rIns="0" bIns="0" rtlCol="0" anchor="ctr"/>
          <a:lstStyle/>
          <a:p>
            <a:pPr indent="0" marL="0">
              <a:buNone/>
            </a:pPr>
            <a:r>
              <a:rPr lang="en-US" sz="1100" dirty="0">
                <a:solidFill>
                  <a:srgbClr val="CFDDE9"/>
                </a:solidFill>
                <a:latin typeface="Calibri" pitchFamily="34" charset="0"/>
                <a:ea typeface="Calibri" pitchFamily="34" charset="-122"/>
                <a:cs typeface="Calibri" pitchFamily="34" charset="-120"/>
              </a:rPr>
              <a:t>a year — the planning hours above, automated</a:t>
            </a:r>
            <a:endParaRPr lang="en-US" sz="1100" dirty="0"/>
          </a:p>
        </p:txBody>
      </p:sp>
      <p:sp>
        <p:nvSpPr>
          <p:cNvPr id="24" name="Text 22"/>
          <p:cNvSpPr/>
          <p:nvPr/>
        </p:nvSpPr>
        <p:spPr>
          <a:xfrm>
            <a:off x="960120" y="5431536"/>
            <a:ext cx="4846320" cy="219456"/>
          </a:xfrm>
          <a:prstGeom prst="rect">
            <a:avLst/>
          </a:prstGeom>
          <a:noFill/>
          <a:ln/>
        </p:spPr>
        <p:txBody>
          <a:bodyPr wrap="square" lIns="0" tIns="0" rIns="0" bIns="0" rtlCol="0" anchor="ctr"/>
          <a:lstStyle/>
          <a:p>
            <a:pPr indent="0" marL="0">
              <a:buNone/>
            </a:pPr>
            <a:r>
              <a:rPr lang="en-US" sz="950" i="1" dirty="0">
                <a:solidFill>
                  <a:srgbClr val="8FA8BE"/>
                </a:solidFill>
                <a:latin typeface="Calibri" pitchFamily="34" charset="0"/>
                <a:ea typeface="Calibri" pitchFamily="34" charset="-122"/>
                <a:cs typeface="Calibri" pitchFamily="34" charset="-120"/>
              </a:rPr>
              <a:t>Even a few hours a week at $50/hr  ·  BLS floor ≈ $36/hr</a:t>
            </a:r>
            <a:endParaRPr lang="en-US" sz="950" dirty="0"/>
          </a:p>
        </p:txBody>
      </p:sp>
      <p:sp>
        <p:nvSpPr>
          <p:cNvPr id="25" name="Shape 23"/>
          <p:cNvSpPr/>
          <p:nvPr/>
        </p:nvSpPr>
        <p:spPr>
          <a:xfrm>
            <a:off x="6199632" y="1847088"/>
            <a:ext cx="5349240" cy="2322576"/>
          </a:xfrm>
          <a:prstGeom prst="roundRect">
            <a:avLst>
              <a:gd name="adj" fmla="val 3543"/>
            </a:avLst>
          </a:prstGeom>
          <a:solidFill>
            <a:srgbClr val="EDF3F7"/>
          </a:solidFill>
          <a:ln w="12700">
            <a:solidFill>
              <a:srgbClr val="EDF3F7"/>
            </a:solidFill>
            <a:prstDash val="solid"/>
          </a:ln>
        </p:spPr>
      </p:sp>
      <p:sp>
        <p:nvSpPr>
          <p:cNvPr id="26" name="Text 24"/>
          <p:cNvSpPr/>
          <p:nvPr/>
        </p:nvSpPr>
        <p:spPr>
          <a:xfrm>
            <a:off x="6473952" y="2011680"/>
            <a:ext cx="4937760" cy="237744"/>
          </a:xfrm>
          <a:prstGeom prst="rect">
            <a:avLst/>
          </a:prstGeom>
          <a:noFill/>
          <a:ln/>
        </p:spPr>
        <p:txBody>
          <a:bodyPr wrap="square" lIns="0" tIns="0" rIns="0" bIns="0" rtlCol="0" anchor="ctr"/>
          <a:lstStyle/>
          <a:p>
            <a:pPr indent="0" marL="0">
              <a:buNone/>
            </a:pPr>
            <a:r>
              <a:rPr lang="en-US" sz="1100" b="1" spc="80" kern="0" dirty="0">
                <a:solidFill>
                  <a:srgbClr val="065A82"/>
                </a:solidFill>
                <a:latin typeface="Calibri" pitchFamily="34" charset="0"/>
                <a:ea typeface="Calibri" pitchFamily="34" charset="-122"/>
                <a:cs typeface="Calibri" pitchFamily="34" charset="-120"/>
              </a:rPr>
              <a:t>AND WHAT IT ADDS ON TOP</a:t>
            </a:r>
            <a:endParaRPr lang="en-US" sz="1100" dirty="0"/>
          </a:p>
        </p:txBody>
      </p:sp>
      <p:sp>
        <p:nvSpPr>
          <p:cNvPr id="27" name="Text 25"/>
          <p:cNvSpPr/>
          <p:nvPr/>
        </p:nvSpPr>
        <p:spPr>
          <a:xfrm>
            <a:off x="6473952" y="2240280"/>
            <a:ext cx="4937760" cy="201168"/>
          </a:xfrm>
          <a:prstGeom prst="rect">
            <a:avLst/>
          </a:prstGeom>
          <a:noFill/>
          <a:ln/>
        </p:spPr>
        <p:txBody>
          <a:bodyPr wrap="square" lIns="0" tIns="0" rIns="0" bIns="0" rtlCol="0" anchor="ctr"/>
          <a:lstStyle/>
          <a:p>
            <a:pPr indent="0" marL="0">
              <a:buNone/>
            </a:pPr>
            <a:r>
              <a:rPr lang="en-US" sz="950" i="1" dirty="0">
                <a:solidFill>
                  <a:srgbClr val="5A6A78"/>
                </a:solidFill>
                <a:latin typeface="Calibri" pitchFamily="34" charset="0"/>
                <a:ea typeface="Calibri" pitchFamily="34" charset="-122"/>
                <a:cs typeface="Calibri" pitchFamily="34" charset="-120"/>
              </a:rPr>
              <a:t>brand-new — beyond anything you do today</a:t>
            </a:r>
            <a:endParaRPr lang="en-US" sz="950" dirty="0"/>
          </a:p>
        </p:txBody>
      </p:sp>
      <p:sp>
        <p:nvSpPr>
          <p:cNvPr id="28" name="Shape 26"/>
          <p:cNvSpPr/>
          <p:nvPr/>
        </p:nvSpPr>
        <p:spPr>
          <a:xfrm>
            <a:off x="6473952" y="2651760"/>
            <a:ext cx="146304" cy="146304"/>
          </a:xfrm>
          <a:prstGeom prst="ellipse">
            <a:avLst/>
          </a:prstGeom>
          <a:solidFill>
            <a:srgbClr val="1C7293"/>
          </a:solidFill>
          <a:ln/>
        </p:spPr>
      </p:sp>
      <p:sp>
        <p:nvSpPr>
          <p:cNvPr id="29" name="Text 27"/>
          <p:cNvSpPr/>
          <p:nvPr/>
        </p:nvSpPr>
        <p:spPr>
          <a:xfrm>
            <a:off x="6739128" y="2606040"/>
            <a:ext cx="4709160" cy="292608"/>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The right forecasting method chosen per product</a:t>
            </a:r>
            <a:endParaRPr lang="en-US" sz="1150" dirty="0"/>
          </a:p>
        </p:txBody>
      </p:sp>
      <p:sp>
        <p:nvSpPr>
          <p:cNvPr id="30" name="Shape 28"/>
          <p:cNvSpPr/>
          <p:nvPr/>
        </p:nvSpPr>
        <p:spPr>
          <a:xfrm>
            <a:off x="6473952" y="2967228"/>
            <a:ext cx="146304" cy="146304"/>
          </a:xfrm>
          <a:prstGeom prst="ellipse">
            <a:avLst/>
          </a:prstGeom>
          <a:solidFill>
            <a:srgbClr val="1C7293"/>
          </a:solidFill>
          <a:ln/>
        </p:spPr>
      </p:sp>
      <p:sp>
        <p:nvSpPr>
          <p:cNvPr id="31" name="Text 29"/>
          <p:cNvSpPr/>
          <p:nvPr/>
        </p:nvSpPr>
        <p:spPr>
          <a:xfrm>
            <a:off x="6739128" y="2921508"/>
            <a:ext cx="4709160" cy="292608"/>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Your catalog grouped by how products actually sell</a:t>
            </a:r>
            <a:endParaRPr lang="en-US" sz="1150" dirty="0"/>
          </a:p>
        </p:txBody>
      </p:sp>
      <p:sp>
        <p:nvSpPr>
          <p:cNvPr id="32" name="Shape 30"/>
          <p:cNvSpPr/>
          <p:nvPr/>
        </p:nvSpPr>
        <p:spPr>
          <a:xfrm>
            <a:off x="6473952" y="3282696"/>
            <a:ext cx="146304" cy="146304"/>
          </a:xfrm>
          <a:prstGeom prst="ellipse">
            <a:avLst/>
          </a:prstGeom>
          <a:solidFill>
            <a:srgbClr val="1C7293"/>
          </a:solidFill>
          <a:ln/>
        </p:spPr>
      </p:sp>
      <p:sp>
        <p:nvSpPr>
          <p:cNvPr id="33" name="Text 31"/>
          <p:cNvSpPr/>
          <p:nvPr/>
        </p:nvSpPr>
        <p:spPr>
          <a:xfrm>
            <a:off x="6739128" y="3236976"/>
            <a:ext cx="4709160" cy="292608"/>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A reorder policy backtested for lowest cost</a:t>
            </a:r>
            <a:endParaRPr lang="en-US" sz="1150" dirty="0"/>
          </a:p>
        </p:txBody>
      </p:sp>
      <p:sp>
        <p:nvSpPr>
          <p:cNvPr id="34" name="Shape 32"/>
          <p:cNvSpPr/>
          <p:nvPr/>
        </p:nvSpPr>
        <p:spPr>
          <a:xfrm>
            <a:off x="6473952" y="3598164"/>
            <a:ext cx="146304" cy="146304"/>
          </a:xfrm>
          <a:prstGeom prst="ellipse">
            <a:avLst/>
          </a:prstGeom>
          <a:solidFill>
            <a:srgbClr val="1C7293"/>
          </a:solidFill>
          <a:ln/>
        </p:spPr>
      </p:sp>
      <p:sp>
        <p:nvSpPr>
          <p:cNvPr id="35" name="Text 33"/>
          <p:cNvSpPr/>
          <p:nvPr/>
        </p:nvSpPr>
        <p:spPr>
          <a:xfrm>
            <a:off x="6739128" y="3552444"/>
            <a:ext cx="4709160" cy="292608"/>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Safety stock sized to a service level, not a guess</a:t>
            </a:r>
            <a:endParaRPr lang="en-US" sz="1150" dirty="0"/>
          </a:p>
        </p:txBody>
      </p:sp>
      <p:sp>
        <p:nvSpPr>
          <p:cNvPr id="36" name="Shape 34"/>
          <p:cNvSpPr/>
          <p:nvPr/>
        </p:nvSpPr>
        <p:spPr>
          <a:xfrm>
            <a:off x="6473952" y="3913632"/>
            <a:ext cx="146304" cy="146304"/>
          </a:xfrm>
          <a:prstGeom prst="ellipse">
            <a:avLst/>
          </a:prstGeom>
          <a:solidFill>
            <a:srgbClr val="1C7293"/>
          </a:solidFill>
          <a:ln/>
        </p:spPr>
      </p:sp>
      <p:sp>
        <p:nvSpPr>
          <p:cNvPr id="37" name="Text 35"/>
          <p:cNvSpPr/>
          <p:nvPr/>
        </p:nvSpPr>
        <p:spPr>
          <a:xfrm>
            <a:off x="6739128" y="3867912"/>
            <a:ext cx="4709160" cy="292608"/>
          </a:xfrm>
          <a:prstGeom prst="rect">
            <a:avLst/>
          </a:prstGeom>
          <a:noFill/>
          <a:ln/>
        </p:spPr>
        <p:txBody>
          <a:bodyPr wrap="square" lIns="0" tIns="0" rIns="0" bIns="0" rtlCol="0" anchor="t"/>
          <a:lstStyle/>
          <a:p>
            <a:pPr indent="0" marL="0">
              <a:buNone/>
            </a:pPr>
            <a:r>
              <a:rPr lang="en-US" sz="1150" dirty="0">
                <a:solidFill>
                  <a:srgbClr val="17202B"/>
                </a:solidFill>
                <a:latin typeface="Calibri" pitchFamily="34" charset="0"/>
                <a:ea typeface="Calibri" pitchFamily="34" charset="-122"/>
                <a:cs typeface="Calibri" pitchFamily="34" charset="-120"/>
              </a:rPr>
              <a:t>An assistant that answers questions on your data</a:t>
            </a:r>
            <a:endParaRPr lang="en-US" sz="1150" dirty="0"/>
          </a:p>
        </p:txBody>
      </p:sp>
      <p:sp>
        <p:nvSpPr>
          <p:cNvPr id="38" name="Shape 36"/>
          <p:cNvSpPr/>
          <p:nvPr/>
        </p:nvSpPr>
        <p:spPr>
          <a:xfrm>
            <a:off x="6199632" y="4297680"/>
            <a:ext cx="5349240" cy="1389888"/>
          </a:xfrm>
          <a:prstGeom prst="roundRect">
            <a:avLst>
              <a:gd name="adj" fmla="val 5921"/>
            </a:avLst>
          </a:prstGeom>
          <a:solidFill>
            <a:srgbClr val="EDF3F7"/>
          </a:solidFill>
          <a:ln w="12700">
            <a:solidFill>
              <a:srgbClr val="EDF3F7"/>
            </a:solidFill>
            <a:prstDash val="solid"/>
          </a:ln>
        </p:spPr>
      </p:sp>
      <p:sp>
        <p:nvSpPr>
          <p:cNvPr id="39" name="Text 37"/>
          <p:cNvSpPr/>
          <p:nvPr/>
        </p:nvSpPr>
        <p:spPr>
          <a:xfrm>
            <a:off x="6519672" y="4443984"/>
            <a:ext cx="4754880" cy="237744"/>
          </a:xfrm>
          <a:prstGeom prst="rect">
            <a:avLst/>
          </a:prstGeom>
          <a:noFill/>
          <a:ln/>
        </p:spPr>
        <p:txBody>
          <a:bodyPr wrap="square" lIns="0" tIns="0" rIns="0" bIns="0" rtlCol="0" anchor="ctr"/>
          <a:lstStyle/>
          <a:p>
            <a:pPr indent="0" marL="0">
              <a:buNone/>
            </a:pPr>
            <a:r>
              <a:rPr lang="en-US" sz="1050" b="1" spc="120" kern="0" dirty="0">
                <a:solidFill>
                  <a:srgbClr val="1C7293"/>
                </a:solidFill>
                <a:latin typeface="Calibri" pitchFamily="34" charset="0"/>
                <a:ea typeface="Calibri" pitchFamily="34" charset="-122"/>
                <a:cs typeface="Calibri" pitchFamily="34" charset="-120"/>
              </a:rPr>
              <a:t>PURE UPSIDE — ON TOP</a:t>
            </a:r>
            <a:endParaRPr lang="en-US" sz="1050" dirty="0"/>
          </a:p>
        </p:txBody>
      </p:sp>
      <p:sp>
        <p:nvSpPr>
          <p:cNvPr id="40" name="Text 38"/>
          <p:cNvSpPr/>
          <p:nvPr/>
        </p:nvSpPr>
        <p:spPr>
          <a:xfrm>
            <a:off x="6519672" y="4718304"/>
            <a:ext cx="4754880" cy="914400"/>
          </a:xfrm>
          <a:prstGeom prst="rect">
            <a:avLst/>
          </a:prstGeom>
          <a:noFill/>
          <a:ln/>
        </p:spPr>
        <p:txBody>
          <a:bodyPr wrap="square" lIns="0" tIns="0" rIns="0" bIns="0" rtlCol="0" anchor="t"/>
          <a:lstStyle/>
          <a:p>
            <a:pPr indent="0" marL="0">
              <a:lnSpc>
                <a:spcPts val="1700"/>
              </a:lnSpc>
              <a:buNone/>
            </a:pPr>
            <a:r>
              <a:rPr lang="en-US" sz="1250" dirty="0">
                <a:solidFill>
                  <a:srgbClr val="17202B"/>
                </a:solidFill>
                <a:latin typeface="Calibri" pitchFamily="34" charset="0"/>
                <a:ea typeface="Calibri" pitchFamily="34" charset="-122"/>
                <a:cs typeface="Calibri" pitchFamily="34" charset="-120"/>
              </a:rPr>
              <a:t>Genuinely new capabilities a spreadsheet never had. </a:t>
            </a:r>
            <a:pPr indent="0" marL="0">
              <a:lnSpc>
                <a:spcPts val="1700"/>
              </a:lnSpc>
              <a:buNone/>
            </a:pPr>
            <a:r>
              <a:rPr lang="en-US" sz="1250" b="1" dirty="0">
                <a:solidFill>
                  <a:srgbClr val="065A82"/>
                </a:solidFill>
                <a:latin typeface="Calibri" pitchFamily="34" charset="0"/>
                <a:ea typeface="Calibri" pitchFamily="34" charset="-122"/>
                <a:cs typeface="Calibri" pitchFamily="34" charset="-120"/>
              </a:rPr>
              <a:t>These are extra — not part of the $5,000–$15,000 on the left, and no additional effort on your side.</a:t>
            </a:r>
            <a:endParaRPr lang="en-US" sz="1250" dirty="0"/>
          </a:p>
        </p:txBody>
      </p:sp>
      <p:sp>
        <p:nvSpPr>
          <p:cNvPr id="41" name="Text 39"/>
          <p:cNvSpPr/>
          <p:nvPr/>
        </p:nvSpPr>
        <p:spPr>
          <a:xfrm>
            <a:off x="640080" y="5815584"/>
            <a:ext cx="10908792" cy="310896"/>
          </a:xfrm>
          <a:prstGeom prst="rect">
            <a:avLst/>
          </a:prstGeom>
          <a:noFill/>
          <a:ln/>
        </p:spPr>
        <p:txBody>
          <a:bodyPr wrap="square" lIns="0" tIns="0" rIns="0" bIns="0" rtlCol="0" anchor="t"/>
          <a:lstStyle/>
          <a:p>
            <a:pPr indent="0" marL="0">
              <a:lnSpc>
                <a:spcPts val="1100"/>
              </a:lnSpc>
              <a:buNone/>
            </a:pPr>
            <a:r>
              <a:rPr lang="en-US" sz="850" i="1" dirty="0">
                <a:solidFill>
                  <a:srgbClr val="065A82"/>
                </a:solidFill>
                <a:latin typeface="Calibri" pitchFamily="34" charset="0"/>
                <a:ea typeface="Calibri" pitchFamily="34" charset="-122"/>
                <a:cs typeface="Calibri" pitchFamily="34" charset="-120"/>
              </a:rPr>
              <a:t>The time value is illustrative — figured from your own hours and your own hourly value; there is no credible industry benchmark for hours spent, so it is never presented as a fixed claim. Only the work in the left column is counted.</a:t>
            </a:r>
            <a:endParaRPr lang="en-US" sz="850" dirty="0"/>
          </a:p>
        </p:txBody>
      </p:sp>
      <p:sp>
        <p:nvSpPr>
          <p:cNvPr id="42" name="Text 40"/>
          <p:cNvSpPr/>
          <p:nvPr/>
        </p:nvSpPr>
        <p:spPr>
          <a:xfrm>
            <a:off x="640080" y="6217920"/>
            <a:ext cx="10908792" cy="274320"/>
          </a:xfrm>
          <a:prstGeom prst="rect">
            <a:avLst/>
          </a:prstGeom>
          <a:noFill/>
          <a:ln/>
        </p:spPr>
        <p:txBody>
          <a:bodyPr wrap="square" lIns="0" tIns="0" rIns="0" bIns="0" rtlCol="0" anchor="t"/>
          <a:lstStyle/>
          <a:p>
            <a:pPr indent="0" marL="0">
              <a:lnSpc>
                <a:spcPts val="1100"/>
              </a:lnSpc>
              <a:buNone/>
            </a:pPr>
            <a:r>
              <a:rPr lang="en-US" sz="850" b="1" dirty="0">
                <a:solidFill>
                  <a:srgbClr val="5A6A78"/>
                </a:solidFill>
                <a:latin typeface="Calibri" pitchFamily="34" charset="0"/>
                <a:ea typeface="Calibri" pitchFamily="34" charset="-122"/>
                <a:cs typeface="Calibri" pitchFamily="34" charset="-120"/>
              </a:rPr>
              <a:t>Source:  </a:t>
            </a:r>
            <a:pPr indent="0" marL="0">
              <a:lnSpc>
                <a:spcPts val="1100"/>
              </a:lnSpc>
              <a:buNone/>
            </a:pPr>
            <a:r>
              <a:rPr lang="en-US" sz="850" dirty="0">
                <a:solidFill>
                  <a:srgbClr val="5A6A78"/>
                </a:solidFill>
                <a:latin typeface="Calibri" pitchFamily="34" charset="0"/>
                <a:ea typeface="Calibri" pitchFamily="34" charset="-122"/>
                <a:cs typeface="Calibri" pitchFamily="34" charset="-120"/>
              </a:rPr>
              <a:t>U.S. Bureau of Labor Statistics — Buyers &amp; Purchasing Agents median wage $75,650 (May 2024) ÷ 2,080 work hours ≈ $36/hr.</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WHAT WE WILL WALK THROUGH</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3300" b="1" dirty="0">
                <a:solidFill>
                  <a:srgbClr val="21295C"/>
                </a:solidFill>
                <a:latin typeface="Cambria" pitchFamily="34" charset="0"/>
                <a:ea typeface="Cambria" pitchFamily="34" charset="-122"/>
                <a:cs typeface="Cambria" pitchFamily="34" charset="-120"/>
              </a:rPr>
              <a:t>Six workspaces, one catalog</a:t>
            </a:r>
            <a:endParaRPr lang="en-US" sz="3300" dirty="0"/>
          </a:p>
        </p:txBody>
      </p:sp>
      <p:sp>
        <p:nvSpPr>
          <p:cNvPr id="4" name="Text 2"/>
          <p:cNvSpPr/>
          <p:nvPr/>
        </p:nvSpPr>
        <p:spPr>
          <a:xfrm>
            <a:off x="640080" y="1481328"/>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Sales data arrives by spreadsheet upload or a direct Shopify pull. Everything below runs off that one catalog, in this order.</a:t>
            </a:r>
            <a:endParaRPr lang="en-US" sz="1350" dirty="0"/>
          </a:p>
        </p:txBody>
      </p:sp>
      <p:sp>
        <p:nvSpPr>
          <p:cNvPr id="5" name="Shape 3"/>
          <p:cNvSpPr/>
          <p:nvPr/>
        </p:nvSpPr>
        <p:spPr>
          <a:xfrm>
            <a:off x="640080" y="2057400"/>
            <a:ext cx="3584448" cy="1572768"/>
          </a:xfrm>
          <a:prstGeom prst="roundRect">
            <a:avLst>
              <a:gd name="adj" fmla="val 5233"/>
            </a:avLst>
          </a:prstGeom>
          <a:solidFill>
            <a:srgbClr val="EDF3F7"/>
          </a:solidFill>
          <a:ln w="12700">
            <a:solidFill>
              <a:srgbClr val="EDF3F7"/>
            </a:solidFill>
            <a:prstDash val="solid"/>
          </a:ln>
        </p:spPr>
      </p:sp>
      <p:sp>
        <p:nvSpPr>
          <p:cNvPr id="6" name="Shape 4"/>
          <p:cNvSpPr/>
          <p:nvPr/>
        </p:nvSpPr>
        <p:spPr>
          <a:xfrm>
            <a:off x="914400" y="2313432"/>
            <a:ext cx="365760" cy="365760"/>
          </a:xfrm>
          <a:prstGeom prst="ellipse">
            <a:avLst/>
          </a:prstGeom>
          <a:solidFill>
            <a:srgbClr val="065A82"/>
          </a:solidFill>
          <a:ln/>
        </p:spPr>
      </p:sp>
      <p:sp>
        <p:nvSpPr>
          <p:cNvPr id="7" name="Text 5"/>
          <p:cNvSpPr/>
          <p:nvPr/>
        </p:nvSpPr>
        <p:spPr>
          <a:xfrm>
            <a:off x="914400" y="2313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389888" y="2313432"/>
            <a:ext cx="2532888"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Grouping</a:t>
            </a:r>
            <a:endParaRPr lang="en-US" sz="1700" dirty="0"/>
          </a:p>
        </p:txBody>
      </p:sp>
      <p:sp>
        <p:nvSpPr>
          <p:cNvPr id="9" name="Text 7"/>
          <p:cNvSpPr/>
          <p:nvPr/>
        </p:nvSpPr>
        <p:spPr>
          <a:xfrm>
            <a:off x="914400" y="2788920"/>
            <a:ext cx="3035808"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Sorts the catalog into families — by what products are, and by how they actually sell.</a:t>
            </a:r>
            <a:endParaRPr lang="en-US" sz="1200" dirty="0"/>
          </a:p>
        </p:txBody>
      </p:sp>
      <p:sp>
        <p:nvSpPr>
          <p:cNvPr id="10" name="Shape 8"/>
          <p:cNvSpPr/>
          <p:nvPr/>
        </p:nvSpPr>
        <p:spPr>
          <a:xfrm>
            <a:off x="4315968" y="2057400"/>
            <a:ext cx="3584448" cy="1572768"/>
          </a:xfrm>
          <a:prstGeom prst="roundRect">
            <a:avLst>
              <a:gd name="adj" fmla="val 5233"/>
            </a:avLst>
          </a:prstGeom>
          <a:solidFill>
            <a:srgbClr val="EDF3F7"/>
          </a:solidFill>
          <a:ln w="12700">
            <a:solidFill>
              <a:srgbClr val="EDF3F7"/>
            </a:solidFill>
            <a:prstDash val="solid"/>
          </a:ln>
        </p:spPr>
      </p:sp>
      <p:sp>
        <p:nvSpPr>
          <p:cNvPr id="11" name="Shape 9"/>
          <p:cNvSpPr/>
          <p:nvPr/>
        </p:nvSpPr>
        <p:spPr>
          <a:xfrm>
            <a:off x="4590288" y="2313432"/>
            <a:ext cx="365760" cy="365760"/>
          </a:xfrm>
          <a:prstGeom prst="ellipse">
            <a:avLst/>
          </a:prstGeom>
          <a:solidFill>
            <a:srgbClr val="1C7293"/>
          </a:solidFill>
          <a:ln/>
        </p:spPr>
      </p:sp>
      <p:sp>
        <p:nvSpPr>
          <p:cNvPr id="12" name="Text 10"/>
          <p:cNvSpPr/>
          <p:nvPr/>
        </p:nvSpPr>
        <p:spPr>
          <a:xfrm>
            <a:off x="4590288" y="2313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5065776" y="2313432"/>
            <a:ext cx="2532888"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Products</a:t>
            </a:r>
            <a:endParaRPr lang="en-US" sz="1700" dirty="0"/>
          </a:p>
        </p:txBody>
      </p:sp>
      <p:sp>
        <p:nvSpPr>
          <p:cNvPr id="14" name="Text 12"/>
          <p:cNvSpPr/>
          <p:nvPr/>
        </p:nvSpPr>
        <p:spPr>
          <a:xfrm>
            <a:off x="4590288" y="2788920"/>
            <a:ext cx="3035808"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The per-product forecast: which method it earned, how price affects it, how sure it is.</a:t>
            </a:r>
            <a:endParaRPr lang="en-US" sz="1200" dirty="0"/>
          </a:p>
        </p:txBody>
      </p:sp>
      <p:sp>
        <p:nvSpPr>
          <p:cNvPr id="15" name="Shape 13"/>
          <p:cNvSpPr/>
          <p:nvPr/>
        </p:nvSpPr>
        <p:spPr>
          <a:xfrm>
            <a:off x="7991856" y="2057400"/>
            <a:ext cx="3584448" cy="1572768"/>
          </a:xfrm>
          <a:prstGeom prst="roundRect">
            <a:avLst>
              <a:gd name="adj" fmla="val 5233"/>
            </a:avLst>
          </a:prstGeom>
          <a:solidFill>
            <a:srgbClr val="EDF3F7"/>
          </a:solidFill>
          <a:ln w="12700">
            <a:solidFill>
              <a:srgbClr val="EDF3F7"/>
            </a:solidFill>
            <a:prstDash val="solid"/>
          </a:ln>
        </p:spPr>
      </p:sp>
      <p:sp>
        <p:nvSpPr>
          <p:cNvPr id="16" name="Shape 14"/>
          <p:cNvSpPr/>
          <p:nvPr/>
        </p:nvSpPr>
        <p:spPr>
          <a:xfrm>
            <a:off x="8266176" y="2313432"/>
            <a:ext cx="365760" cy="365760"/>
          </a:xfrm>
          <a:prstGeom prst="ellipse">
            <a:avLst/>
          </a:prstGeom>
          <a:solidFill>
            <a:srgbClr val="065A82"/>
          </a:solidFill>
          <a:ln/>
        </p:spPr>
      </p:sp>
      <p:sp>
        <p:nvSpPr>
          <p:cNvPr id="17" name="Text 15"/>
          <p:cNvSpPr/>
          <p:nvPr/>
        </p:nvSpPr>
        <p:spPr>
          <a:xfrm>
            <a:off x="8266176" y="23134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741664" y="2313432"/>
            <a:ext cx="2532888"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Fleet</a:t>
            </a:r>
            <a:endParaRPr lang="en-US" sz="1700" dirty="0"/>
          </a:p>
        </p:txBody>
      </p:sp>
      <p:sp>
        <p:nvSpPr>
          <p:cNvPr id="19" name="Text 17"/>
          <p:cNvSpPr/>
          <p:nvPr/>
        </p:nvSpPr>
        <p:spPr>
          <a:xfrm>
            <a:off x="8266176" y="2788920"/>
            <a:ext cx="3035808"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The whole catalog at a glance — stock cover and reorder urgency.</a:t>
            </a:r>
            <a:endParaRPr lang="en-US" sz="1200" dirty="0"/>
          </a:p>
        </p:txBody>
      </p:sp>
      <p:sp>
        <p:nvSpPr>
          <p:cNvPr id="20" name="Shape 18"/>
          <p:cNvSpPr/>
          <p:nvPr/>
        </p:nvSpPr>
        <p:spPr>
          <a:xfrm>
            <a:off x="640080" y="3840480"/>
            <a:ext cx="3584448" cy="1572768"/>
          </a:xfrm>
          <a:prstGeom prst="roundRect">
            <a:avLst>
              <a:gd name="adj" fmla="val 5233"/>
            </a:avLst>
          </a:prstGeom>
          <a:solidFill>
            <a:srgbClr val="EDF3F7"/>
          </a:solidFill>
          <a:ln w="12700">
            <a:solidFill>
              <a:srgbClr val="EDF3F7"/>
            </a:solidFill>
            <a:prstDash val="solid"/>
          </a:ln>
        </p:spPr>
      </p:sp>
      <p:sp>
        <p:nvSpPr>
          <p:cNvPr id="21" name="Shape 19"/>
          <p:cNvSpPr/>
          <p:nvPr/>
        </p:nvSpPr>
        <p:spPr>
          <a:xfrm>
            <a:off x="914400" y="4096512"/>
            <a:ext cx="365760" cy="365760"/>
          </a:xfrm>
          <a:prstGeom prst="ellipse">
            <a:avLst/>
          </a:prstGeom>
          <a:solidFill>
            <a:srgbClr val="1C7293"/>
          </a:solidFill>
          <a:ln/>
        </p:spPr>
      </p:sp>
      <p:sp>
        <p:nvSpPr>
          <p:cNvPr id="22" name="Text 20"/>
          <p:cNvSpPr/>
          <p:nvPr/>
        </p:nvSpPr>
        <p:spPr>
          <a:xfrm>
            <a:off x="914400" y="40965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389888" y="4096512"/>
            <a:ext cx="2532888"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Scorecard</a:t>
            </a:r>
            <a:endParaRPr lang="en-US" sz="1700" dirty="0"/>
          </a:p>
        </p:txBody>
      </p:sp>
      <p:sp>
        <p:nvSpPr>
          <p:cNvPr id="24" name="Text 22"/>
          <p:cNvSpPr/>
          <p:nvPr/>
        </p:nvSpPr>
        <p:spPr>
          <a:xfrm>
            <a:off x="914400" y="4572000"/>
            <a:ext cx="3035808"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The money view: margin, capital tied up, and what needs attention first.</a:t>
            </a:r>
            <a:endParaRPr lang="en-US" sz="1200" dirty="0"/>
          </a:p>
        </p:txBody>
      </p:sp>
      <p:sp>
        <p:nvSpPr>
          <p:cNvPr id="25" name="Shape 23"/>
          <p:cNvSpPr/>
          <p:nvPr/>
        </p:nvSpPr>
        <p:spPr>
          <a:xfrm>
            <a:off x="4315968" y="3840480"/>
            <a:ext cx="3584448" cy="1572768"/>
          </a:xfrm>
          <a:prstGeom prst="roundRect">
            <a:avLst>
              <a:gd name="adj" fmla="val 5233"/>
            </a:avLst>
          </a:prstGeom>
          <a:solidFill>
            <a:srgbClr val="EDF3F7"/>
          </a:solidFill>
          <a:ln w="12700">
            <a:solidFill>
              <a:srgbClr val="EDF3F7"/>
            </a:solidFill>
            <a:prstDash val="solid"/>
          </a:ln>
        </p:spPr>
      </p:sp>
      <p:sp>
        <p:nvSpPr>
          <p:cNvPr id="26" name="Shape 24"/>
          <p:cNvSpPr/>
          <p:nvPr/>
        </p:nvSpPr>
        <p:spPr>
          <a:xfrm>
            <a:off x="4590288" y="4096512"/>
            <a:ext cx="365760" cy="365760"/>
          </a:xfrm>
          <a:prstGeom prst="ellipse">
            <a:avLst/>
          </a:prstGeom>
          <a:solidFill>
            <a:srgbClr val="065A82"/>
          </a:solidFill>
          <a:ln/>
        </p:spPr>
      </p:sp>
      <p:sp>
        <p:nvSpPr>
          <p:cNvPr id="27" name="Text 25"/>
          <p:cNvSpPr/>
          <p:nvPr/>
        </p:nvSpPr>
        <p:spPr>
          <a:xfrm>
            <a:off x="4590288" y="40965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5065776" y="4096512"/>
            <a:ext cx="2532888"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Suppliers</a:t>
            </a:r>
            <a:endParaRPr lang="en-US" sz="1700" dirty="0"/>
          </a:p>
        </p:txBody>
      </p:sp>
      <p:sp>
        <p:nvSpPr>
          <p:cNvPr id="29" name="Text 27"/>
          <p:cNvSpPr/>
          <p:nvPr/>
        </p:nvSpPr>
        <p:spPr>
          <a:xfrm>
            <a:off x="4590288" y="4572000"/>
            <a:ext cx="3035808"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Purchase orders, receiving, and how long each supplier really takes.</a:t>
            </a:r>
            <a:endParaRPr lang="en-US" sz="1200" dirty="0"/>
          </a:p>
        </p:txBody>
      </p:sp>
      <p:sp>
        <p:nvSpPr>
          <p:cNvPr id="30" name="Shape 28"/>
          <p:cNvSpPr/>
          <p:nvPr/>
        </p:nvSpPr>
        <p:spPr>
          <a:xfrm>
            <a:off x="7991856" y="3840480"/>
            <a:ext cx="3584448" cy="1572768"/>
          </a:xfrm>
          <a:prstGeom prst="roundRect">
            <a:avLst>
              <a:gd name="adj" fmla="val 5233"/>
            </a:avLst>
          </a:prstGeom>
          <a:solidFill>
            <a:srgbClr val="EDF3F7"/>
          </a:solidFill>
          <a:ln w="12700">
            <a:solidFill>
              <a:srgbClr val="EDF3F7"/>
            </a:solidFill>
            <a:prstDash val="solid"/>
          </a:ln>
        </p:spPr>
      </p:sp>
      <p:sp>
        <p:nvSpPr>
          <p:cNvPr id="31" name="Shape 29"/>
          <p:cNvSpPr/>
          <p:nvPr/>
        </p:nvSpPr>
        <p:spPr>
          <a:xfrm>
            <a:off x="8266176" y="4096512"/>
            <a:ext cx="365760" cy="365760"/>
          </a:xfrm>
          <a:prstGeom prst="ellipse">
            <a:avLst/>
          </a:prstGeom>
          <a:solidFill>
            <a:srgbClr val="1C7293"/>
          </a:solidFill>
          <a:ln/>
        </p:spPr>
      </p:sp>
      <p:sp>
        <p:nvSpPr>
          <p:cNvPr id="32" name="Text 30"/>
          <p:cNvSpPr/>
          <p:nvPr/>
        </p:nvSpPr>
        <p:spPr>
          <a:xfrm>
            <a:off x="8266176" y="409651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741664" y="4096512"/>
            <a:ext cx="2532888" cy="365760"/>
          </a:xfrm>
          <a:prstGeom prst="rect">
            <a:avLst/>
          </a:prstGeom>
          <a:noFill/>
          <a:ln/>
        </p:spPr>
        <p:txBody>
          <a:bodyPr wrap="square" lIns="0" tIns="0" rIns="0" bIns="0" rtlCol="0" anchor="ctr"/>
          <a:lstStyle/>
          <a:p>
            <a:pPr indent="0" marL="0">
              <a:buNone/>
            </a:pPr>
            <a:r>
              <a:rPr lang="en-US" sz="1700" b="1" dirty="0">
                <a:solidFill>
                  <a:srgbClr val="17202B"/>
                </a:solidFill>
                <a:latin typeface="Calibri" pitchFamily="34" charset="0"/>
                <a:ea typeface="Calibri" pitchFamily="34" charset="-122"/>
                <a:cs typeface="Calibri" pitchFamily="34" charset="-120"/>
              </a:rPr>
              <a:t>Backtest</a:t>
            </a:r>
            <a:endParaRPr lang="en-US" sz="1700" dirty="0"/>
          </a:p>
        </p:txBody>
      </p:sp>
      <p:sp>
        <p:nvSpPr>
          <p:cNvPr id="34" name="Text 32"/>
          <p:cNvSpPr/>
          <p:nvPr/>
        </p:nvSpPr>
        <p:spPr>
          <a:xfrm>
            <a:off x="8266176" y="4572000"/>
            <a:ext cx="3035808"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Replays history to check the forecast, and prices the reorder policy.</a:t>
            </a:r>
            <a:endParaRPr lang="en-US" sz="1200" dirty="0"/>
          </a:p>
        </p:txBody>
      </p:sp>
      <p:sp>
        <p:nvSpPr>
          <p:cNvPr id="35" name="Text 33"/>
          <p:cNvSpPr/>
          <p:nvPr/>
        </p:nvSpPr>
        <p:spPr>
          <a:xfrm>
            <a:off x="640080" y="5806440"/>
            <a:ext cx="10908792" cy="365760"/>
          </a:xfrm>
          <a:prstGeom prst="rect">
            <a:avLst/>
          </a:prstGeom>
          <a:noFill/>
          <a:ln/>
        </p:spPr>
        <p:txBody>
          <a:bodyPr wrap="square" lIns="0" tIns="0" rIns="0" bIns="0" rtlCol="0" anchor="ctr"/>
          <a:lstStyle/>
          <a:p>
            <a:pPr indent="0" marL="0">
              <a:buNone/>
            </a:pPr>
            <a:r>
              <a:rPr lang="en-US" sz="1250" i="1" dirty="0">
                <a:solidFill>
                  <a:srgbClr val="065A82"/>
                </a:solidFill>
                <a:latin typeface="Calibri" pitchFamily="34" charset="0"/>
                <a:ea typeface="Calibri" pitchFamily="34" charset="-122"/>
                <a:cs typeface="Calibri" pitchFamily="34" charset="-120"/>
              </a:rPr>
              <a:t>Across all six sits an AI assistant that already holds the catalog in context — and everything exports to formatted Excel workbooks, including a ready-to-action reorder plan.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065A82">
              <a:alpha val="42000"/>
            </a:srgbClr>
          </a:solidFill>
          <a:ln/>
        </p:spPr>
      </p:sp>
      <p:sp>
        <p:nvSpPr>
          <p:cNvPr id="3" name="Shape 1"/>
          <p:cNvSpPr/>
          <p:nvPr/>
        </p:nvSpPr>
        <p:spPr>
          <a:xfrm>
            <a:off x="-1371600" y="4297680"/>
            <a:ext cx="3840480" cy="3840480"/>
          </a:xfrm>
          <a:prstGeom prst="ellipse">
            <a:avLst/>
          </a:prstGeom>
          <a:solidFill>
            <a:srgbClr val="1C7293">
              <a:alpha val="34000"/>
            </a:srgbClr>
          </a:solidFill>
          <a:ln/>
        </p:spPr>
      </p:sp>
      <p:sp>
        <p:nvSpPr>
          <p:cNvPr id="4" name="Text 2"/>
          <p:cNvSpPr/>
          <p:nvPr/>
        </p:nvSpPr>
        <p:spPr>
          <a:xfrm>
            <a:off x="822960" y="868680"/>
            <a:ext cx="7315200" cy="310896"/>
          </a:xfrm>
          <a:prstGeom prst="rect">
            <a:avLst/>
          </a:prstGeom>
          <a:noFill/>
          <a:ln/>
        </p:spPr>
        <p:txBody>
          <a:bodyPr wrap="square" lIns="0" tIns="0" rIns="0" bIns="0" rtlCol="0" anchor="ctr"/>
          <a:lstStyle/>
          <a:p>
            <a:pPr indent="0" marL="0">
              <a:buNone/>
            </a:pPr>
            <a:r>
              <a:rPr lang="en-US" sz="1300" b="1" spc="250" kern="0" dirty="0">
                <a:solidFill>
                  <a:srgbClr val="8FD4E8"/>
                </a:solidFill>
                <a:latin typeface="Calibri" pitchFamily="34" charset="0"/>
                <a:ea typeface="Calibri" pitchFamily="34" charset="-122"/>
                <a:cs typeface="Calibri" pitchFamily="34" charset="-120"/>
              </a:rPr>
              <a:t>LIVE DEMO</a:t>
            </a:r>
            <a:endParaRPr lang="en-US" sz="1300" dirty="0"/>
          </a:p>
        </p:txBody>
      </p:sp>
      <p:sp>
        <p:nvSpPr>
          <p:cNvPr id="5" name="Text 3"/>
          <p:cNvSpPr/>
          <p:nvPr/>
        </p:nvSpPr>
        <p:spPr>
          <a:xfrm>
            <a:off x="822960" y="1298448"/>
            <a:ext cx="104241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Grouping tab</a:t>
            </a:r>
            <a:endParaRPr lang="en-US" sz="4600" dirty="0"/>
          </a:p>
        </p:txBody>
      </p:sp>
      <p:sp>
        <p:nvSpPr>
          <p:cNvPr id="6" name="Text 4"/>
          <p:cNvSpPr/>
          <p:nvPr/>
        </p:nvSpPr>
        <p:spPr>
          <a:xfrm>
            <a:off x="841248" y="2724912"/>
            <a:ext cx="7315200" cy="274320"/>
          </a:xfrm>
          <a:prstGeom prst="rect">
            <a:avLst/>
          </a:prstGeom>
          <a:noFill/>
          <a:ln/>
        </p:spPr>
        <p:txBody>
          <a:bodyPr wrap="square" lIns="0" tIns="0" rIns="0" bIns="0" rtlCol="0" anchor="ctr"/>
          <a:lstStyle/>
          <a:p>
            <a:pPr indent="0" marL="0">
              <a:buNone/>
            </a:pPr>
            <a:r>
              <a:rPr lang="en-US" sz="1300" b="1" spc="150" kern="0" dirty="0">
                <a:solidFill>
                  <a:srgbClr val="7E97AE"/>
                </a:solidFill>
                <a:latin typeface="Calibri" pitchFamily="34" charset="0"/>
                <a:ea typeface="Calibri" pitchFamily="34" charset="-122"/>
                <a:cs typeface="Calibri" pitchFamily="34" charset="-120"/>
              </a:rPr>
              <a:t>Show live</a:t>
            </a:r>
            <a:endParaRPr lang="en-US" sz="1300" dirty="0"/>
          </a:p>
        </p:txBody>
      </p:sp>
      <p:sp>
        <p:nvSpPr>
          <p:cNvPr id="7" name="Shape 5"/>
          <p:cNvSpPr/>
          <p:nvPr/>
        </p:nvSpPr>
        <p:spPr>
          <a:xfrm>
            <a:off x="877824" y="3310128"/>
            <a:ext cx="182880" cy="182880"/>
          </a:xfrm>
          <a:prstGeom prst="ellipse">
            <a:avLst/>
          </a:prstGeom>
          <a:solidFill>
            <a:srgbClr val="8FD4E8"/>
          </a:solidFill>
          <a:ln/>
        </p:spPr>
      </p:sp>
      <p:sp>
        <p:nvSpPr>
          <p:cNvPr id="8" name="Text 6"/>
          <p:cNvSpPr/>
          <p:nvPr/>
        </p:nvSpPr>
        <p:spPr>
          <a:xfrm>
            <a:off x="1298448" y="3182112"/>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AI-assigned categories, and sub-families where they matter</a:t>
            </a:r>
            <a:endParaRPr lang="en-US" sz="2200" dirty="0"/>
          </a:p>
        </p:txBody>
      </p:sp>
      <p:sp>
        <p:nvSpPr>
          <p:cNvPr id="9" name="Shape 7"/>
          <p:cNvSpPr/>
          <p:nvPr/>
        </p:nvSpPr>
        <p:spPr>
          <a:xfrm>
            <a:off x="877824" y="3986784"/>
            <a:ext cx="182880" cy="182880"/>
          </a:xfrm>
          <a:prstGeom prst="ellipse">
            <a:avLst/>
          </a:prstGeom>
          <a:solidFill>
            <a:srgbClr val="8FD4E8"/>
          </a:solidFill>
          <a:ln/>
        </p:spPr>
      </p:sp>
      <p:sp>
        <p:nvSpPr>
          <p:cNvPr id="10" name="Text 8"/>
          <p:cNvSpPr/>
          <p:nvPr/>
        </p:nvSpPr>
        <p:spPr>
          <a:xfrm>
            <a:off x="1298448" y="3858768"/>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Attributes pulled from product names: brand, size, colour</a:t>
            </a:r>
            <a:endParaRPr lang="en-US" sz="2200" dirty="0"/>
          </a:p>
        </p:txBody>
      </p:sp>
      <p:sp>
        <p:nvSpPr>
          <p:cNvPr id="11" name="Shape 9"/>
          <p:cNvSpPr/>
          <p:nvPr/>
        </p:nvSpPr>
        <p:spPr>
          <a:xfrm>
            <a:off x="877824" y="4663440"/>
            <a:ext cx="182880" cy="182880"/>
          </a:xfrm>
          <a:prstGeom prst="ellipse">
            <a:avLst/>
          </a:prstGeom>
          <a:solidFill>
            <a:srgbClr val="8FD4E8"/>
          </a:solidFill>
          <a:ln/>
        </p:spPr>
      </p:sp>
      <p:sp>
        <p:nvSpPr>
          <p:cNvPr id="12" name="Text 10"/>
          <p:cNvSpPr/>
          <p:nvPr/>
        </p:nvSpPr>
        <p:spPr>
          <a:xfrm>
            <a:off x="1298448" y="4535424"/>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Products clustered by how they actually sell, not just what they are</a:t>
            </a:r>
            <a:endParaRPr lang="en-US" sz="2200" dirty="0"/>
          </a:p>
        </p:txBody>
      </p:sp>
      <p:sp>
        <p:nvSpPr>
          <p:cNvPr id="13" name="Text 11"/>
          <p:cNvSpPr/>
          <p:nvPr/>
        </p:nvSpPr>
        <p:spPr>
          <a:xfrm>
            <a:off x="822960" y="6144768"/>
            <a:ext cx="10607040" cy="457200"/>
          </a:xfrm>
          <a:prstGeom prst="rect">
            <a:avLst/>
          </a:prstGeom>
          <a:noFill/>
          <a:ln/>
        </p:spPr>
        <p:txBody>
          <a:bodyPr wrap="square" lIns="0" tIns="0" rIns="0" bIns="0" rtlCol="0" anchor="ctr"/>
          <a:lstStyle/>
          <a:p>
            <a:pPr indent="0" marL="0">
              <a:lnSpc>
                <a:spcPts val="1800"/>
              </a:lnSpc>
              <a:buNone/>
            </a:pPr>
            <a:r>
              <a:rPr lang="en-US" sz="1300" i="1" dirty="0">
                <a:solidFill>
                  <a:srgbClr val="8FA8BE"/>
                </a:solidFill>
                <a:latin typeface="Calibri" pitchFamily="34" charset="0"/>
                <a:ea typeface="Calibri" pitchFamily="34" charset="-122"/>
                <a:cs typeface="Calibri" pitchFamily="34" charset="-120"/>
              </a:rPr>
              <a:t>Look-alike products that sell nothing alike don’t share a forecast — I’ll show why on screen.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PRODUCTS TAB</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Every product gets the method its data can support</a:t>
            </a:r>
            <a:endParaRPr lang="en-US" sz="3200" dirty="0"/>
          </a:p>
        </p:txBody>
      </p:sp>
      <p:sp>
        <p:nvSpPr>
          <p:cNvPr id="4" name="Text 2"/>
          <p:cNvSpPr/>
          <p:nvPr/>
        </p:nvSpPr>
        <p:spPr>
          <a:xfrm>
            <a:off x="640080" y="1481328"/>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Rather than one algorithm for the whole catalog, each product is judged on how much history it has and how many similar products it can learn from — then routed.</a:t>
            </a:r>
            <a:endParaRPr lang="en-US" sz="1350" dirty="0"/>
          </a:p>
        </p:txBody>
      </p:sp>
      <p:sp>
        <p:nvSpPr>
          <p:cNvPr id="5" name="Shape 3"/>
          <p:cNvSpPr/>
          <p:nvPr/>
        </p:nvSpPr>
        <p:spPr>
          <a:xfrm>
            <a:off x="640080" y="2029968"/>
            <a:ext cx="6492240" cy="566928"/>
          </a:xfrm>
          <a:prstGeom prst="roundRect">
            <a:avLst>
              <a:gd name="adj" fmla="val 14516"/>
            </a:avLst>
          </a:prstGeom>
          <a:solidFill>
            <a:srgbClr val="EDF3F7"/>
          </a:solidFill>
          <a:ln w="12700">
            <a:solidFill>
              <a:srgbClr val="EDF3F7"/>
            </a:solidFill>
            <a:prstDash val="solid"/>
          </a:ln>
        </p:spPr>
      </p:sp>
      <p:sp>
        <p:nvSpPr>
          <p:cNvPr id="6" name="Text 4"/>
          <p:cNvSpPr/>
          <p:nvPr/>
        </p:nvSpPr>
        <p:spPr>
          <a:xfrm>
            <a:off x="896112" y="2029968"/>
            <a:ext cx="4114800" cy="566928"/>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Long history, sells steadily</a:t>
            </a:r>
            <a:endParaRPr lang="en-US" sz="1250" dirty="0"/>
          </a:p>
        </p:txBody>
      </p:sp>
      <p:sp>
        <p:nvSpPr>
          <p:cNvPr id="7" name="Shape 5"/>
          <p:cNvSpPr/>
          <p:nvPr/>
        </p:nvSpPr>
        <p:spPr>
          <a:xfrm>
            <a:off x="5166360" y="2139696"/>
            <a:ext cx="1691640" cy="347472"/>
          </a:xfrm>
          <a:prstGeom prst="roundRect">
            <a:avLst>
              <a:gd name="adj" fmla="val 50000"/>
            </a:avLst>
          </a:prstGeom>
          <a:solidFill>
            <a:srgbClr val="065A82"/>
          </a:solidFill>
          <a:ln w="12700">
            <a:solidFill>
              <a:srgbClr val="065A82"/>
            </a:solidFill>
            <a:prstDash val="solid"/>
          </a:ln>
        </p:spPr>
      </p:sp>
      <p:sp>
        <p:nvSpPr>
          <p:cNvPr id="8" name="Text 6"/>
          <p:cNvSpPr/>
          <p:nvPr/>
        </p:nvSpPr>
        <p:spPr>
          <a:xfrm>
            <a:off x="5166360" y="2139696"/>
            <a:ext cx="16916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Prophet</a:t>
            </a:r>
            <a:endParaRPr lang="en-US" sz="1100" dirty="0"/>
          </a:p>
        </p:txBody>
      </p:sp>
      <p:sp>
        <p:nvSpPr>
          <p:cNvPr id="9" name="Shape 7"/>
          <p:cNvSpPr/>
          <p:nvPr/>
        </p:nvSpPr>
        <p:spPr>
          <a:xfrm>
            <a:off x="640080" y="2688336"/>
            <a:ext cx="6492240" cy="566928"/>
          </a:xfrm>
          <a:prstGeom prst="roundRect">
            <a:avLst>
              <a:gd name="adj" fmla="val 14516"/>
            </a:avLst>
          </a:prstGeom>
          <a:solidFill>
            <a:srgbClr val="EDF3F7"/>
          </a:solidFill>
          <a:ln w="12700">
            <a:solidFill>
              <a:srgbClr val="EDF3F7"/>
            </a:solidFill>
            <a:prstDash val="solid"/>
          </a:ln>
        </p:spPr>
      </p:sp>
      <p:sp>
        <p:nvSpPr>
          <p:cNvPr id="10" name="Text 8"/>
          <p:cNvSpPr/>
          <p:nvPr/>
        </p:nvSpPr>
        <p:spPr>
          <a:xfrm>
            <a:off x="896112" y="2688336"/>
            <a:ext cx="4114800" cy="566928"/>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Sells in bursts, has its own track record</a:t>
            </a:r>
            <a:endParaRPr lang="en-US" sz="1250" dirty="0"/>
          </a:p>
        </p:txBody>
      </p:sp>
      <p:sp>
        <p:nvSpPr>
          <p:cNvPr id="11" name="Shape 9"/>
          <p:cNvSpPr/>
          <p:nvPr/>
        </p:nvSpPr>
        <p:spPr>
          <a:xfrm>
            <a:off x="5166360" y="2798064"/>
            <a:ext cx="1691640" cy="347472"/>
          </a:xfrm>
          <a:prstGeom prst="roundRect">
            <a:avLst>
              <a:gd name="adj" fmla="val 50000"/>
            </a:avLst>
          </a:prstGeom>
          <a:solidFill>
            <a:srgbClr val="1C7293"/>
          </a:solidFill>
          <a:ln w="12700">
            <a:solidFill>
              <a:srgbClr val="1C7293"/>
            </a:solidFill>
            <a:prstDash val="solid"/>
          </a:ln>
        </p:spPr>
      </p:sp>
      <p:sp>
        <p:nvSpPr>
          <p:cNvPr id="12" name="Text 10"/>
          <p:cNvSpPr/>
          <p:nvPr/>
        </p:nvSpPr>
        <p:spPr>
          <a:xfrm>
            <a:off x="5166360" y="2798064"/>
            <a:ext cx="16916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Croston / TSB</a:t>
            </a:r>
            <a:endParaRPr lang="en-US" sz="1100" dirty="0"/>
          </a:p>
        </p:txBody>
      </p:sp>
      <p:sp>
        <p:nvSpPr>
          <p:cNvPr id="13" name="Shape 11"/>
          <p:cNvSpPr/>
          <p:nvPr/>
        </p:nvSpPr>
        <p:spPr>
          <a:xfrm>
            <a:off x="640080" y="3346704"/>
            <a:ext cx="6492240" cy="566928"/>
          </a:xfrm>
          <a:prstGeom prst="roundRect">
            <a:avLst>
              <a:gd name="adj" fmla="val 14516"/>
            </a:avLst>
          </a:prstGeom>
          <a:solidFill>
            <a:srgbClr val="EDF3F7"/>
          </a:solidFill>
          <a:ln w="12700">
            <a:solidFill>
              <a:srgbClr val="EDF3F7"/>
            </a:solidFill>
            <a:prstDash val="solid"/>
          </a:ln>
        </p:spPr>
      </p:sp>
      <p:sp>
        <p:nvSpPr>
          <p:cNvPr id="14" name="Text 12"/>
          <p:cNvSpPr/>
          <p:nvPr/>
        </p:nvSpPr>
        <p:spPr>
          <a:xfrm>
            <a:off x="896112" y="3346704"/>
            <a:ext cx="4114800" cy="566928"/>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New or thin, with similar products to learn from</a:t>
            </a:r>
            <a:endParaRPr lang="en-US" sz="1250" dirty="0"/>
          </a:p>
        </p:txBody>
      </p:sp>
      <p:sp>
        <p:nvSpPr>
          <p:cNvPr id="15" name="Shape 13"/>
          <p:cNvSpPr/>
          <p:nvPr/>
        </p:nvSpPr>
        <p:spPr>
          <a:xfrm>
            <a:off x="5166360" y="3456432"/>
            <a:ext cx="1691640" cy="347472"/>
          </a:xfrm>
          <a:prstGeom prst="roundRect">
            <a:avLst>
              <a:gd name="adj" fmla="val 50000"/>
            </a:avLst>
          </a:prstGeom>
          <a:solidFill>
            <a:srgbClr val="065A82"/>
          </a:solidFill>
          <a:ln w="12700">
            <a:solidFill>
              <a:srgbClr val="065A82"/>
            </a:solidFill>
            <a:prstDash val="solid"/>
          </a:ln>
        </p:spPr>
      </p:sp>
      <p:sp>
        <p:nvSpPr>
          <p:cNvPr id="16" name="Text 14"/>
          <p:cNvSpPr/>
          <p:nvPr/>
        </p:nvSpPr>
        <p:spPr>
          <a:xfrm>
            <a:off x="5166360" y="3456432"/>
            <a:ext cx="16916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Global pooled</a:t>
            </a:r>
            <a:endParaRPr lang="en-US" sz="1100" dirty="0"/>
          </a:p>
        </p:txBody>
      </p:sp>
      <p:sp>
        <p:nvSpPr>
          <p:cNvPr id="17" name="Shape 15"/>
          <p:cNvSpPr/>
          <p:nvPr/>
        </p:nvSpPr>
        <p:spPr>
          <a:xfrm>
            <a:off x="640080" y="4005072"/>
            <a:ext cx="6492240" cy="566928"/>
          </a:xfrm>
          <a:prstGeom prst="roundRect">
            <a:avLst>
              <a:gd name="adj" fmla="val 14516"/>
            </a:avLst>
          </a:prstGeom>
          <a:solidFill>
            <a:srgbClr val="EDF3F7"/>
          </a:solidFill>
          <a:ln w="12700">
            <a:solidFill>
              <a:srgbClr val="EDF3F7"/>
            </a:solidFill>
            <a:prstDash val="solid"/>
          </a:ln>
        </p:spPr>
      </p:sp>
      <p:sp>
        <p:nvSpPr>
          <p:cNvPr id="18" name="Text 16"/>
          <p:cNvSpPr/>
          <p:nvPr/>
        </p:nvSpPr>
        <p:spPr>
          <a:xfrm>
            <a:off x="896112" y="4005072"/>
            <a:ext cx="4114800" cy="566928"/>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Sells in bursts, nothing similar to learn from</a:t>
            </a:r>
            <a:endParaRPr lang="en-US" sz="1250" dirty="0"/>
          </a:p>
        </p:txBody>
      </p:sp>
      <p:sp>
        <p:nvSpPr>
          <p:cNvPr id="19" name="Shape 17"/>
          <p:cNvSpPr/>
          <p:nvPr/>
        </p:nvSpPr>
        <p:spPr>
          <a:xfrm>
            <a:off x="5166360" y="4114800"/>
            <a:ext cx="1691640" cy="347472"/>
          </a:xfrm>
          <a:prstGeom prst="roundRect">
            <a:avLst>
              <a:gd name="adj" fmla="val 50000"/>
            </a:avLst>
          </a:prstGeom>
          <a:solidFill>
            <a:srgbClr val="1C7293"/>
          </a:solidFill>
          <a:ln w="12700">
            <a:solidFill>
              <a:srgbClr val="1C7293"/>
            </a:solidFill>
            <a:prstDash val="solid"/>
          </a:ln>
        </p:spPr>
      </p:sp>
      <p:sp>
        <p:nvSpPr>
          <p:cNvPr id="20" name="Text 18"/>
          <p:cNvSpPr/>
          <p:nvPr/>
        </p:nvSpPr>
        <p:spPr>
          <a:xfrm>
            <a:off x="5166360" y="4114800"/>
            <a:ext cx="16916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Croston / TSB</a:t>
            </a:r>
            <a:endParaRPr lang="en-US" sz="1100" dirty="0"/>
          </a:p>
        </p:txBody>
      </p:sp>
      <p:sp>
        <p:nvSpPr>
          <p:cNvPr id="21" name="Shape 19"/>
          <p:cNvSpPr/>
          <p:nvPr/>
        </p:nvSpPr>
        <p:spPr>
          <a:xfrm>
            <a:off x="640080" y="4663440"/>
            <a:ext cx="6492240" cy="566928"/>
          </a:xfrm>
          <a:prstGeom prst="roundRect">
            <a:avLst>
              <a:gd name="adj" fmla="val 14516"/>
            </a:avLst>
          </a:prstGeom>
          <a:solidFill>
            <a:srgbClr val="EDF3F7"/>
          </a:solidFill>
          <a:ln w="12700">
            <a:solidFill>
              <a:srgbClr val="EDF3F7"/>
            </a:solidFill>
            <a:prstDash val="solid"/>
          </a:ln>
        </p:spPr>
      </p:sp>
      <p:sp>
        <p:nvSpPr>
          <p:cNvPr id="22" name="Text 20"/>
          <p:cNvSpPr/>
          <p:nvPr/>
        </p:nvSpPr>
        <p:spPr>
          <a:xfrm>
            <a:off x="896112" y="4663440"/>
            <a:ext cx="4114800" cy="566928"/>
          </a:xfrm>
          <a:prstGeom prst="rect">
            <a:avLst/>
          </a:prstGeom>
          <a:noFill/>
          <a:ln/>
        </p:spPr>
        <p:txBody>
          <a:bodyPr wrap="square" lIns="0" tIns="0" rIns="0" bIns="0" rtlCol="0" anchor="ctr"/>
          <a:lstStyle/>
          <a:p>
            <a:pPr indent="0" marL="0">
              <a:buNone/>
            </a:pPr>
            <a:r>
              <a:rPr lang="en-US" sz="1250" dirty="0">
                <a:solidFill>
                  <a:srgbClr val="17202B"/>
                </a:solidFill>
                <a:latin typeface="Calibri" pitchFamily="34" charset="0"/>
                <a:ea typeface="Calibri" pitchFamily="34" charset="-122"/>
                <a:cs typeface="Calibri" pitchFamily="34" charset="-120"/>
              </a:rPr>
              <a:t>Too little history for any of the above</a:t>
            </a:r>
            <a:endParaRPr lang="en-US" sz="1250" dirty="0"/>
          </a:p>
        </p:txBody>
      </p:sp>
      <p:sp>
        <p:nvSpPr>
          <p:cNvPr id="23" name="Shape 21"/>
          <p:cNvSpPr/>
          <p:nvPr/>
        </p:nvSpPr>
        <p:spPr>
          <a:xfrm>
            <a:off x="5166360" y="4773168"/>
            <a:ext cx="1691640" cy="347472"/>
          </a:xfrm>
          <a:prstGeom prst="roundRect">
            <a:avLst>
              <a:gd name="adj" fmla="val 50000"/>
            </a:avLst>
          </a:prstGeom>
          <a:solidFill>
            <a:srgbClr val="B06A12"/>
          </a:solidFill>
          <a:ln w="12700">
            <a:solidFill>
              <a:srgbClr val="B06A12"/>
            </a:solidFill>
            <a:prstDash val="solid"/>
          </a:ln>
        </p:spPr>
      </p:sp>
      <p:sp>
        <p:nvSpPr>
          <p:cNvPr id="24" name="Text 22"/>
          <p:cNvSpPr/>
          <p:nvPr/>
        </p:nvSpPr>
        <p:spPr>
          <a:xfrm>
            <a:off x="5166360" y="4773168"/>
            <a:ext cx="16916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Abstain</a:t>
            </a:r>
            <a:endParaRPr lang="en-US" sz="1100" dirty="0"/>
          </a:p>
        </p:txBody>
      </p:sp>
      <p:sp>
        <p:nvSpPr>
          <p:cNvPr id="25" name="Shape 23"/>
          <p:cNvSpPr/>
          <p:nvPr/>
        </p:nvSpPr>
        <p:spPr>
          <a:xfrm>
            <a:off x="7406640" y="2029968"/>
            <a:ext cx="4142232" cy="786384"/>
          </a:xfrm>
          <a:prstGeom prst="roundRect">
            <a:avLst>
              <a:gd name="adj" fmla="val 10465"/>
            </a:avLst>
          </a:prstGeom>
          <a:solidFill>
            <a:srgbClr val="EDF3F7"/>
          </a:solidFill>
          <a:ln w="12700">
            <a:solidFill>
              <a:srgbClr val="EDF3F7"/>
            </a:solidFill>
            <a:prstDash val="solid"/>
          </a:ln>
        </p:spPr>
      </p:sp>
      <p:sp>
        <p:nvSpPr>
          <p:cNvPr id="26" name="Text 24"/>
          <p:cNvSpPr/>
          <p:nvPr/>
        </p:nvSpPr>
        <p:spPr>
          <a:xfrm>
            <a:off x="7662672" y="2121408"/>
            <a:ext cx="3657600" cy="237744"/>
          </a:xfrm>
          <a:prstGeom prst="rect">
            <a:avLst/>
          </a:prstGeom>
          <a:noFill/>
          <a:ln/>
        </p:spPr>
        <p:txBody>
          <a:bodyPr wrap="square" lIns="0" tIns="0" rIns="0" bIns="0" rtlCol="0" anchor="t"/>
          <a:lstStyle/>
          <a:p>
            <a:pPr indent="0" marL="0">
              <a:buNone/>
            </a:pPr>
            <a:r>
              <a:rPr lang="en-US" sz="1300" b="1" dirty="0">
                <a:solidFill>
                  <a:srgbClr val="065A82"/>
                </a:solidFill>
                <a:latin typeface="Calibri" pitchFamily="34" charset="0"/>
                <a:ea typeface="Calibri" pitchFamily="34" charset="-122"/>
                <a:cs typeface="Calibri" pitchFamily="34" charset="-120"/>
              </a:rPr>
              <a:t>Prophet</a:t>
            </a:r>
            <a:endParaRPr lang="en-US" sz="1300" dirty="0"/>
          </a:p>
        </p:txBody>
      </p:sp>
      <p:sp>
        <p:nvSpPr>
          <p:cNvPr id="27" name="Text 25"/>
          <p:cNvSpPr/>
          <p:nvPr/>
        </p:nvSpPr>
        <p:spPr>
          <a:xfrm>
            <a:off x="7662672" y="2368296"/>
            <a:ext cx="3657600" cy="411480"/>
          </a:xfrm>
          <a:prstGeom prst="rect">
            <a:avLst/>
          </a:prstGeom>
          <a:noFill/>
          <a:ln/>
        </p:spPr>
        <p:txBody>
          <a:bodyPr wrap="square" lIns="0" tIns="0" rIns="0" bIns="0" rtlCol="0" anchor="t"/>
          <a:lstStyle/>
          <a:p>
            <a:pPr indent="0" marL="0">
              <a:lnSpc>
                <a:spcPts val="1400"/>
              </a:lnSpc>
              <a:buNone/>
            </a:pPr>
            <a:r>
              <a:rPr lang="en-US" sz="1100" dirty="0">
                <a:solidFill>
                  <a:srgbClr val="5A6A78"/>
                </a:solidFill>
                <a:latin typeface="Calibri" pitchFamily="34" charset="0"/>
                <a:ea typeface="Calibri" pitchFamily="34" charset="-122"/>
                <a:cs typeface="Calibri" pitchFamily="34" charset="-120"/>
              </a:rPr>
              <a:t>Learns the product's own weekly and yearly rhythm, and responds to price and promotions.</a:t>
            </a:r>
            <a:endParaRPr lang="en-US" sz="1100" dirty="0"/>
          </a:p>
        </p:txBody>
      </p:sp>
      <p:sp>
        <p:nvSpPr>
          <p:cNvPr id="28" name="Shape 26"/>
          <p:cNvSpPr/>
          <p:nvPr/>
        </p:nvSpPr>
        <p:spPr>
          <a:xfrm>
            <a:off x="7406640" y="2889504"/>
            <a:ext cx="4142232" cy="786384"/>
          </a:xfrm>
          <a:prstGeom prst="roundRect">
            <a:avLst>
              <a:gd name="adj" fmla="val 10465"/>
            </a:avLst>
          </a:prstGeom>
          <a:solidFill>
            <a:srgbClr val="EDF3F7"/>
          </a:solidFill>
          <a:ln w="12700">
            <a:solidFill>
              <a:srgbClr val="EDF3F7"/>
            </a:solidFill>
            <a:prstDash val="solid"/>
          </a:ln>
        </p:spPr>
      </p:sp>
      <p:sp>
        <p:nvSpPr>
          <p:cNvPr id="29" name="Text 27"/>
          <p:cNvSpPr/>
          <p:nvPr/>
        </p:nvSpPr>
        <p:spPr>
          <a:xfrm>
            <a:off x="7662672" y="2980944"/>
            <a:ext cx="3657600" cy="237744"/>
          </a:xfrm>
          <a:prstGeom prst="rect">
            <a:avLst/>
          </a:prstGeom>
          <a:noFill/>
          <a:ln/>
        </p:spPr>
        <p:txBody>
          <a:bodyPr wrap="square" lIns="0" tIns="0" rIns="0" bIns="0" rtlCol="0" anchor="t"/>
          <a:lstStyle/>
          <a:p>
            <a:pPr indent="0" marL="0">
              <a:buNone/>
            </a:pPr>
            <a:r>
              <a:rPr lang="en-US" sz="1300" b="1" dirty="0">
                <a:solidFill>
                  <a:srgbClr val="1C7293"/>
                </a:solidFill>
                <a:latin typeface="Calibri" pitchFamily="34" charset="0"/>
                <a:ea typeface="Calibri" pitchFamily="34" charset="-122"/>
                <a:cs typeface="Calibri" pitchFamily="34" charset="-120"/>
              </a:rPr>
              <a:t>Global pooled</a:t>
            </a:r>
            <a:endParaRPr lang="en-US" sz="1300" dirty="0"/>
          </a:p>
        </p:txBody>
      </p:sp>
      <p:sp>
        <p:nvSpPr>
          <p:cNvPr id="30" name="Text 28"/>
          <p:cNvSpPr/>
          <p:nvPr/>
        </p:nvSpPr>
        <p:spPr>
          <a:xfrm>
            <a:off x="7662672" y="3227832"/>
            <a:ext cx="3657600" cy="411480"/>
          </a:xfrm>
          <a:prstGeom prst="rect">
            <a:avLst/>
          </a:prstGeom>
          <a:noFill/>
          <a:ln/>
        </p:spPr>
        <p:txBody>
          <a:bodyPr wrap="square" lIns="0" tIns="0" rIns="0" bIns="0" rtlCol="0" anchor="t"/>
          <a:lstStyle/>
          <a:p>
            <a:pPr indent="0" marL="0">
              <a:lnSpc>
                <a:spcPts val="1400"/>
              </a:lnSpc>
              <a:buNone/>
            </a:pPr>
            <a:r>
              <a:rPr lang="en-US" sz="1100" dirty="0">
                <a:solidFill>
                  <a:srgbClr val="5A6A78"/>
                </a:solidFill>
                <a:latin typeface="Calibri" pitchFamily="34" charset="0"/>
                <a:ea typeface="Calibri" pitchFamily="34" charset="-122"/>
                <a:cs typeface="Calibri" pitchFamily="34" charset="-120"/>
              </a:rPr>
              <a:t>Borrows the seasonal shape from its cluster; sets volume from the product's own recent sales.</a:t>
            </a:r>
            <a:endParaRPr lang="en-US" sz="1100" dirty="0"/>
          </a:p>
        </p:txBody>
      </p:sp>
      <p:sp>
        <p:nvSpPr>
          <p:cNvPr id="31" name="Shape 29"/>
          <p:cNvSpPr/>
          <p:nvPr/>
        </p:nvSpPr>
        <p:spPr>
          <a:xfrm>
            <a:off x="7406640" y="3749040"/>
            <a:ext cx="4142232" cy="786384"/>
          </a:xfrm>
          <a:prstGeom prst="roundRect">
            <a:avLst>
              <a:gd name="adj" fmla="val 10465"/>
            </a:avLst>
          </a:prstGeom>
          <a:solidFill>
            <a:srgbClr val="EDF3F7"/>
          </a:solidFill>
          <a:ln w="12700">
            <a:solidFill>
              <a:srgbClr val="EDF3F7"/>
            </a:solidFill>
            <a:prstDash val="solid"/>
          </a:ln>
        </p:spPr>
      </p:sp>
      <p:sp>
        <p:nvSpPr>
          <p:cNvPr id="32" name="Text 30"/>
          <p:cNvSpPr/>
          <p:nvPr/>
        </p:nvSpPr>
        <p:spPr>
          <a:xfrm>
            <a:off x="7662672" y="3840480"/>
            <a:ext cx="3657600" cy="237744"/>
          </a:xfrm>
          <a:prstGeom prst="rect">
            <a:avLst/>
          </a:prstGeom>
          <a:noFill/>
          <a:ln/>
        </p:spPr>
        <p:txBody>
          <a:bodyPr wrap="square" lIns="0" tIns="0" rIns="0" bIns="0" rtlCol="0" anchor="t"/>
          <a:lstStyle/>
          <a:p>
            <a:pPr indent="0" marL="0">
              <a:buNone/>
            </a:pPr>
            <a:r>
              <a:rPr lang="en-US" sz="1300" b="1" dirty="0">
                <a:solidFill>
                  <a:srgbClr val="065A82"/>
                </a:solidFill>
                <a:latin typeface="Calibri" pitchFamily="34" charset="0"/>
                <a:ea typeface="Calibri" pitchFamily="34" charset="-122"/>
                <a:cs typeface="Calibri" pitchFamily="34" charset="-120"/>
              </a:rPr>
              <a:t>Croston / TSB</a:t>
            </a:r>
            <a:endParaRPr lang="en-US" sz="1300" dirty="0"/>
          </a:p>
        </p:txBody>
      </p:sp>
      <p:sp>
        <p:nvSpPr>
          <p:cNvPr id="33" name="Text 31"/>
          <p:cNvSpPr/>
          <p:nvPr/>
        </p:nvSpPr>
        <p:spPr>
          <a:xfrm>
            <a:off x="7662672" y="4087368"/>
            <a:ext cx="3657600" cy="411480"/>
          </a:xfrm>
          <a:prstGeom prst="rect">
            <a:avLst/>
          </a:prstGeom>
          <a:noFill/>
          <a:ln/>
        </p:spPr>
        <p:txBody>
          <a:bodyPr wrap="square" lIns="0" tIns="0" rIns="0" bIns="0" rtlCol="0" anchor="t"/>
          <a:lstStyle/>
          <a:p>
            <a:pPr indent="0" marL="0">
              <a:lnSpc>
                <a:spcPts val="1400"/>
              </a:lnSpc>
              <a:buNone/>
            </a:pPr>
            <a:r>
              <a:rPr lang="en-US" sz="1100" dirty="0">
                <a:solidFill>
                  <a:srgbClr val="5A6A78"/>
                </a:solidFill>
                <a:latin typeface="Calibri" pitchFamily="34" charset="0"/>
                <a:ea typeface="Calibri" pitchFamily="34" charset="-122"/>
                <a:cs typeface="Calibri" pitchFamily="34" charset="-120"/>
              </a:rPr>
              <a:t>Forecasts sale size and sale frequency separately, so long gaps of zeros do not read as dead.</a:t>
            </a:r>
            <a:endParaRPr lang="en-US" sz="1100" dirty="0"/>
          </a:p>
        </p:txBody>
      </p:sp>
      <p:sp>
        <p:nvSpPr>
          <p:cNvPr id="34" name="Shape 32"/>
          <p:cNvSpPr/>
          <p:nvPr/>
        </p:nvSpPr>
        <p:spPr>
          <a:xfrm>
            <a:off x="7406640" y="4608576"/>
            <a:ext cx="4142232" cy="786384"/>
          </a:xfrm>
          <a:prstGeom prst="roundRect">
            <a:avLst>
              <a:gd name="adj" fmla="val 10465"/>
            </a:avLst>
          </a:prstGeom>
          <a:solidFill>
            <a:srgbClr val="EDF3F7"/>
          </a:solidFill>
          <a:ln w="12700">
            <a:solidFill>
              <a:srgbClr val="EDF3F7"/>
            </a:solidFill>
            <a:prstDash val="solid"/>
          </a:ln>
        </p:spPr>
      </p:sp>
      <p:sp>
        <p:nvSpPr>
          <p:cNvPr id="35" name="Text 33"/>
          <p:cNvSpPr/>
          <p:nvPr/>
        </p:nvSpPr>
        <p:spPr>
          <a:xfrm>
            <a:off x="7662672" y="4700016"/>
            <a:ext cx="3657600" cy="237744"/>
          </a:xfrm>
          <a:prstGeom prst="rect">
            <a:avLst/>
          </a:prstGeom>
          <a:noFill/>
          <a:ln/>
        </p:spPr>
        <p:txBody>
          <a:bodyPr wrap="square" lIns="0" tIns="0" rIns="0" bIns="0" rtlCol="0" anchor="t"/>
          <a:lstStyle/>
          <a:p>
            <a:pPr indent="0" marL="0">
              <a:buNone/>
            </a:pPr>
            <a:r>
              <a:rPr lang="en-US" sz="1300" b="1" dirty="0">
                <a:solidFill>
                  <a:srgbClr val="B06A12"/>
                </a:solidFill>
                <a:latin typeface="Calibri" pitchFamily="34" charset="0"/>
                <a:ea typeface="Calibri" pitchFamily="34" charset="-122"/>
                <a:cs typeface="Calibri" pitchFamily="34" charset="-120"/>
              </a:rPr>
              <a:t>Abstain</a:t>
            </a:r>
            <a:endParaRPr lang="en-US" sz="1300" dirty="0"/>
          </a:p>
        </p:txBody>
      </p:sp>
      <p:sp>
        <p:nvSpPr>
          <p:cNvPr id="36" name="Text 34"/>
          <p:cNvSpPr/>
          <p:nvPr/>
        </p:nvSpPr>
        <p:spPr>
          <a:xfrm>
            <a:off x="7662672" y="4946904"/>
            <a:ext cx="3657600" cy="411480"/>
          </a:xfrm>
          <a:prstGeom prst="rect">
            <a:avLst/>
          </a:prstGeom>
          <a:noFill/>
          <a:ln/>
        </p:spPr>
        <p:txBody>
          <a:bodyPr wrap="square" lIns="0" tIns="0" rIns="0" bIns="0" rtlCol="0" anchor="t"/>
          <a:lstStyle/>
          <a:p>
            <a:pPr indent="0" marL="0">
              <a:lnSpc>
                <a:spcPts val="1400"/>
              </a:lnSpc>
              <a:buNone/>
            </a:pPr>
            <a:r>
              <a:rPr lang="en-US" sz="1100" dirty="0">
                <a:solidFill>
                  <a:srgbClr val="5A6A78"/>
                </a:solidFill>
                <a:latin typeface="Calibri" pitchFamily="34" charset="0"/>
                <a:ea typeface="Calibri" pitchFamily="34" charset="-122"/>
                <a:cs typeface="Calibri" pitchFamily="34" charset="-120"/>
              </a:rPr>
              <a:t>A flat recent average, openly marked low confidence rather than dressed up as a forecast.</a:t>
            </a:r>
            <a:endParaRPr lang="en-US" sz="1100" dirty="0"/>
          </a:p>
        </p:txBody>
      </p:sp>
      <p:sp>
        <p:nvSpPr>
          <p:cNvPr id="37" name="Shape 35"/>
          <p:cNvSpPr/>
          <p:nvPr/>
        </p:nvSpPr>
        <p:spPr>
          <a:xfrm>
            <a:off x="640080" y="5486400"/>
            <a:ext cx="10908792" cy="1005840"/>
          </a:xfrm>
          <a:prstGeom prst="roundRect">
            <a:avLst>
              <a:gd name="adj" fmla="val 8182"/>
            </a:avLst>
          </a:prstGeom>
          <a:solidFill>
            <a:srgbClr val="21295C"/>
          </a:solidFill>
          <a:ln w="12700">
            <a:solidFill>
              <a:srgbClr val="21295C"/>
            </a:solidFill>
            <a:prstDash val="solid"/>
          </a:ln>
        </p:spPr>
      </p:sp>
      <p:sp>
        <p:nvSpPr>
          <p:cNvPr id="38" name="Text 36"/>
          <p:cNvSpPr/>
          <p:nvPr/>
        </p:nvSpPr>
        <p:spPr>
          <a:xfrm>
            <a:off x="960120" y="5641848"/>
            <a:ext cx="3657600" cy="274320"/>
          </a:xfrm>
          <a:prstGeom prst="rect">
            <a:avLst/>
          </a:prstGeom>
          <a:noFill/>
          <a:ln/>
        </p:spPr>
        <p:txBody>
          <a:bodyPr wrap="square" lIns="0" tIns="0" rIns="0" bIns="0" rtlCol="0" anchor="ctr"/>
          <a:lstStyle/>
          <a:p>
            <a:pPr indent="0" marL="0">
              <a:buNone/>
            </a:pPr>
            <a:r>
              <a:rPr lang="en-US" sz="1300" b="1" spc="120" kern="0" dirty="0">
                <a:solidFill>
                  <a:srgbClr val="9FB6C9"/>
                </a:solidFill>
                <a:latin typeface="Calibri" pitchFamily="34" charset="0"/>
                <a:ea typeface="Calibri" pitchFamily="34" charset="-122"/>
                <a:cs typeface="Calibri" pitchFamily="34" charset="-120"/>
              </a:rPr>
              <a:t>One consistent answer</a:t>
            </a:r>
            <a:endParaRPr lang="en-US" sz="1300" dirty="0"/>
          </a:p>
        </p:txBody>
      </p:sp>
      <p:sp>
        <p:nvSpPr>
          <p:cNvPr id="39" name="Text 37"/>
          <p:cNvSpPr/>
          <p:nvPr/>
        </p:nvSpPr>
        <p:spPr>
          <a:xfrm>
            <a:off x="960120" y="5943600"/>
            <a:ext cx="10241280" cy="457200"/>
          </a:xfrm>
          <a:prstGeom prst="rect">
            <a:avLst/>
          </a:prstGeom>
          <a:noFill/>
          <a:ln/>
        </p:spPr>
        <p:txBody>
          <a:bodyPr wrap="square" lIns="0" tIns="0" rIns="0" bIns="0" rtlCol="0" anchor="t"/>
          <a:lstStyle/>
          <a:p>
            <a:pPr indent="0" marL="0">
              <a:lnSpc>
                <a:spcPts val="1700"/>
              </a:lnSpc>
              <a:buNone/>
            </a:pPr>
            <a:r>
              <a:rPr lang="en-US" sz="1250" dirty="0">
                <a:solidFill>
                  <a:srgbClr val="C3D4E2"/>
                </a:solidFill>
                <a:latin typeface="Calibri" pitchFamily="34" charset="0"/>
                <a:ea typeface="Calibri" pitchFamily="34" charset="-122"/>
                <a:cs typeface="Calibri" pitchFamily="34" charset="-120"/>
              </a:rPr>
              <a:t>All four report uncertainty the same way — an 80% range, calculated identically — so a number means the same thing whichever method produced it. And the tool is allowed to abstain: on too little history it says so, instead of returning a confident guess.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PRODUCTS TAB</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3300" b="1" dirty="0">
                <a:solidFill>
                  <a:srgbClr val="21295C"/>
                </a:solidFill>
                <a:latin typeface="Cambria" pitchFamily="34" charset="0"/>
                <a:ea typeface="Cambria" pitchFamily="34" charset="-122"/>
                <a:cs typeface="Cambria" pitchFamily="34" charset="-120"/>
              </a:rPr>
              <a:t>What changes as a product builds up history</a:t>
            </a:r>
            <a:endParaRPr lang="en-US" sz="3300" dirty="0"/>
          </a:p>
        </p:txBody>
      </p:sp>
      <p:sp>
        <p:nvSpPr>
          <p:cNvPr id="4" name="Text 2"/>
          <p:cNvSpPr/>
          <p:nvPr/>
        </p:nvSpPr>
        <p:spPr>
          <a:xfrm>
            <a:off x="640080" y="1481328"/>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The tool loosens its guardrails and sharpens its claims in stages, as evidence accumulates.</a:t>
            </a:r>
            <a:endParaRPr lang="en-US" sz="1350" dirty="0"/>
          </a:p>
        </p:txBody>
      </p:sp>
      <p:sp>
        <p:nvSpPr>
          <p:cNvPr id="5" name="Shape 3"/>
          <p:cNvSpPr/>
          <p:nvPr/>
        </p:nvSpPr>
        <p:spPr>
          <a:xfrm>
            <a:off x="640080" y="2011680"/>
            <a:ext cx="6355080" cy="694944"/>
          </a:xfrm>
          <a:prstGeom prst="roundRect">
            <a:avLst>
              <a:gd name="adj" fmla="val 11842"/>
            </a:avLst>
          </a:prstGeom>
          <a:solidFill>
            <a:srgbClr val="EDF3F7"/>
          </a:solidFill>
          <a:ln w="12700">
            <a:solidFill>
              <a:srgbClr val="EDF3F7"/>
            </a:solidFill>
            <a:prstDash val="solid"/>
          </a:ln>
        </p:spPr>
      </p:sp>
      <p:sp>
        <p:nvSpPr>
          <p:cNvPr id="6" name="Shape 4"/>
          <p:cNvSpPr/>
          <p:nvPr/>
        </p:nvSpPr>
        <p:spPr>
          <a:xfrm>
            <a:off x="868680" y="2185416"/>
            <a:ext cx="1207008" cy="347472"/>
          </a:xfrm>
          <a:prstGeom prst="roundRect">
            <a:avLst>
              <a:gd name="adj" fmla="val 50000"/>
            </a:avLst>
          </a:prstGeom>
          <a:solidFill>
            <a:srgbClr val="065A82"/>
          </a:solidFill>
          <a:ln w="12700">
            <a:solidFill>
              <a:srgbClr val="065A82"/>
            </a:solidFill>
            <a:prstDash val="solid"/>
          </a:ln>
        </p:spPr>
      </p:sp>
      <p:sp>
        <p:nvSpPr>
          <p:cNvPr id="7" name="Text 5"/>
          <p:cNvSpPr/>
          <p:nvPr/>
        </p:nvSpPr>
        <p:spPr>
          <a:xfrm>
            <a:off x="868680" y="2185416"/>
            <a:ext cx="120700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 week</a:t>
            </a:r>
            <a:endParaRPr lang="en-US" sz="1100" dirty="0"/>
          </a:p>
        </p:txBody>
      </p:sp>
      <p:sp>
        <p:nvSpPr>
          <p:cNvPr id="8" name="Text 6"/>
          <p:cNvSpPr/>
          <p:nvPr/>
        </p:nvSpPr>
        <p:spPr>
          <a:xfrm>
            <a:off x="2240280" y="2011680"/>
            <a:ext cx="4526280" cy="694944"/>
          </a:xfrm>
          <a:prstGeom prst="rect">
            <a:avLst/>
          </a:prstGeom>
          <a:noFill/>
          <a:ln/>
        </p:spPr>
        <p:txBody>
          <a:bodyPr wrap="square" lIns="0" tIns="0" rIns="0" bIns="0" rtlCol="0" anchor="ctr"/>
          <a:lstStyle/>
          <a:p>
            <a:pPr indent="0" marL="0">
              <a:lnSpc>
                <a:spcPts val="1500"/>
              </a:lnSpc>
              <a:buNone/>
            </a:pPr>
            <a:r>
              <a:rPr lang="en-US" sz="1200" dirty="0">
                <a:solidFill>
                  <a:srgbClr val="17202B"/>
                </a:solidFill>
                <a:latin typeface="Calibri" pitchFamily="34" charset="0"/>
                <a:ea typeface="Calibri" pitchFamily="34" charset="-122"/>
                <a:cs typeface="Calibri" pitchFamily="34" charset="-120"/>
              </a:rPr>
              <a:t>A forecast is shown, but no order is recommended yet</a:t>
            </a:r>
            <a:endParaRPr lang="en-US" sz="1200" dirty="0"/>
          </a:p>
        </p:txBody>
      </p:sp>
      <p:sp>
        <p:nvSpPr>
          <p:cNvPr id="9" name="Shape 7"/>
          <p:cNvSpPr/>
          <p:nvPr/>
        </p:nvSpPr>
        <p:spPr>
          <a:xfrm>
            <a:off x="640080" y="2798064"/>
            <a:ext cx="6355080" cy="694944"/>
          </a:xfrm>
          <a:prstGeom prst="roundRect">
            <a:avLst>
              <a:gd name="adj" fmla="val 11842"/>
            </a:avLst>
          </a:prstGeom>
          <a:solidFill>
            <a:srgbClr val="EDF3F7"/>
          </a:solidFill>
          <a:ln w="12700">
            <a:solidFill>
              <a:srgbClr val="EDF3F7"/>
            </a:solidFill>
            <a:prstDash val="solid"/>
          </a:ln>
        </p:spPr>
      </p:sp>
      <p:sp>
        <p:nvSpPr>
          <p:cNvPr id="10" name="Shape 8"/>
          <p:cNvSpPr/>
          <p:nvPr/>
        </p:nvSpPr>
        <p:spPr>
          <a:xfrm>
            <a:off x="868680" y="2971800"/>
            <a:ext cx="1207008" cy="347472"/>
          </a:xfrm>
          <a:prstGeom prst="roundRect">
            <a:avLst>
              <a:gd name="adj" fmla="val 50000"/>
            </a:avLst>
          </a:prstGeom>
          <a:solidFill>
            <a:srgbClr val="1C7293"/>
          </a:solidFill>
          <a:ln w="12700">
            <a:solidFill>
              <a:srgbClr val="1C7293"/>
            </a:solidFill>
            <a:prstDash val="solid"/>
          </a:ln>
        </p:spPr>
      </p:sp>
      <p:sp>
        <p:nvSpPr>
          <p:cNvPr id="11" name="Text 9"/>
          <p:cNvSpPr/>
          <p:nvPr/>
        </p:nvSpPr>
        <p:spPr>
          <a:xfrm>
            <a:off x="868680" y="2971800"/>
            <a:ext cx="120700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weeks</a:t>
            </a:r>
            <a:endParaRPr lang="en-US" sz="1100" dirty="0"/>
          </a:p>
        </p:txBody>
      </p:sp>
      <p:sp>
        <p:nvSpPr>
          <p:cNvPr id="12" name="Text 10"/>
          <p:cNvSpPr/>
          <p:nvPr/>
        </p:nvSpPr>
        <p:spPr>
          <a:xfrm>
            <a:off x="2240280" y="2798064"/>
            <a:ext cx="4526280" cy="694944"/>
          </a:xfrm>
          <a:prstGeom prst="rect">
            <a:avLst/>
          </a:prstGeom>
          <a:noFill/>
          <a:ln/>
        </p:spPr>
        <p:txBody>
          <a:bodyPr wrap="square" lIns="0" tIns="0" rIns="0" bIns="0" rtlCol="0" anchor="ctr"/>
          <a:lstStyle/>
          <a:p>
            <a:pPr indent="0" marL="0">
              <a:lnSpc>
                <a:spcPts val="1500"/>
              </a:lnSpc>
              <a:buNone/>
            </a:pPr>
            <a:r>
              <a:rPr lang="en-US" sz="1200" dirty="0">
                <a:solidFill>
                  <a:srgbClr val="17202B"/>
                </a:solidFill>
                <a:latin typeface="Calibri" pitchFamily="34" charset="0"/>
                <a:ea typeface="Calibri" pitchFamily="34" charset="-122"/>
                <a:cs typeface="Calibri" pitchFamily="34" charset="-120"/>
              </a:rPr>
              <a:t>Orders begin — capped near six weeks of cover, with the range widened 40%</a:t>
            </a:r>
            <a:endParaRPr lang="en-US" sz="1200" dirty="0"/>
          </a:p>
        </p:txBody>
      </p:sp>
      <p:sp>
        <p:nvSpPr>
          <p:cNvPr id="13" name="Shape 11"/>
          <p:cNvSpPr/>
          <p:nvPr/>
        </p:nvSpPr>
        <p:spPr>
          <a:xfrm>
            <a:off x="640080" y="3584448"/>
            <a:ext cx="6355080" cy="694944"/>
          </a:xfrm>
          <a:prstGeom prst="roundRect">
            <a:avLst>
              <a:gd name="adj" fmla="val 11842"/>
            </a:avLst>
          </a:prstGeom>
          <a:solidFill>
            <a:srgbClr val="EDF3F7"/>
          </a:solidFill>
          <a:ln w="12700">
            <a:solidFill>
              <a:srgbClr val="EDF3F7"/>
            </a:solidFill>
            <a:prstDash val="solid"/>
          </a:ln>
        </p:spPr>
      </p:sp>
      <p:sp>
        <p:nvSpPr>
          <p:cNvPr id="14" name="Shape 12"/>
          <p:cNvSpPr/>
          <p:nvPr/>
        </p:nvSpPr>
        <p:spPr>
          <a:xfrm>
            <a:off x="868680" y="3758184"/>
            <a:ext cx="1207008" cy="347472"/>
          </a:xfrm>
          <a:prstGeom prst="roundRect">
            <a:avLst>
              <a:gd name="adj" fmla="val 50000"/>
            </a:avLst>
          </a:prstGeom>
          <a:solidFill>
            <a:srgbClr val="065A82"/>
          </a:solidFill>
          <a:ln w="12700">
            <a:solidFill>
              <a:srgbClr val="065A82"/>
            </a:solidFill>
            <a:prstDash val="solid"/>
          </a:ln>
        </p:spPr>
      </p:sp>
      <p:sp>
        <p:nvSpPr>
          <p:cNvPr id="15" name="Text 13"/>
          <p:cNvSpPr/>
          <p:nvPr/>
        </p:nvSpPr>
        <p:spPr>
          <a:xfrm>
            <a:off x="868680" y="3758184"/>
            <a:ext cx="120700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 months</a:t>
            </a:r>
            <a:endParaRPr lang="en-US" sz="1100" dirty="0"/>
          </a:p>
        </p:txBody>
      </p:sp>
      <p:sp>
        <p:nvSpPr>
          <p:cNvPr id="16" name="Text 14"/>
          <p:cNvSpPr/>
          <p:nvPr/>
        </p:nvSpPr>
        <p:spPr>
          <a:xfrm>
            <a:off x="2240280" y="3584448"/>
            <a:ext cx="4526280" cy="694944"/>
          </a:xfrm>
          <a:prstGeom prst="rect">
            <a:avLst/>
          </a:prstGeom>
          <a:noFill/>
          <a:ln/>
        </p:spPr>
        <p:txBody>
          <a:bodyPr wrap="square" lIns="0" tIns="0" rIns="0" bIns="0" rtlCol="0" anchor="ctr"/>
          <a:lstStyle/>
          <a:p>
            <a:pPr indent="0" marL="0">
              <a:lnSpc>
                <a:spcPts val="1500"/>
              </a:lnSpc>
              <a:buNone/>
            </a:pPr>
            <a:r>
              <a:rPr lang="en-US" sz="1200" dirty="0">
                <a:solidFill>
                  <a:srgbClr val="17202B"/>
                </a:solidFill>
                <a:latin typeface="Calibri" pitchFamily="34" charset="0"/>
                <a:ea typeface="Calibri" pitchFamily="34" charset="-122"/>
                <a:cs typeface="Calibri" pitchFamily="34" charset="-120"/>
              </a:rPr>
              <a:t>Still thin: leans on similar products rather than its own pattern</a:t>
            </a:r>
            <a:endParaRPr lang="en-US" sz="1200" dirty="0"/>
          </a:p>
        </p:txBody>
      </p:sp>
      <p:sp>
        <p:nvSpPr>
          <p:cNvPr id="17" name="Shape 15"/>
          <p:cNvSpPr/>
          <p:nvPr/>
        </p:nvSpPr>
        <p:spPr>
          <a:xfrm>
            <a:off x="640080" y="4370832"/>
            <a:ext cx="6355080" cy="694944"/>
          </a:xfrm>
          <a:prstGeom prst="roundRect">
            <a:avLst>
              <a:gd name="adj" fmla="val 11842"/>
            </a:avLst>
          </a:prstGeom>
          <a:solidFill>
            <a:srgbClr val="EDF3F7"/>
          </a:solidFill>
          <a:ln w="12700">
            <a:solidFill>
              <a:srgbClr val="EDF3F7"/>
            </a:solidFill>
            <a:prstDash val="solid"/>
          </a:ln>
        </p:spPr>
      </p:sp>
      <p:sp>
        <p:nvSpPr>
          <p:cNvPr id="18" name="Shape 16"/>
          <p:cNvSpPr/>
          <p:nvPr/>
        </p:nvSpPr>
        <p:spPr>
          <a:xfrm>
            <a:off x="868680" y="4544568"/>
            <a:ext cx="1207008" cy="347472"/>
          </a:xfrm>
          <a:prstGeom prst="roundRect">
            <a:avLst>
              <a:gd name="adj" fmla="val 50000"/>
            </a:avLst>
          </a:prstGeom>
          <a:solidFill>
            <a:srgbClr val="1C7293"/>
          </a:solidFill>
          <a:ln w="12700">
            <a:solidFill>
              <a:srgbClr val="1C7293"/>
            </a:solidFill>
            <a:prstDash val="solid"/>
          </a:ln>
        </p:spPr>
      </p:sp>
      <p:sp>
        <p:nvSpPr>
          <p:cNvPr id="19" name="Text 17"/>
          <p:cNvSpPr/>
          <p:nvPr/>
        </p:nvSpPr>
        <p:spPr>
          <a:xfrm>
            <a:off x="868680" y="4544568"/>
            <a:ext cx="120700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 months</a:t>
            </a:r>
            <a:endParaRPr lang="en-US" sz="1100" dirty="0"/>
          </a:p>
        </p:txBody>
      </p:sp>
      <p:sp>
        <p:nvSpPr>
          <p:cNvPr id="20" name="Text 18"/>
          <p:cNvSpPr/>
          <p:nvPr/>
        </p:nvSpPr>
        <p:spPr>
          <a:xfrm>
            <a:off x="2240280" y="4370832"/>
            <a:ext cx="4526280" cy="694944"/>
          </a:xfrm>
          <a:prstGeom prst="rect">
            <a:avLst/>
          </a:prstGeom>
          <a:noFill/>
          <a:ln/>
        </p:spPr>
        <p:txBody>
          <a:bodyPr wrap="square" lIns="0" tIns="0" rIns="0" bIns="0" rtlCol="0" anchor="ctr"/>
          <a:lstStyle/>
          <a:p>
            <a:pPr indent="0" marL="0">
              <a:lnSpc>
                <a:spcPts val="1500"/>
              </a:lnSpc>
              <a:buNone/>
            </a:pPr>
            <a:r>
              <a:rPr lang="en-US" sz="1200" dirty="0">
                <a:solidFill>
                  <a:srgbClr val="17202B"/>
                </a:solidFill>
                <a:latin typeface="Calibri" pitchFamily="34" charset="0"/>
                <a:ea typeface="Calibri" pitchFamily="34" charset="-122"/>
                <a:cs typeface="Calibri" pitchFamily="34" charset="-120"/>
              </a:rPr>
              <a:t>Enough history to test itself, so the range stops being widened artificially</a:t>
            </a:r>
            <a:endParaRPr lang="en-US" sz="1200" dirty="0"/>
          </a:p>
        </p:txBody>
      </p:sp>
      <p:sp>
        <p:nvSpPr>
          <p:cNvPr id="21" name="Shape 19"/>
          <p:cNvSpPr/>
          <p:nvPr/>
        </p:nvSpPr>
        <p:spPr>
          <a:xfrm>
            <a:off x="640080" y="5157216"/>
            <a:ext cx="6355080" cy="694944"/>
          </a:xfrm>
          <a:prstGeom prst="roundRect">
            <a:avLst>
              <a:gd name="adj" fmla="val 11842"/>
            </a:avLst>
          </a:prstGeom>
          <a:solidFill>
            <a:srgbClr val="EDF3F7"/>
          </a:solidFill>
          <a:ln w="12700">
            <a:solidFill>
              <a:srgbClr val="EDF3F7"/>
            </a:solidFill>
            <a:prstDash val="solid"/>
          </a:ln>
        </p:spPr>
      </p:sp>
      <p:sp>
        <p:nvSpPr>
          <p:cNvPr id="22" name="Shape 20"/>
          <p:cNvSpPr/>
          <p:nvPr/>
        </p:nvSpPr>
        <p:spPr>
          <a:xfrm>
            <a:off x="868680" y="5330952"/>
            <a:ext cx="1207008" cy="347472"/>
          </a:xfrm>
          <a:prstGeom prst="roundRect">
            <a:avLst>
              <a:gd name="adj" fmla="val 50000"/>
            </a:avLst>
          </a:prstGeom>
          <a:solidFill>
            <a:srgbClr val="065A82"/>
          </a:solidFill>
          <a:ln w="12700">
            <a:solidFill>
              <a:srgbClr val="065A82"/>
            </a:solidFill>
            <a:prstDash val="solid"/>
          </a:ln>
        </p:spPr>
      </p:sp>
      <p:sp>
        <p:nvSpPr>
          <p:cNvPr id="23" name="Text 21"/>
          <p:cNvSpPr/>
          <p:nvPr/>
        </p:nvSpPr>
        <p:spPr>
          <a:xfrm>
            <a:off x="868680" y="5330952"/>
            <a:ext cx="120700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 months</a:t>
            </a:r>
            <a:endParaRPr lang="en-US" sz="1100" dirty="0"/>
          </a:p>
        </p:txBody>
      </p:sp>
      <p:sp>
        <p:nvSpPr>
          <p:cNvPr id="24" name="Text 22"/>
          <p:cNvSpPr/>
          <p:nvPr/>
        </p:nvSpPr>
        <p:spPr>
          <a:xfrm>
            <a:off x="2240280" y="5157216"/>
            <a:ext cx="4526280" cy="694944"/>
          </a:xfrm>
          <a:prstGeom prst="rect">
            <a:avLst/>
          </a:prstGeom>
          <a:noFill/>
          <a:ln/>
        </p:spPr>
        <p:txBody>
          <a:bodyPr wrap="square" lIns="0" tIns="0" rIns="0" bIns="0" rtlCol="0" anchor="ctr"/>
          <a:lstStyle/>
          <a:p>
            <a:pPr indent="0" marL="0">
              <a:lnSpc>
                <a:spcPts val="1500"/>
              </a:lnSpc>
              <a:buNone/>
            </a:pPr>
            <a:r>
              <a:rPr lang="en-US" sz="1200" dirty="0">
                <a:solidFill>
                  <a:srgbClr val="17202B"/>
                </a:solidFill>
                <a:latin typeface="Calibri" pitchFamily="34" charset="0"/>
                <a:ea typeface="Calibri" pitchFamily="34" charset="-122"/>
                <a:cs typeface="Calibri" pitchFamily="34" charset="-120"/>
              </a:rPr>
              <a:t>Established: own seasonality, checked confidence, protection from its own costs</a:t>
            </a:r>
            <a:endParaRPr lang="en-US" sz="1200" dirty="0"/>
          </a:p>
        </p:txBody>
      </p:sp>
      <p:sp>
        <p:nvSpPr>
          <p:cNvPr id="25" name="Shape 23"/>
          <p:cNvSpPr/>
          <p:nvPr/>
        </p:nvSpPr>
        <p:spPr>
          <a:xfrm>
            <a:off x="7315200" y="2011680"/>
            <a:ext cx="4233672" cy="1874520"/>
          </a:xfrm>
          <a:prstGeom prst="roundRect">
            <a:avLst>
              <a:gd name="adj" fmla="val 4390"/>
            </a:avLst>
          </a:prstGeom>
          <a:solidFill>
            <a:srgbClr val="EDF3F7"/>
          </a:solidFill>
          <a:ln w="12700">
            <a:solidFill>
              <a:srgbClr val="EDF3F7"/>
            </a:solidFill>
            <a:prstDash val="solid"/>
          </a:ln>
        </p:spPr>
      </p:sp>
      <p:sp>
        <p:nvSpPr>
          <p:cNvPr id="26" name="Text 24"/>
          <p:cNvSpPr/>
          <p:nvPr/>
        </p:nvSpPr>
        <p:spPr>
          <a:xfrm>
            <a:off x="7589520" y="2194560"/>
            <a:ext cx="3685032" cy="27432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"Widening the range"</a:t>
            </a:r>
            <a:endParaRPr lang="en-US" sz="1400" dirty="0"/>
          </a:p>
        </p:txBody>
      </p:sp>
      <p:sp>
        <p:nvSpPr>
          <p:cNvPr id="27" name="Text 25"/>
          <p:cNvSpPr/>
          <p:nvPr/>
        </p:nvSpPr>
        <p:spPr>
          <a:xfrm>
            <a:off x="7589520" y="2523744"/>
            <a:ext cx="3685032" cy="128016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Every forecast comes with a range, not just a number. On a young product the tool cannot yet know how wrong it usually is, and the naive estimate is always too flattering — so it deliberately stretches the range. A wider range means a bigger safety cushion: it over-protects rather than fakes precision.</a:t>
            </a:r>
            <a:endParaRPr lang="en-US" sz="1150" dirty="0"/>
          </a:p>
        </p:txBody>
      </p:sp>
      <p:sp>
        <p:nvSpPr>
          <p:cNvPr id="28" name="Shape 26"/>
          <p:cNvSpPr/>
          <p:nvPr/>
        </p:nvSpPr>
        <p:spPr>
          <a:xfrm>
            <a:off x="7315200" y="4041648"/>
            <a:ext cx="4233672" cy="1874520"/>
          </a:xfrm>
          <a:prstGeom prst="roundRect">
            <a:avLst>
              <a:gd name="adj" fmla="val 4390"/>
            </a:avLst>
          </a:prstGeom>
          <a:solidFill>
            <a:srgbClr val="EDF3F7"/>
          </a:solidFill>
          <a:ln w="12700">
            <a:solidFill>
              <a:srgbClr val="EDF3F7"/>
            </a:solidFill>
            <a:prstDash val="solid"/>
          </a:ln>
        </p:spPr>
      </p:sp>
      <p:sp>
        <p:nvSpPr>
          <p:cNvPr id="29" name="Text 27"/>
          <p:cNvSpPr/>
          <p:nvPr/>
        </p:nvSpPr>
        <p:spPr>
          <a:xfrm>
            <a:off x="7589520" y="4224528"/>
            <a:ext cx="3685032" cy="274320"/>
          </a:xfrm>
          <a:prstGeom prst="rect">
            <a:avLst/>
          </a:prstGeom>
          <a:noFill/>
          <a:ln/>
        </p:spPr>
        <p:txBody>
          <a:bodyPr wrap="square" lIns="0" tIns="0" rIns="0" bIns="0" rtlCol="0" anchor="t"/>
          <a:lstStyle/>
          <a:p>
            <a:pPr indent="0" marL="0">
              <a:buNone/>
            </a:pPr>
            <a:r>
              <a:rPr lang="en-US" sz="1400" b="1" dirty="0">
                <a:solidFill>
                  <a:srgbClr val="1C7293"/>
                </a:solidFill>
                <a:latin typeface="Calibri" pitchFamily="34" charset="0"/>
                <a:ea typeface="Calibri" pitchFamily="34" charset="-122"/>
                <a:cs typeface="Calibri" pitchFamily="34" charset="-120"/>
              </a:rPr>
              <a:t>"Testing itself"</a:t>
            </a:r>
            <a:endParaRPr lang="en-US" sz="1400" dirty="0"/>
          </a:p>
        </p:txBody>
      </p:sp>
      <p:sp>
        <p:nvSpPr>
          <p:cNvPr id="30" name="Text 28"/>
          <p:cNvSpPr/>
          <p:nvPr/>
        </p:nvSpPr>
        <p:spPr>
          <a:xfrm>
            <a:off x="7589520" y="4553712"/>
            <a:ext cx="3685032" cy="128016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Around four months there is enough history to hide the most recent stretch, rebuild the forecast without it, and compare the prediction to what actually happened. Measuring error on data the model already saw always flatters it. This measured error is what sizes the safety cushion.</a:t>
            </a:r>
            <a:endParaRPr lang="en-US" sz="1150" dirty="0"/>
          </a:p>
        </p:txBody>
      </p:sp>
      <p:sp>
        <p:nvSpPr>
          <p:cNvPr id="31" name="Text 29"/>
          <p:cNvSpPr/>
          <p:nvPr/>
        </p:nvSpPr>
        <p:spPr>
          <a:xfrm>
            <a:off x="640080" y="6053328"/>
            <a:ext cx="6400800" cy="640080"/>
          </a:xfrm>
          <a:prstGeom prst="rect">
            <a:avLst/>
          </a:prstGeom>
          <a:noFill/>
          <a:ln/>
        </p:spPr>
        <p:txBody>
          <a:bodyPr wrap="square" lIns="0" tIns="0" rIns="0" bIns="0" rtlCol="0" anchor="t"/>
          <a:lstStyle/>
          <a:p>
            <a:pPr indent="0" marL="0">
              <a:lnSpc>
                <a:spcPts val="1500"/>
              </a:lnSpc>
              <a:buNone/>
            </a:pPr>
            <a:r>
              <a:rPr lang="en-US" sz="1150" i="1" dirty="0">
                <a:solidFill>
                  <a:srgbClr val="065A82"/>
                </a:solidFill>
                <a:latin typeface="Calibri" pitchFamily="34" charset="0"/>
                <a:ea typeface="Calibri" pitchFamily="34" charset="-122"/>
                <a:cs typeface="Calibri" pitchFamily="34" charset="-120"/>
              </a:rPr>
              <a:t>"Nothing similar to learn from" means no other product in its group has enough history to lend a pattern. That is when the tool abstains — and says so on screen, rather than holding the recommendation back silently.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PRODUCTS TAB</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3300" b="1" dirty="0">
                <a:solidFill>
                  <a:srgbClr val="21295C"/>
                </a:solidFill>
                <a:latin typeface="Cambria" pitchFamily="34" charset="0"/>
                <a:ea typeface="Cambria" pitchFamily="34" charset="-122"/>
                <a:cs typeface="Cambria" pitchFamily="34" charset="-120"/>
              </a:rPr>
              <a:t>What it learns from your price changes</a:t>
            </a:r>
            <a:endParaRPr lang="en-US" sz="3300" dirty="0"/>
          </a:p>
        </p:txBody>
      </p:sp>
      <p:sp>
        <p:nvSpPr>
          <p:cNvPr id="4" name="Text 2"/>
          <p:cNvSpPr/>
          <p:nvPr/>
        </p:nvSpPr>
        <p:spPr>
          <a:xfrm>
            <a:off x="640080" y="1481328"/>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If a sheet carries a price column, price stops being background and becomes an input the forecast responds to.</a:t>
            </a:r>
            <a:endParaRPr lang="en-US" sz="1350" dirty="0"/>
          </a:p>
        </p:txBody>
      </p:sp>
      <p:sp>
        <p:nvSpPr>
          <p:cNvPr id="5" name="Shape 3"/>
          <p:cNvSpPr/>
          <p:nvPr/>
        </p:nvSpPr>
        <p:spPr>
          <a:xfrm>
            <a:off x="640080" y="2084832"/>
            <a:ext cx="6812280" cy="1298448"/>
          </a:xfrm>
          <a:prstGeom prst="roundRect">
            <a:avLst>
              <a:gd name="adj" fmla="val 6338"/>
            </a:avLst>
          </a:prstGeom>
          <a:solidFill>
            <a:srgbClr val="EDF3F7"/>
          </a:solidFill>
          <a:ln w="12700">
            <a:solidFill>
              <a:srgbClr val="EDF3F7"/>
            </a:solidFill>
            <a:prstDash val="solid"/>
          </a:ln>
        </p:spPr>
      </p:sp>
      <p:sp>
        <p:nvSpPr>
          <p:cNvPr id="6" name="Shape 4"/>
          <p:cNvSpPr/>
          <p:nvPr/>
        </p:nvSpPr>
        <p:spPr>
          <a:xfrm>
            <a:off x="914400" y="2532888"/>
            <a:ext cx="402336" cy="402336"/>
          </a:xfrm>
          <a:prstGeom prst="ellipse">
            <a:avLst/>
          </a:prstGeom>
          <a:solidFill>
            <a:srgbClr val="065A82"/>
          </a:solidFill>
          <a:ln/>
        </p:spPr>
      </p:sp>
      <p:sp>
        <p:nvSpPr>
          <p:cNvPr id="7" name="Text 5"/>
          <p:cNvSpPr/>
          <p:nvPr/>
        </p:nvSpPr>
        <p:spPr>
          <a:xfrm>
            <a:off x="914400" y="25328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81328" y="2249424"/>
            <a:ext cx="5669280" cy="274320"/>
          </a:xfrm>
          <a:prstGeom prst="rect">
            <a:avLst/>
          </a:prstGeom>
          <a:noFill/>
          <a:ln/>
        </p:spPr>
        <p:txBody>
          <a:bodyPr wrap="square" lIns="0" tIns="0" rIns="0" bIns="0" rtlCol="0" anchor="t"/>
          <a:lstStyle/>
          <a:p>
            <a:pPr indent="0" marL="0">
              <a:buNone/>
            </a:pPr>
            <a:r>
              <a:rPr lang="en-US" sz="1450" b="1" dirty="0">
                <a:solidFill>
                  <a:srgbClr val="17202B"/>
                </a:solidFill>
                <a:latin typeface="Calibri" pitchFamily="34" charset="0"/>
                <a:ea typeface="Calibri" pitchFamily="34" charset="-122"/>
                <a:cs typeface="Calibri" pitchFamily="34" charset="-120"/>
              </a:rPr>
              <a:t>It tracks every price the product has sold at</a:t>
            </a:r>
            <a:endParaRPr lang="en-US" sz="1450" dirty="0"/>
          </a:p>
        </p:txBody>
      </p:sp>
      <p:sp>
        <p:nvSpPr>
          <p:cNvPr id="9" name="Text 7"/>
          <p:cNvSpPr/>
          <p:nvPr/>
        </p:nvSpPr>
        <p:spPr>
          <a:xfrm>
            <a:off x="1481328" y="2542032"/>
            <a:ext cx="5669280"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Each distinct price point is recorded along with how many days the product actually spent at it.</a:t>
            </a:r>
            <a:endParaRPr lang="en-US" sz="1200" dirty="0"/>
          </a:p>
        </p:txBody>
      </p:sp>
      <p:sp>
        <p:nvSpPr>
          <p:cNvPr id="10" name="Shape 8"/>
          <p:cNvSpPr/>
          <p:nvPr/>
        </p:nvSpPr>
        <p:spPr>
          <a:xfrm>
            <a:off x="640080" y="3493008"/>
            <a:ext cx="6812280" cy="1298448"/>
          </a:xfrm>
          <a:prstGeom prst="roundRect">
            <a:avLst>
              <a:gd name="adj" fmla="val 6338"/>
            </a:avLst>
          </a:prstGeom>
          <a:solidFill>
            <a:srgbClr val="EDF3F7"/>
          </a:solidFill>
          <a:ln w="12700">
            <a:solidFill>
              <a:srgbClr val="EDF3F7"/>
            </a:solidFill>
            <a:prstDash val="solid"/>
          </a:ln>
        </p:spPr>
      </p:sp>
      <p:sp>
        <p:nvSpPr>
          <p:cNvPr id="11" name="Shape 9"/>
          <p:cNvSpPr/>
          <p:nvPr/>
        </p:nvSpPr>
        <p:spPr>
          <a:xfrm>
            <a:off x="914400" y="3941064"/>
            <a:ext cx="402336" cy="402336"/>
          </a:xfrm>
          <a:prstGeom prst="ellipse">
            <a:avLst/>
          </a:prstGeom>
          <a:solidFill>
            <a:srgbClr val="1C7293"/>
          </a:solidFill>
          <a:ln/>
        </p:spPr>
      </p:sp>
      <p:sp>
        <p:nvSpPr>
          <p:cNvPr id="12" name="Text 10"/>
          <p:cNvSpPr/>
          <p:nvPr/>
        </p:nvSpPr>
        <p:spPr>
          <a:xfrm>
            <a:off x="914400" y="39410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81328" y="3657600"/>
            <a:ext cx="5669280" cy="274320"/>
          </a:xfrm>
          <a:prstGeom prst="rect">
            <a:avLst/>
          </a:prstGeom>
          <a:noFill/>
          <a:ln/>
        </p:spPr>
        <p:txBody>
          <a:bodyPr wrap="square" lIns="0" tIns="0" rIns="0" bIns="0" rtlCol="0" anchor="t"/>
          <a:lstStyle/>
          <a:p>
            <a:pPr indent="0" marL="0">
              <a:buNone/>
            </a:pPr>
            <a:r>
              <a:rPr lang="en-US" sz="1450" b="1" dirty="0">
                <a:solidFill>
                  <a:srgbClr val="17202B"/>
                </a:solidFill>
                <a:latin typeface="Calibri" pitchFamily="34" charset="0"/>
                <a:ea typeface="Calibri" pitchFamily="34" charset="-122"/>
                <a:cs typeface="Calibri" pitchFamily="34" charset="-120"/>
              </a:rPr>
              <a:t>It rates how well each price is evidenced</a:t>
            </a:r>
            <a:endParaRPr lang="en-US" sz="1450" dirty="0"/>
          </a:p>
        </p:txBody>
      </p:sp>
      <p:sp>
        <p:nvSpPr>
          <p:cNvPr id="14" name="Text 12"/>
          <p:cNvSpPr/>
          <p:nvPr/>
        </p:nvSpPr>
        <p:spPr>
          <a:xfrm>
            <a:off x="1481328" y="3950208"/>
            <a:ext cx="5669280"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Under a month of data at a price is treated as insufficient, two months as moderate, three months or more as reliable. A price you tried briefly does not get the same weight as one you held all season.</a:t>
            </a:r>
            <a:endParaRPr lang="en-US" sz="1200" dirty="0"/>
          </a:p>
        </p:txBody>
      </p:sp>
      <p:sp>
        <p:nvSpPr>
          <p:cNvPr id="15" name="Shape 13"/>
          <p:cNvSpPr/>
          <p:nvPr/>
        </p:nvSpPr>
        <p:spPr>
          <a:xfrm>
            <a:off x="640080" y="4901184"/>
            <a:ext cx="6812280" cy="1298448"/>
          </a:xfrm>
          <a:prstGeom prst="roundRect">
            <a:avLst>
              <a:gd name="adj" fmla="val 6338"/>
            </a:avLst>
          </a:prstGeom>
          <a:solidFill>
            <a:srgbClr val="EDF3F7"/>
          </a:solidFill>
          <a:ln w="12700">
            <a:solidFill>
              <a:srgbClr val="EDF3F7"/>
            </a:solidFill>
            <a:prstDash val="solid"/>
          </a:ln>
        </p:spPr>
      </p:sp>
      <p:sp>
        <p:nvSpPr>
          <p:cNvPr id="16" name="Shape 14"/>
          <p:cNvSpPr/>
          <p:nvPr/>
        </p:nvSpPr>
        <p:spPr>
          <a:xfrm>
            <a:off x="914400" y="5349240"/>
            <a:ext cx="402336" cy="402336"/>
          </a:xfrm>
          <a:prstGeom prst="ellipse">
            <a:avLst/>
          </a:prstGeom>
          <a:solidFill>
            <a:srgbClr val="065A82"/>
          </a:solidFill>
          <a:ln/>
        </p:spPr>
      </p:sp>
      <p:sp>
        <p:nvSpPr>
          <p:cNvPr id="17" name="Text 15"/>
          <p:cNvSpPr/>
          <p:nvPr/>
        </p:nvSpPr>
        <p:spPr>
          <a:xfrm>
            <a:off x="914400" y="53492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481328" y="5065776"/>
            <a:ext cx="5669280" cy="274320"/>
          </a:xfrm>
          <a:prstGeom prst="rect">
            <a:avLst/>
          </a:prstGeom>
          <a:noFill/>
          <a:ln/>
        </p:spPr>
        <p:txBody>
          <a:bodyPr wrap="square" lIns="0" tIns="0" rIns="0" bIns="0" rtlCol="0" anchor="t"/>
          <a:lstStyle/>
          <a:p>
            <a:pPr indent="0" marL="0">
              <a:buNone/>
            </a:pPr>
            <a:r>
              <a:rPr lang="en-US" sz="1450" b="1" dirty="0">
                <a:solidFill>
                  <a:srgbClr val="17202B"/>
                </a:solidFill>
                <a:latin typeface="Calibri" pitchFamily="34" charset="0"/>
                <a:ea typeface="Calibri" pitchFamily="34" charset="-122"/>
                <a:cs typeface="Calibri" pitchFamily="34" charset="-120"/>
              </a:rPr>
              <a:t>The forecast responds to price and promotions</a:t>
            </a:r>
            <a:endParaRPr lang="en-US" sz="1450" dirty="0"/>
          </a:p>
        </p:txBody>
      </p:sp>
      <p:sp>
        <p:nvSpPr>
          <p:cNvPr id="19" name="Text 17"/>
          <p:cNvSpPr/>
          <p:nvPr/>
        </p:nvSpPr>
        <p:spPr>
          <a:xfrm>
            <a:off x="1481328" y="5358384"/>
            <a:ext cx="5669280" cy="731520"/>
          </a:xfrm>
          <a:prstGeom prst="rect">
            <a:avLst/>
          </a:prstGeom>
          <a:noFill/>
          <a:ln/>
        </p:spPr>
        <p:txBody>
          <a:bodyPr wrap="square" lIns="0" tIns="0" rIns="0" bIns="0" rtlCol="0" anchor="t"/>
          <a:lstStyle/>
          <a:p>
            <a:pPr indent="0" marL="0">
              <a:lnSpc>
                <a:spcPts val="1500"/>
              </a:lnSpc>
              <a:buNone/>
            </a:pPr>
            <a:r>
              <a:rPr lang="en-US" sz="1200" dirty="0">
                <a:solidFill>
                  <a:srgbClr val="5A6A78"/>
                </a:solidFill>
                <a:latin typeface="Calibri" pitchFamily="34" charset="0"/>
                <a:ea typeface="Calibri" pitchFamily="34" charset="-122"/>
                <a:cs typeface="Calibri" pitchFamily="34" charset="-120"/>
              </a:rPr>
              <a:t>For established products, price and promotion are inputs to the model — so a planned change moves the forecast, and the scorecard can show demand with promotions stripped out.</a:t>
            </a:r>
            <a:endParaRPr lang="en-US" sz="1200" dirty="0"/>
          </a:p>
        </p:txBody>
      </p:sp>
      <p:sp>
        <p:nvSpPr>
          <p:cNvPr id="20" name="Shape 18"/>
          <p:cNvSpPr/>
          <p:nvPr/>
        </p:nvSpPr>
        <p:spPr>
          <a:xfrm>
            <a:off x="7726680" y="2084832"/>
            <a:ext cx="3822192" cy="1965960"/>
          </a:xfrm>
          <a:prstGeom prst="roundRect">
            <a:avLst>
              <a:gd name="adj" fmla="val 4186"/>
            </a:avLst>
          </a:prstGeom>
          <a:solidFill>
            <a:srgbClr val="21295C"/>
          </a:solidFill>
          <a:ln w="12700">
            <a:solidFill>
              <a:srgbClr val="21295C"/>
            </a:solidFill>
            <a:prstDash val="solid"/>
          </a:ln>
        </p:spPr>
      </p:sp>
      <p:sp>
        <p:nvSpPr>
          <p:cNvPr id="21" name="Text 19"/>
          <p:cNvSpPr/>
          <p:nvPr/>
        </p:nvSpPr>
        <p:spPr>
          <a:xfrm>
            <a:off x="8001000" y="2286000"/>
            <a:ext cx="329184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It says when not to trust it</a:t>
            </a:r>
            <a:endParaRPr lang="en-US" sz="1300" dirty="0"/>
          </a:p>
        </p:txBody>
      </p:sp>
      <p:sp>
        <p:nvSpPr>
          <p:cNvPr id="22" name="Text 20"/>
          <p:cNvSpPr/>
          <p:nvPr/>
        </p:nvSpPr>
        <p:spPr>
          <a:xfrm>
            <a:off x="8001000" y="2633472"/>
            <a:ext cx="3291840" cy="1280160"/>
          </a:xfrm>
          <a:prstGeom prst="rect">
            <a:avLst/>
          </a:prstGeom>
          <a:noFill/>
          <a:ln/>
        </p:spPr>
        <p:txBody>
          <a:bodyPr wrap="square" lIns="0" tIns="0" rIns="0" bIns="0" rtlCol="0" anchor="t"/>
          <a:lstStyle/>
          <a:p>
            <a:pPr indent="0" marL="0">
              <a:lnSpc>
                <a:spcPts val="1500"/>
              </a:lnSpc>
              <a:buNone/>
            </a:pPr>
            <a:r>
              <a:rPr lang="en-US" sz="1150" dirty="0">
                <a:solidFill>
                  <a:srgbClr val="C3D4E2"/>
                </a:solidFill>
                <a:latin typeface="Calibri" pitchFamily="34" charset="0"/>
                <a:ea typeface="Calibri" pitchFamily="34" charset="-122"/>
                <a:cs typeface="Calibri" pitchFamily="34" charset="-120"/>
              </a:rPr>
              <a:t>Ask what happens at a price well outside anything ever tested and the tool flags it rather than answering confidently. It also warns about large untested gaps between price points, where it has to assume a straight line.</a:t>
            </a:r>
            <a:endParaRPr lang="en-US" sz="1150" dirty="0"/>
          </a:p>
        </p:txBody>
      </p:sp>
      <p:sp>
        <p:nvSpPr>
          <p:cNvPr id="23" name="Shape 21"/>
          <p:cNvSpPr/>
          <p:nvPr/>
        </p:nvSpPr>
        <p:spPr>
          <a:xfrm>
            <a:off x="7726680" y="4187952"/>
            <a:ext cx="3822192" cy="1691640"/>
          </a:xfrm>
          <a:prstGeom prst="roundRect">
            <a:avLst>
              <a:gd name="adj" fmla="val 4865"/>
            </a:avLst>
          </a:prstGeom>
          <a:solidFill>
            <a:srgbClr val="EDF3F7"/>
          </a:solidFill>
          <a:ln w="12700">
            <a:solidFill>
              <a:srgbClr val="EDF3F7"/>
            </a:solidFill>
            <a:prstDash val="solid"/>
          </a:ln>
        </p:spPr>
      </p:sp>
      <p:sp>
        <p:nvSpPr>
          <p:cNvPr id="24" name="Text 22"/>
          <p:cNvSpPr/>
          <p:nvPr/>
        </p:nvSpPr>
        <p:spPr>
          <a:xfrm>
            <a:off x="8001000" y="4370832"/>
            <a:ext cx="3291840" cy="274320"/>
          </a:xfrm>
          <a:prstGeom prst="rect">
            <a:avLst/>
          </a:prstGeom>
          <a:noFill/>
          <a:ln/>
        </p:spPr>
        <p:txBody>
          <a:bodyPr wrap="square" lIns="0" tIns="0" rIns="0" bIns="0" rtlCol="0" anchor="ctr"/>
          <a:lstStyle/>
          <a:p>
            <a:pPr indent="0" marL="0">
              <a:buNone/>
            </a:pPr>
            <a:r>
              <a:rPr lang="en-US" sz="1300" b="1" spc="120" kern="0" dirty="0">
                <a:solidFill>
                  <a:srgbClr val="1C7293"/>
                </a:solidFill>
                <a:latin typeface="Calibri" pitchFamily="34" charset="0"/>
                <a:ea typeface="Calibri" pitchFamily="34" charset="-122"/>
                <a:cs typeface="Calibri" pitchFamily="34" charset="-120"/>
              </a:rPr>
              <a:t>Why it matters</a:t>
            </a:r>
            <a:endParaRPr lang="en-US" sz="1300" dirty="0"/>
          </a:p>
        </p:txBody>
      </p:sp>
      <p:sp>
        <p:nvSpPr>
          <p:cNvPr id="25" name="Text 23"/>
          <p:cNvSpPr/>
          <p:nvPr/>
        </p:nvSpPr>
        <p:spPr>
          <a:xfrm>
            <a:off x="8001000" y="4681728"/>
            <a:ext cx="3291840" cy="1051560"/>
          </a:xfrm>
          <a:prstGeom prst="rect">
            <a:avLst/>
          </a:prstGeom>
          <a:noFill/>
          <a:ln/>
        </p:spPr>
        <p:txBody>
          <a:bodyPr wrap="square" lIns="0" tIns="0" rIns="0" bIns="0" rtlCol="0" anchor="t"/>
          <a:lstStyle/>
          <a:p>
            <a:pPr indent="0" marL="0">
              <a:lnSpc>
                <a:spcPts val="1500"/>
              </a:lnSpc>
              <a:buNone/>
            </a:pPr>
            <a:r>
              <a:rPr lang="en-US" sz="1150" dirty="0">
                <a:solidFill>
                  <a:srgbClr val="5A6A78"/>
                </a:solidFill>
                <a:latin typeface="Calibri" pitchFamily="34" charset="0"/>
                <a:ea typeface="Calibri" pitchFamily="34" charset="-122"/>
                <a:cs typeface="Calibri" pitchFamily="34" charset="-120"/>
              </a:rPr>
              <a:t>A discount that lifted sales 60% is not new demand — it is borrowed. Without separating price effects, a promotion teaches the tool to over-order for months afterwards.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065A82">
              <a:alpha val="42000"/>
            </a:srgbClr>
          </a:solidFill>
          <a:ln/>
        </p:spPr>
      </p:sp>
      <p:sp>
        <p:nvSpPr>
          <p:cNvPr id="3" name="Shape 1"/>
          <p:cNvSpPr/>
          <p:nvPr/>
        </p:nvSpPr>
        <p:spPr>
          <a:xfrm>
            <a:off x="-1371600" y="4297680"/>
            <a:ext cx="3840480" cy="3840480"/>
          </a:xfrm>
          <a:prstGeom prst="ellipse">
            <a:avLst/>
          </a:prstGeom>
          <a:solidFill>
            <a:srgbClr val="1C7293">
              <a:alpha val="34000"/>
            </a:srgbClr>
          </a:solidFill>
          <a:ln/>
        </p:spPr>
      </p:sp>
      <p:sp>
        <p:nvSpPr>
          <p:cNvPr id="4" name="Text 2"/>
          <p:cNvSpPr/>
          <p:nvPr/>
        </p:nvSpPr>
        <p:spPr>
          <a:xfrm>
            <a:off x="822960" y="868680"/>
            <a:ext cx="7315200" cy="310896"/>
          </a:xfrm>
          <a:prstGeom prst="rect">
            <a:avLst/>
          </a:prstGeom>
          <a:noFill/>
          <a:ln/>
        </p:spPr>
        <p:txBody>
          <a:bodyPr wrap="square" lIns="0" tIns="0" rIns="0" bIns="0" rtlCol="0" anchor="ctr"/>
          <a:lstStyle/>
          <a:p>
            <a:pPr indent="0" marL="0">
              <a:buNone/>
            </a:pPr>
            <a:r>
              <a:rPr lang="en-US" sz="1300" b="1" spc="250" kern="0" dirty="0">
                <a:solidFill>
                  <a:srgbClr val="8FD4E8"/>
                </a:solidFill>
                <a:latin typeface="Calibri" pitchFamily="34" charset="0"/>
                <a:ea typeface="Calibri" pitchFamily="34" charset="-122"/>
                <a:cs typeface="Calibri" pitchFamily="34" charset="-120"/>
              </a:rPr>
              <a:t>LIVE DEMO</a:t>
            </a:r>
            <a:endParaRPr lang="en-US" sz="1300" dirty="0"/>
          </a:p>
        </p:txBody>
      </p:sp>
      <p:sp>
        <p:nvSpPr>
          <p:cNvPr id="5" name="Text 3"/>
          <p:cNvSpPr/>
          <p:nvPr/>
        </p:nvSpPr>
        <p:spPr>
          <a:xfrm>
            <a:off x="822960" y="1298448"/>
            <a:ext cx="104241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Fleet tab</a:t>
            </a:r>
            <a:endParaRPr lang="en-US" sz="4600" dirty="0"/>
          </a:p>
        </p:txBody>
      </p:sp>
      <p:sp>
        <p:nvSpPr>
          <p:cNvPr id="6" name="Text 4"/>
          <p:cNvSpPr/>
          <p:nvPr/>
        </p:nvSpPr>
        <p:spPr>
          <a:xfrm>
            <a:off x="841248" y="2724912"/>
            <a:ext cx="7315200" cy="274320"/>
          </a:xfrm>
          <a:prstGeom prst="rect">
            <a:avLst/>
          </a:prstGeom>
          <a:noFill/>
          <a:ln/>
        </p:spPr>
        <p:txBody>
          <a:bodyPr wrap="square" lIns="0" tIns="0" rIns="0" bIns="0" rtlCol="0" anchor="ctr"/>
          <a:lstStyle/>
          <a:p>
            <a:pPr indent="0" marL="0">
              <a:buNone/>
            </a:pPr>
            <a:r>
              <a:rPr lang="en-US" sz="1300" b="1" spc="150" kern="0" dirty="0">
                <a:solidFill>
                  <a:srgbClr val="7E97AE"/>
                </a:solidFill>
                <a:latin typeface="Calibri" pitchFamily="34" charset="0"/>
                <a:ea typeface="Calibri" pitchFamily="34" charset="-122"/>
                <a:cs typeface="Calibri" pitchFamily="34" charset="-120"/>
              </a:rPr>
              <a:t>Show live</a:t>
            </a:r>
            <a:endParaRPr lang="en-US" sz="1300" dirty="0"/>
          </a:p>
        </p:txBody>
      </p:sp>
      <p:sp>
        <p:nvSpPr>
          <p:cNvPr id="7" name="Shape 5"/>
          <p:cNvSpPr/>
          <p:nvPr/>
        </p:nvSpPr>
        <p:spPr>
          <a:xfrm>
            <a:off x="877824" y="3310128"/>
            <a:ext cx="182880" cy="182880"/>
          </a:xfrm>
          <a:prstGeom prst="ellipse">
            <a:avLst/>
          </a:prstGeom>
          <a:solidFill>
            <a:srgbClr val="8FD4E8"/>
          </a:solidFill>
          <a:ln/>
        </p:spPr>
      </p:sp>
      <p:sp>
        <p:nvSpPr>
          <p:cNvPr id="8" name="Text 6"/>
          <p:cNvSpPr/>
          <p:nvPr/>
        </p:nvSpPr>
        <p:spPr>
          <a:xfrm>
            <a:off x="1298448" y="3182112"/>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The whole catalog’s health in a single bar</a:t>
            </a:r>
            <a:endParaRPr lang="en-US" sz="2200" dirty="0"/>
          </a:p>
        </p:txBody>
      </p:sp>
      <p:sp>
        <p:nvSpPr>
          <p:cNvPr id="9" name="Shape 7"/>
          <p:cNvSpPr/>
          <p:nvPr/>
        </p:nvSpPr>
        <p:spPr>
          <a:xfrm>
            <a:off x="877824" y="3986784"/>
            <a:ext cx="182880" cy="182880"/>
          </a:xfrm>
          <a:prstGeom prst="ellipse">
            <a:avLst/>
          </a:prstGeom>
          <a:solidFill>
            <a:srgbClr val="8FD4E8"/>
          </a:solidFill>
          <a:ln/>
        </p:spPr>
      </p:sp>
      <p:sp>
        <p:nvSpPr>
          <p:cNvPr id="10" name="Text 8"/>
          <p:cNvSpPr/>
          <p:nvPr/>
        </p:nvSpPr>
        <p:spPr>
          <a:xfrm>
            <a:off x="1298448" y="3858768"/>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What needs ordering, ranked by urgency</a:t>
            </a:r>
            <a:endParaRPr lang="en-US" sz="2200" dirty="0"/>
          </a:p>
        </p:txBody>
      </p:sp>
      <p:sp>
        <p:nvSpPr>
          <p:cNvPr id="11" name="Shape 9"/>
          <p:cNvSpPr/>
          <p:nvPr/>
        </p:nvSpPr>
        <p:spPr>
          <a:xfrm>
            <a:off x="877824" y="4663440"/>
            <a:ext cx="182880" cy="182880"/>
          </a:xfrm>
          <a:prstGeom prst="ellipse">
            <a:avLst/>
          </a:prstGeom>
          <a:solidFill>
            <a:srgbClr val="8FD4E8"/>
          </a:solidFill>
          <a:ln/>
        </p:spPr>
      </p:sp>
      <p:sp>
        <p:nvSpPr>
          <p:cNvPr id="12" name="Text 10"/>
          <p:cNvSpPr/>
          <p:nvPr/>
        </p:nvSpPr>
        <p:spPr>
          <a:xfrm>
            <a:off x="1298448" y="4535424"/>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An eight-week buying schedule, in cash or units</a:t>
            </a:r>
            <a:endParaRPr lang="en-US" sz="2200" dirty="0"/>
          </a:p>
        </p:txBody>
      </p:sp>
      <p:sp>
        <p:nvSpPr>
          <p:cNvPr id="13" name="Shape 11"/>
          <p:cNvSpPr/>
          <p:nvPr/>
        </p:nvSpPr>
        <p:spPr>
          <a:xfrm>
            <a:off x="877824" y="5340096"/>
            <a:ext cx="182880" cy="182880"/>
          </a:xfrm>
          <a:prstGeom prst="ellipse">
            <a:avLst/>
          </a:prstGeom>
          <a:solidFill>
            <a:srgbClr val="8FD4E8"/>
          </a:solidFill>
          <a:ln/>
        </p:spPr>
      </p:sp>
      <p:sp>
        <p:nvSpPr>
          <p:cNvPr id="14" name="Text 12"/>
          <p:cNvSpPr/>
          <p:nvPr/>
        </p:nvSpPr>
        <p:spPr>
          <a:xfrm>
            <a:off x="1298448" y="5212080"/>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Inventory value on the shelf, and forecast accuracy</a:t>
            </a:r>
            <a:endParaRPr lang="en-US" sz="2200" dirty="0"/>
          </a:p>
        </p:txBody>
      </p:sp>
      <p:sp>
        <p:nvSpPr>
          <p:cNvPr id="15" name="Text 13"/>
          <p:cNvSpPr/>
          <p:nvPr/>
        </p:nvSpPr>
        <p:spPr>
          <a:xfrm>
            <a:off x="822960" y="6144768"/>
            <a:ext cx="10607040" cy="457200"/>
          </a:xfrm>
          <a:prstGeom prst="rect">
            <a:avLst/>
          </a:prstGeom>
          <a:noFill/>
          <a:ln/>
        </p:spPr>
        <p:txBody>
          <a:bodyPr wrap="square" lIns="0" tIns="0" rIns="0" bIns="0" rtlCol="0" anchor="ctr"/>
          <a:lstStyle/>
          <a:p>
            <a:pPr indent="0" marL="0">
              <a:lnSpc>
                <a:spcPts val="1800"/>
              </a:lnSpc>
              <a:buNone/>
            </a:pPr>
            <a:r>
              <a:rPr lang="en-US" sz="1300" i="1" dirty="0">
                <a:solidFill>
                  <a:srgbClr val="8FA8BE"/>
                </a:solidFill>
                <a:latin typeface="Calibri" pitchFamily="34" charset="0"/>
                <a:ea typeface="Calibri" pitchFamily="34" charset="-122"/>
                <a:cs typeface="Calibri" pitchFamily="34" charset="-120"/>
              </a:rPr>
              <a:t>The daily-use screen: attention goes to the few products that need it, the rest run themselves.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065A82">
              <a:alpha val="42000"/>
            </a:srgbClr>
          </a:solidFill>
          <a:ln/>
        </p:spPr>
      </p:sp>
      <p:sp>
        <p:nvSpPr>
          <p:cNvPr id="3" name="Shape 1"/>
          <p:cNvSpPr/>
          <p:nvPr/>
        </p:nvSpPr>
        <p:spPr>
          <a:xfrm>
            <a:off x="-1371600" y="4297680"/>
            <a:ext cx="3840480" cy="3840480"/>
          </a:xfrm>
          <a:prstGeom prst="ellipse">
            <a:avLst/>
          </a:prstGeom>
          <a:solidFill>
            <a:srgbClr val="1C7293">
              <a:alpha val="34000"/>
            </a:srgbClr>
          </a:solidFill>
          <a:ln/>
        </p:spPr>
      </p:sp>
      <p:sp>
        <p:nvSpPr>
          <p:cNvPr id="4" name="Text 2"/>
          <p:cNvSpPr/>
          <p:nvPr/>
        </p:nvSpPr>
        <p:spPr>
          <a:xfrm>
            <a:off x="822960" y="868680"/>
            <a:ext cx="7315200" cy="310896"/>
          </a:xfrm>
          <a:prstGeom prst="rect">
            <a:avLst/>
          </a:prstGeom>
          <a:noFill/>
          <a:ln/>
        </p:spPr>
        <p:txBody>
          <a:bodyPr wrap="square" lIns="0" tIns="0" rIns="0" bIns="0" rtlCol="0" anchor="ctr"/>
          <a:lstStyle/>
          <a:p>
            <a:pPr indent="0" marL="0">
              <a:buNone/>
            </a:pPr>
            <a:r>
              <a:rPr lang="en-US" sz="1300" b="1" spc="250" kern="0" dirty="0">
                <a:solidFill>
                  <a:srgbClr val="8FD4E8"/>
                </a:solidFill>
                <a:latin typeface="Calibri" pitchFamily="34" charset="0"/>
                <a:ea typeface="Calibri" pitchFamily="34" charset="-122"/>
                <a:cs typeface="Calibri" pitchFamily="34" charset="-120"/>
              </a:rPr>
              <a:t>LIVE DEMO</a:t>
            </a:r>
            <a:endParaRPr lang="en-US" sz="1300" dirty="0"/>
          </a:p>
        </p:txBody>
      </p:sp>
      <p:sp>
        <p:nvSpPr>
          <p:cNvPr id="5" name="Text 3"/>
          <p:cNvSpPr/>
          <p:nvPr/>
        </p:nvSpPr>
        <p:spPr>
          <a:xfrm>
            <a:off x="822960" y="1298448"/>
            <a:ext cx="104241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assistant</a:t>
            </a:r>
            <a:endParaRPr lang="en-US" sz="4600" dirty="0"/>
          </a:p>
        </p:txBody>
      </p:sp>
      <p:sp>
        <p:nvSpPr>
          <p:cNvPr id="6" name="Text 4"/>
          <p:cNvSpPr/>
          <p:nvPr/>
        </p:nvSpPr>
        <p:spPr>
          <a:xfrm>
            <a:off x="841248" y="2724912"/>
            <a:ext cx="7315200" cy="274320"/>
          </a:xfrm>
          <a:prstGeom prst="rect">
            <a:avLst/>
          </a:prstGeom>
          <a:noFill/>
          <a:ln/>
        </p:spPr>
        <p:txBody>
          <a:bodyPr wrap="square" lIns="0" tIns="0" rIns="0" bIns="0" rtlCol="0" anchor="ctr"/>
          <a:lstStyle/>
          <a:p>
            <a:pPr indent="0" marL="0">
              <a:buNone/>
            </a:pPr>
            <a:r>
              <a:rPr lang="en-US" sz="1300" b="1" spc="150" kern="0" dirty="0">
                <a:solidFill>
                  <a:srgbClr val="7E97AE"/>
                </a:solidFill>
                <a:latin typeface="Calibri" pitchFamily="34" charset="0"/>
                <a:ea typeface="Calibri" pitchFamily="34" charset="-122"/>
                <a:cs typeface="Calibri" pitchFamily="34" charset="-120"/>
              </a:rPr>
              <a:t>Show live</a:t>
            </a:r>
            <a:endParaRPr lang="en-US" sz="1300" dirty="0"/>
          </a:p>
        </p:txBody>
      </p:sp>
      <p:sp>
        <p:nvSpPr>
          <p:cNvPr id="7" name="Shape 5"/>
          <p:cNvSpPr/>
          <p:nvPr/>
        </p:nvSpPr>
        <p:spPr>
          <a:xfrm>
            <a:off x="877824" y="3310128"/>
            <a:ext cx="182880" cy="182880"/>
          </a:xfrm>
          <a:prstGeom prst="ellipse">
            <a:avLst/>
          </a:prstGeom>
          <a:solidFill>
            <a:srgbClr val="8FD4E8"/>
          </a:solidFill>
          <a:ln/>
        </p:spPr>
      </p:sp>
      <p:sp>
        <p:nvSpPr>
          <p:cNvPr id="8" name="Text 6"/>
          <p:cNvSpPr/>
          <p:nvPr/>
        </p:nvSpPr>
        <p:spPr>
          <a:xfrm>
            <a:off x="1298448" y="3182112"/>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Ask what to reorder this week</a:t>
            </a:r>
            <a:endParaRPr lang="en-US" sz="2200" dirty="0"/>
          </a:p>
        </p:txBody>
      </p:sp>
      <p:sp>
        <p:nvSpPr>
          <p:cNvPr id="9" name="Shape 7"/>
          <p:cNvSpPr/>
          <p:nvPr/>
        </p:nvSpPr>
        <p:spPr>
          <a:xfrm>
            <a:off x="877824" y="3986784"/>
            <a:ext cx="182880" cy="182880"/>
          </a:xfrm>
          <a:prstGeom prst="ellipse">
            <a:avLst/>
          </a:prstGeom>
          <a:solidFill>
            <a:srgbClr val="8FD4E8"/>
          </a:solidFill>
          <a:ln/>
        </p:spPr>
      </p:sp>
      <p:sp>
        <p:nvSpPr>
          <p:cNvPr id="10" name="Text 8"/>
          <p:cNvSpPr/>
          <p:nvPr/>
        </p:nvSpPr>
        <p:spPr>
          <a:xfrm>
            <a:off x="1298448" y="3858768"/>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Ask what’s tying up cash right now</a:t>
            </a:r>
            <a:endParaRPr lang="en-US" sz="2200" dirty="0"/>
          </a:p>
        </p:txBody>
      </p:sp>
      <p:sp>
        <p:nvSpPr>
          <p:cNvPr id="11" name="Shape 9"/>
          <p:cNvSpPr/>
          <p:nvPr/>
        </p:nvSpPr>
        <p:spPr>
          <a:xfrm>
            <a:off x="877824" y="4663440"/>
            <a:ext cx="182880" cy="182880"/>
          </a:xfrm>
          <a:prstGeom prst="ellipse">
            <a:avLst/>
          </a:prstGeom>
          <a:solidFill>
            <a:srgbClr val="8FD4E8"/>
          </a:solidFill>
          <a:ln/>
        </p:spPr>
      </p:sp>
      <p:sp>
        <p:nvSpPr>
          <p:cNvPr id="12" name="Text 10"/>
          <p:cNvSpPr/>
          <p:nvPr/>
        </p:nvSpPr>
        <p:spPr>
          <a:xfrm>
            <a:off x="1298448" y="4535424"/>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It already holds the whole catalog in context</a:t>
            </a:r>
            <a:endParaRPr lang="en-US" sz="2200" dirty="0"/>
          </a:p>
        </p:txBody>
      </p:sp>
      <p:sp>
        <p:nvSpPr>
          <p:cNvPr id="13" name="Text 11"/>
          <p:cNvSpPr/>
          <p:nvPr/>
        </p:nvSpPr>
        <p:spPr>
          <a:xfrm>
            <a:off x="822960" y="6144768"/>
            <a:ext cx="10607040" cy="457200"/>
          </a:xfrm>
          <a:prstGeom prst="rect">
            <a:avLst/>
          </a:prstGeom>
          <a:noFill/>
          <a:ln/>
        </p:spPr>
        <p:txBody>
          <a:bodyPr wrap="square" lIns="0" tIns="0" rIns="0" bIns="0" rtlCol="0" anchor="ctr"/>
          <a:lstStyle/>
          <a:p>
            <a:pPr indent="0" marL="0">
              <a:lnSpc>
                <a:spcPts val="1800"/>
              </a:lnSpc>
              <a:buNone/>
            </a:pPr>
            <a:r>
              <a:rPr lang="en-US" sz="1300" i="1" dirty="0">
                <a:solidFill>
                  <a:srgbClr val="8FA8BE"/>
                </a:solidFill>
                <a:latin typeface="Calibri" pitchFamily="34" charset="0"/>
                <a:ea typeface="Calibri" pitchFamily="34" charset="-122"/>
                <a:cs typeface="Calibri" pitchFamily="34" charset="-120"/>
              </a:rPr>
              <a:t>Full sales-history mode is built — it’s gated only by AI token budget, a billing decision not an engineering 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065A82">
              <a:alpha val="42000"/>
            </a:srgbClr>
          </a:solidFill>
          <a:ln/>
        </p:spPr>
      </p:sp>
      <p:sp>
        <p:nvSpPr>
          <p:cNvPr id="3" name="Shape 1"/>
          <p:cNvSpPr/>
          <p:nvPr/>
        </p:nvSpPr>
        <p:spPr>
          <a:xfrm>
            <a:off x="-1371600" y="4297680"/>
            <a:ext cx="3840480" cy="3840480"/>
          </a:xfrm>
          <a:prstGeom prst="ellipse">
            <a:avLst/>
          </a:prstGeom>
          <a:solidFill>
            <a:srgbClr val="1C7293">
              <a:alpha val="34000"/>
            </a:srgbClr>
          </a:solidFill>
          <a:ln/>
        </p:spPr>
      </p:sp>
      <p:sp>
        <p:nvSpPr>
          <p:cNvPr id="4" name="Text 2"/>
          <p:cNvSpPr/>
          <p:nvPr/>
        </p:nvSpPr>
        <p:spPr>
          <a:xfrm>
            <a:off x="822960" y="868680"/>
            <a:ext cx="7315200" cy="310896"/>
          </a:xfrm>
          <a:prstGeom prst="rect">
            <a:avLst/>
          </a:prstGeom>
          <a:noFill/>
          <a:ln/>
        </p:spPr>
        <p:txBody>
          <a:bodyPr wrap="square" lIns="0" tIns="0" rIns="0" bIns="0" rtlCol="0" anchor="ctr"/>
          <a:lstStyle/>
          <a:p>
            <a:pPr indent="0" marL="0">
              <a:buNone/>
            </a:pPr>
            <a:r>
              <a:rPr lang="en-US" sz="1300" b="1" spc="250" kern="0" dirty="0">
                <a:solidFill>
                  <a:srgbClr val="8FD4E8"/>
                </a:solidFill>
                <a:latin typeface="Calibri" pitchFamily="34" charset="0"/>
                <a:ea typeface="Calibri" pitchFamily="34" charset="-122"/>
                <a:cs typeface="Calibri" pitchFamily="34" charset="-120"/>
              </a:rPr>
              <a:t>LIVE DEMO</a:t>
            </a:r>
            <a:endParaRPr lang="en-US" sz="1300" dirty="0"/>
          </a:p>
        </p:txBody>
      </p:sp>
      <p:sp>
        <p:nvSpPr>
          <p:cNvPr id="5" name="Text 3"/>
          <p:cNvSpPr/>
          <p:nvPr/>
        </p:nvSpPr>
        <p:spPr>
          <a:xfrm>
            <a:off x="822960" y="1298448"/>
            <a:ext cx="104241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Scorecard tab</a:t>
            </a:r>
            <a:endParaRPr lang="en-US" sz="4600" dirty="0"/>
          </a:p>
        </p:txBody>
      </p:sp>
      <p:sp>
        <p:nvSpPr>
          <p:cNvPr id="6" name="Text 4"/>
          <p:cNvSpPr/>
          <p:nvPr/>
        </p:nvSpPr>
        <p:spPr>
          <a:xfrm>
            <a:off x="841248" y="2724912"/>
            <a:ext cx="7315200" cy="274320"/>
          </a:xfrm>
          <a:prstGeom prst="rect">
            <a:avLst/>
          </a:prstGeom>
          <a:noFill/>
          <a:ln/>
        </p:spPr>
        <p:txBody>
          <a:bodyPr wrap="square" lIns="0" tIns="0" rIns="0" bIns="0" rtlCol="0" anchor="ctr"/>
          <a:lstStyle/>
          <a:p>
            <a:pPr indent="0" marL="0">
              <a:buNone/>
            </a:pPr>
            <a:r>
              <a:rPr lang="en-US" sz="1300" b="1" spc="150" kern="0" dirty="0">
                <a:solidFill>
                  <a:srgbClr val="7E97AE"/>
                </a:solidFill>
                <a:latin typeface="Calibri" pitchFamily="34" charset="0"/>
                <a:ea typeface="Calibri" pitchFamily="34" charset="-122"/>
                <a:cs typeface="Calibri" pitchFamily="34" charset="-120"/>
              </a:rPr>
              <a:t>Show live</a:t>
            </a:r>
            <a:endParaRPr lang="en-US" sz="1300" dirty="0"/>
          </a:p>
        </p:txBody>
      </p:sp>
      <p:sp>
        <p:nvSpPr>
          <p:cNvPr id="7" name="Shape 5"/>
          <p:cNvSpPr/>
          <p:nvPr/>
        </p:nvSpPr>
        <p:spPr>
          <a:xfrm>
            <a:off x="877824" y="3310128"/>
            <a:ext cx="182880" cy="182880"/>
          </a:xfrm>
          <a:prstGeom prst="ellipse">
            <a:avLst/>
          </a:prstGeom>
          <a:solidFill>
            <a:srgbClr val="8FD4E8"/>
          </a:solidFill>
          <a:ln/>
        </p:spPr>
      </p:sp>
      <p:sp>
        <p:nvSpPr>
          <p:cNvPr id="8" name="Text 6"/>
          <p:cNvSpPr/>
          <p:nvPr/>
        </p:nvSpPr>
        <p:spPr>
          <a:xfrm>
            <a:off x="1298448" y="3182112"/>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Margin and capital tied up, per product</a:t>
            </a:r>
            <a:endParaRPr lang="en-US" sz="2200" dirty="0"/>
          </a:p>
        </p:txBody>
      </p:sp>
      <p:sp>
        <p:nvSpPr>
          <p:cNvPr id="9" name="Shape 7"/>
          <p:cNvSpPr/>
          <p:nvPr/>
        </p:nvSpPr>
        <p:spPr>
          <a:xfrm>
            <a:off x="877824" y="3986784"/>
            <a:ext cx="182880" cy="182880"/>
          </a:xfrm>
          <a:prstGeom prst="ellipse">
            <a:avLst/>
          </a:prstGeom>
          <a:solidFill>
            <a:srgbClr val="8FD4E8"/>
          </a:solidFill>
          <a:ln/>
        </p:spPr>
      </p:sp>
      <p:sp>
        <p:nvSpPr>
          <p:cNvPr id="10" name="Text 8"/>
          <p:cNvSpPr/>
          <p:nvPr/>
        </p:nvSpPr>
        <p:spPr>
          <a:xfrm>
            <a:off x="1298448" y="3858768"/>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One ranked “needs attention” list across the catalog</a:t>
            </a:r>
            <a:endParaRPr lang="en-US" sz="2200" dirty="0"/>
          </a:p>
        </p:txBody>
      </p:sp>
      <p:sp>
        <p:nvSpPr>
          <p:cNvPr id="11" name="Shape 9"/>
          <p:cNvSpPr/>
          <p:nvPr/>
        </p:nvSpPr>
        <p:spPr>
          <a:xfrm>
            <a:off x="877824" y="4663440"/>
            <a:ext cx="182880" cy="182880"/>
          </a:xfrm>
          <a:prstGeom prst="ellipse">
            <a:avLst/>
          </a:prstGeom>
          <a:solidFill>
            <a:srgbClr val="8FD4E8"/>
          </a:solidFill>
          <a:ln/>
        </p:spPr>
      </p:sp>
      <p:sp>
        <p:nvSpPr>
          <p:cNvPr id="12" name="Text 10"/>
          <p:cNvSpPr/>
          <p:nvPr/>
        </p:nvSpPr>
        <p:spPr>
          <a:xfrm>
            <a:off x="1298448" y="4535424"/>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Promotion vs normal demand, side by side</a:t>
            </a:r>
            <a:endParaRPr lang="en-US" sz="2200" dirty="0"/>
          </a:p>
        </p:txBody>
      </p:sp>
      <p:sp>
        <p:nvSpPr>
          <p:cNvPr id="13" name="Shape 11"/>
          <p:cNvSpPr/>
          <p:nvPr/>
        </p:nvSpPr>
        <p:spPr>
          <a:xfrm>
            <a:off x="877824" y="5340096"/>
            <a:ext cx="182880" cy="182880"/>
          </a:xfrm>
          <a:prstGeom prst="ellipse">
            <a:avLst/>
          </a:prstGeom>
          <a:solidFill>
            <a:srgbClr val="8FD4E8"/>
          </a:solidFill>
          <a:ln/>
        </p:spPr>
      </p:sp>
      <p:sp>
        <p:nvSpPr>
          <p:cNvPr id="14" name="Text 12"/>
          <p:cNvSpPr/>
          <p:nvPr/>
        </p:nvSpPr>
        <p:spPr>
          <a:xfrm>
            <a:off x="1298448" y="5212080"/>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Health flags: dead stock, forecast divergence</a:t>
            </a:r>
            <a:endParaRPr lang="en-US" sz="2200" dirty="0"/>
          </a:p>
        </p:txBody>
      </p:sp>
      <p:sp>
        <p:nvSpPr>
          <p:cNvPr id="15" name="Text 13"/>
          <p:cNvSpPr/>
          <p:nvPr/>
        </p:nvSpPr>
        <p:spPr>
          <a:xfrm>
            <a:off x="822960" y="6144768"/>
            <a:ext cx="10607040" cy="457200"/>
          </a:xfrm>
          <a:prstGeom prst="rect">
            <a:avLst/>
          </a:prstGeom>
          <a:noFill/>
          <a:ln/>
        </p:spPr>
        <p:txBody>
          <a:bodyPr wrap="square" lIns="0" tIns="0" rIns="0" bIns="0" rtlCol="0" anchor="ctr"/>
          <a:lstStyle/>
          <a:p>
            <a:pPr indent="0" marL="0">
              <a:lnSpc>
                <a:spcPts val="1800"/>
              </a:lnSpc>
              <a:buNone/>
            </a:pPr>
            <a:r>
              <a:rPr lang="en-US" sz="1300" i="1" dirty="0">
                <a:solidFill>
                  <a:srgbClr val="8FA8BE"/>
                </a:solidFill>
                <a:latin typeface="Calibri" pitchFamily="34" charset="0"/>
                <a:ea typeface="Calibri" pitchFamily="34" charset="-122"/>
                <a:cs typeface="Calibri" pitchFamily="34" charset="-120"/>
              </a:rPr>
              <a:t>Products with no cost on file are left out of the money view, not priced on a guess.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509760" y="-1463040"/>
            <a:ext cx="4572000" cy="4572000"/>
          </a:xfrm>
          <a:prstGeom prst="ellipse">
            <a:avLst/>
          </a:prstGeom>
          <a:solidFill>
            <a:srgbClr val="065A82">
              <a:alpha val="42000"/>
            </a:srgbClr>
          </a:solidFill>
          <a:ln/>
        </p:spPr>
      </p:sp>
      <p:sp>
        <p:nvSpPr>
          <p:cNvPr id="3" name="Shape 1"/>
          <p:cNvSpPr/>
          <p:nvPr/>
        </p:nvSpPr>
        <p:spPr>
          <a:xfrm>
            <a:off x="-1371600" y="4297680"/>
            <a:ext cx="3840480" cy="3840480"/>
          </a:xfrm>
          <a:prstGeom prst="ellipse">
            <a:avLst/>
          </a:prstGeom>
          <a:solidFill>
            <a:srgbClr val="1C7293">
              <a:alpha val="34000"/>
            </a:srgbClr>
          </a:solidFill>
          <a:ln/>
        </p:spPr>
      </p:sp>
      <p:sp>
        <p:nvSpPr>
          <p:cNvPr id="4" name="Text 2"/>
          <p:cNvSpPr/>
          <p:nvPr/>
        </p:nvSpPr>
        <p:spPr>
          <a:xfrm>
            <a:off x="822960" y="868680"/>
            <a:ext cx="7315200" cy="310896"/>
          </a:xfrm>
          <a:prstGeom prst="rect">
            <a:avLst/>
          </a:prstGeom>
          <a:noFill/>
          <a:ln/>
        </p:spPr>
        <p:txBody>
          <a:bodyPr wrap="square" lIns="0" tIns="0" rIns="0" bIns="0" rtlCol="0" anchor="ctr"/>
          <a:lstStyle/>
          <a:p>
            <a:pPr indent="0" marL="0">
              <a:buNone/>
            </a:pPr>
            <a:r>
              <a:rPr lang="en-US" sz="1300" b="1" spc="250" kern="0" dirty="0">
                <a:solidFill>
                  <a:srgbClr val="8FD4E8"/>
                </a:solidFill>
                <a:latin typeface="Calibri" pitchFamily="34" charset="0"/>
                <a:ea typeface="Calibri" pitchFamily="34" charset="-122"/>
                <a:cs typeface="Calibri" pitchFamily="34" charset="-120"/>
              </a:rPr>
              <a:t>LIVE DEMO</a:t>
            </a:r>
            <a:endParaRPr lang="en-US" sz="1300" dirty="0"/>
          </a:p>
        </p:txBody>
      </p:sp>
      <p:sp>
        <p:nvSpPr>
          <p:cNvPr id="5" name="Text 3"/>
          <p:cNvSpPr/>
          <p:nvPr/>
        </p:nvSpPr>
        <p:spPr>
          <a:xfrm>
            <a:off x="822960" y="1298448"/>
            <a:ext cx="1042416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Suppliers tab</a:t>
            </a:r>
            <a:endParaRPr lang="en-US" sz="4600" dirty="0"/>
          </a:p>
        </p:txBody>
      </p:sp>
      <p:sp>
        <p:nvSpPr>
          <p:cNvPr id="6" name="Text 4"/>
          <p:cNvSpPr/>
          <p:nvPr/>
        </p:nvSpPr>
        <p:spPr>
          <a:xfrm>
            <a:off x="841248" y="2724912"/>
            <a:ext cx="7315200" cy="274320"/>
          </a:xfrm>
          <a:prstGeom prst="rect">
            <a:avLst/>
          </a:prstGeom>
          <a:noFill/>
          <a:ln/>
        </p:spPr>
        <p:txBody>
          <a:bodyPr wrap="square" lIns="0" tIns="0" rIns="0" bIns="0" rtlCol="0" anchor="ctr"/>
          <a:lstStyle/>
          <a:p>
            <a:pPr indent="0" marL="0">
              <a:buNone/>
            </a:pPr>
            <a:r>
              <a:rPr lang="en-US" sz="1300" b="1" spc="150" kern="0" dirty="0">
                <a:solidFill>
                  <a:srgbClr val="7E97AE"/>
                </a:solidFill>
                <a:latin typeface="Calibri" pitchFamily="34" charset="0"/>
                <a:ea typeface="Calibri" pitchFamily="34" charset="-122"/>
                <a:cs typeface="Calibri" pitchFamily="34" charset="-120"/>
              </a:rPr>
              <a:t>Show live</a:t>
            </a:r>
            <a:endParaRPr lang="en-US" sz="1300" dirty="0"/>
          </a:p>
        </p:txBody>
      </p:sp>
      <p:sp>
        <p:nvSpPr>
          <p:cNvPr id="7" name="Shape 5"/>
          <p:cNvSpPr/>
          <p:nvPr/>
        </p:nvSpPr>
        <p:spPr>
          <a:xfrm>
            <a:off x="877824" y="3310128"/>
            <a:ext cx="182880" cy="182880"/>
          </a:xfrm>
          <a:prstGeom prst="ellipse">
            <a:avLst/>
          </a:prstGeom>
          <a:solidFill>
            <a:srgbClr val="8FD4E8"/>
          </a:solidFill>
          <a:ln/>
        </p:spPr>
      </p:sp>
      <p:sp>
        <p:nvSpPr>
          <p:cNvPr id="8" name="Text 6"/>
          <p:cNvSpPr/>
          <p:nvPr/>
        </p:nvSpPr>
        <p:spPr>
          <a:xfrm>
            <a:off x="1298448" y="3182112"/>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Purchase orders, tracked in transit and received against</a:t>
            </a:r>
            <a:endParaRPr lang="en-US" sz="2200" dirty="0"/>
          </a:p>
        </p:txBody>
      </p:sp>
      <p:sp>
        <p:nvSpPr>
          <p:cNvPr id="9" name="Shape 7"/>
          <p:cNvSpPr/>
          <p:nvPr/>
        </p:nvSpPr>
        <p:spPr>
          <a:xfrm>
            <a:off x="877824" y="3986784"/>
            <a:ext cx="182880" cy="182880"/>
          </a:xfrm>
          <a:prstGeom prst="ellipse">
            <a:avLst/>
          </a:prstGeom>
          <a:solidFill>
            <a:srgbClr val="8FD4E8"/>
          </a:solidFill>
          <a:ln/>
        </p:spPr>
      </p:sp>
      <p:sp>
        <p:nvSpPr>
          <p:cNvPr id="10" name="Text 8"/>
          <p:cNvSpPr/>
          <p:nvPr/>
        </p:nvSpPr>
        <p:spPr>
          <a:xfrm>
            <a:off x="1298448" y="3858768"/>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Real delivery times per supplier and per product</a:t>
            </a:r>
            <a:endParaRPr lang="en-US" sz="2200" dirty="0"/>
          </a:p>
        </p:txBody>
      </p:sp>
      <p:sp>
        <p:nvSpPr>
          <p:cNvPr id="11" name="Shape 9"/>
          <p:cNvSpPr/>
          <p:nvPr/>
        </p:nvSpPr>
        <p:spPr>
          <a:xfrm>
            <a:off x="877824" y="4663440"/>
            <a:ext cx="182880" cy="182880"/>
          </a:xfrm>
          <a:prstGeom prst="ellipse">
            <a:avLst/>
          </a:prstGeom>
          <a:solidFill>
            <a:srgbClr val="8FD4E8"/>
          </a:solidFill>
          <a:ln/>
        </p:spPr>
      </p:sp>
      <p:sp>
        <p:nvSpPr>
          <p:cNvPr id="12" name="Text 10"/>
          <p:cNvSpPr/>
          <p:nvPr/>
        </p:nvSpPr>
        <p:spPr>
          <a:xfrm>
            <a:off x="1298448" y="4535424"/>
            <a:ext cx="9875520" cy="502920"/>
          </a:xfrm>
          <a:prstGeom prst="rect">
            <a:avLst/>
          </a:prstGeom>
          <a:noFill/>
          <a:ln/>
        </p:spPr>
        <p:txBody>
          <a:bodyPr wrap="square" lIns="0" tIns="0" rIns="0" bIns="0" rtlCol="0" anchor="t"/>
          <a:lstStyle/>
          <a:p>
            <a:pPr indent="0" marL="0">
              <a:buNone/>
            </a:pPr>
            <a:r>
              <a:rPr lang="en-US" sz="2200" dirty="0">
                <a:solidFill>
                  <a:srgbClr val="E6EEF6"/>
                </a:solidFill>
                <a:latin typeface="Calibri" pitchFamily="34" charset="0"/>
                <a:ea typeface="Calibri" pitchFamily="34" charset="-122"/>
                <a:cs typeface="Calibri" pitchFamily="34" charset="-120"/>
              </a:rPr>
              <a:t>P80 planning figure — the recommended lead time</a:t>
            </a:r>
            <a:endParaRPr lang="en-US" sz="2200" dirty="0"/>
          </a:p>
        </p:txBody>
      </p:sp>
      <p:sp>
        <p:nvSpPr>
          <p:cNvPr id="13" name="Text 11"/>
          <p:cNvSpPr/>
          <p:nvPr/>
        </p:nvSpPr>
        <p:spPr>
          <a:xfrm>
            <a:off x="822960" y="6144768"/>
            <a:ext cx="10607040" cy="457200"/>
          </a:xfrm>
          <a:prstGeom prst="rect">
            <a:avLst/>
          </a:prstGeom>
          <a:noFill/>
          <a:ln/>
        </p:spPr>
        <p:txBody>
          <a:bodyPr wrap="square" lIns="0" tIns="0" rIns="0" bIns="0" rtlCol="0" anchor="ctr"/>
          <a:lstStyle/>
          <a:p>
            <a:pPr indent="0" marL="0">
              <a:lnSpc>
                <a:spcPts val="1800"/>
              </a:lnSpc>
              <a:buNone/>
            </a:pPr>
            <a:r>
              <a:rPr lang="en-US" sz="1300" i="1" dirty="0">
                <a:solidFill>
                  <a:srgbClr val="8FA8BE"/>
                </a:solidFill>
                <a:latin typeface="Calibri" pitchFamily="34" charset="0"/>
                <a:ea typeface="Calibri" pitchFamily="34" charset="-122"/>
                <a:cs typeface="Calibri" pitchFamily="34" charset="-120"/>
              </a:rPr>
              <a:t>P80 is the upgrade over the average; it needs three received orders, and the buyer applies it in one click.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457200"/>
            <a:ext cx="10908792"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REORDER DECISION  ·  BACKTEST TAB</a:t>
            </a:r>
            <a:endParaRPr lang="en-US" sz="1200" dirty="0"/>
          </a:p>
        </p:txBody>
      </p:sp>
      <p:sp>
        <p:nvSpPr>
          <p:cNvPr id="3" name="Text 1"/>
          <p:cNvSpPr/>
          <p:nvPr/>
        </p:nvSpPr>
        <p:spPr>
          <a:xfrm>
            <a:off x="640080" y="777240"/>
            <a:ext cx="10908792" cy="731520"/>
          </a:xfrm>
          <a:prstGeom prst="rect">
            <a:avLst/>
          </a:prstGeom>
          <a:noFill/>
          <a:ln/>
        </p:spPr>
        <p:txBody>
          <a:bodyPr wrap="square" lIns="0" tIns="0" rIns="0" bIns="0" rtlCol="0" anchor="ctr"/>
          <a:lstStyle/>
          <a:p>
            <a:pPr algn="l" indent="0" marL="0">
              <a:buNone/>
            </a:pPr>
            <a:r>
              <a:rPr lang="en-US" sz="3200" b="1" dirty="0">
                <a:solidFill>
                  <a:srgbClr val="21295C"/>
                </a:solidFill>
                <a:latin typeface="Cambria" pitchFamily="34" charset="0"/>
                <a:ea typeface="Cambria" pitchFamily="34" charset="-122"/>
                <a:cs typeface="Cambria" pitchFamily="34" charset="-120"/>
              </a:rPr>
              <a:t>How much cushion to hold — and what it is worth</a:t>
            </a:r>
            <a:endParaRPr lang="en-US" sz="3200" dirty="0"/>
          </a:p>
        </p:txBody>
      </p:sp>
      <p:sp>
        <p:nvSpPr>
          <p:cNvPr id="4" name="Text 2"/>
          <p:cNvSpPr/>
          <p:nvPr/>
        </p:nvSpPr>
        <p:spPr>
          <a:xfrm>
            <a:off x="640080" y="1481328"/>
            <a:ext cx="10908792" cy="320040"/>
          </a:xfrm>
          <a:prstGeom prst="rect">
            <a:avLst/>
          </a:prstGeom>
          <a:noFill/>
          <a:ln/>
        </p:spPr>
        <p:txBody>
          <a:bodyPr wrap="square" lIns="0" tIns="0" rIns="0" bIns="0" rtlCol="0" anchor="ctr"/>
          <a:lstStyle/>
          <a:p>
            <a:pPr indent="0" marL="0">
              <a:buNone/>
            </a:pPr>
            <a:r>
              <a:rPr lang="en-US" sz="1350" dirty="0">
                <a:solidFill>
                  <a:srgbClr val="5A6A78"/>
                </a:solidFill>
                <a:latin typeface="Calibri" pitchFamily="34" charset="0"/>
                <a:ea typeface="Calibri" pitchFamily="34" charset="-122"/>
                <a:cs typeface="Calibri" pitchFamily="34" charset="-120"/>
              </a:rPr>
              <a:t>Safety stock absorbs a busier week than expected, or a delivery that runs late. How much to carry is measured, not assumed.</a:t>
            </a:r>
            <a:endParaRPr lang="en-US" sz="1350" dirty="0"/>
          </a:p>
        </p:txBody>
      </p:sp>
      <p:sp>
        <p:nvSpPr>
          <p:cNvPr id="5" name="Shape 3"/>
          <p:cNvSpPr/>
          <p:nvPr/>
        </p:nvSpPr>
        <p:spPr>
          <a:xfrm>
            <a:off x="640080" y="1956816"/>
            <a:ext cx="5349240" cy="1773936"/>
          </a:xfrm>
          <a:prstGeom prst="roundRect">
            <a:avLst>
              <a:gd name="adj" fmla="val 4639"/>
            </a:avLst>
          </a:prstGeom>
          <a:solidFill>
            <a:srgbClr val="EDF3F7"/>
          </a:solidFill>
          <a:ln w="12700">
            <a:solidFill>
              <a:srgbClr val="EDF3F7"/>
            </a:solidFill>
            <a:prstDash val="solid"/>
          </a:ln>
        </p:spPr>
      </p:sp>
      <p:sp>
        <p:nvSpPr>
          <p:cNvPr id="6" name="Text 4"/>
          <p:cNvSpPr/>
          <p:nvPr/>
        </p:nvSpPr>
        <p:spPr>
          <a:xfrm>
            <a:off x="960120" y="2139696"/>
            <a:ext cx="4754880" cy="292608"/>
          </a:xfrm>
          <a:prstGeom prst="rect">
            <a:avLst/>
          </a:prstGeom>
          <a:noFill/>
          <a:ln/>
        </p:spPr>
        <p:txBody>
          <a:bodyPr wrap="square" lIns="0" tIns="0" rIns="0" bIns="0" rtlCol="0" anchor="t"/>
          <a:lstStyle/>
          <a:p>
            <a:pPr indent="0" marL="0">
              <a:buNone/>
            </a:pPr>
            <a:r>
              <a:rPr lang="en-US" sz="1500" b="1" dirty="0">
                <a:solidFill>
                  <a:srgbClr val="1C7293"/>
                </a:solidFill>
                <a:latin typeface="Calibri" pitchFamily="34" charset="0"/>
                <a:ea typeface="Calibri" pitchFamily="34" charset="-122"/>
                <a:cs typeface="Calibri" pitchFamily="34" charset="-120"/>
              </a:rPr>
              <a:t>What sets the size</a:t>
            </a:r>
            <a:endParaRPr lang="en-US" sz="1500" dirty="0"/>
          </a:p>
        </p:txBody>
      </p:sp>
      <p:sp>
        <p:nvSpPr>
          <p:cNvPr id="7" name="Text 5"/>
          <p:cNvSpPr/>
          <p:nvPr/>
        </p:nvSpPr>
        <p:spPr>
          <a:xfrm>
            <a:off x="960120" y="2487168"/>
            <a:ext cx="4754880" cy="1005840"/>
          </a:xfrm>
          <a:prstGeom prst="rect">
            <a:avLst/>
          </a:prstGeom>
          <a:noFill/>
          <a:ln/>
        </p:spPr>
        <p:txBody>
          <a:bodyPr wrap="square" lIns="0" tIns="0" rIns="0" bIns="0" rtlCol="0" anchor="t"/>
          <a:lstStyle/>
          <a:p>
            <a:pPr indent="0" marL="0">
              <a:lnSpc>
                <a:spcPts val="1700"/>
              </a:lnSpc>
              <a:buNone/>
            </a:pPr>
            <a:r>
              <a:rPr lang="en-US" sz="1250" dirty="0">
                <a:solidFill>
                  <a:srgbClr val="5A6A78"/>
                </a:solidFill>
                <a:latin typeface="Calibri" pitchFamily="34" charset="0"/>
                <a:ea typeface="Calibri" pitchFamily="34" charset="-122"/>
                <a:cs typeface="Calibri" pitchFamily="34" charset="-120"/>
              </a:rPr>
              <a:t>Two things: how far this product's forecasts have actually missed in the past, and how long the supplier takes to deliver. Hard to predict, or slow to restock, means a bigger cushion.</a:t>
            </a:r>
            <a:endParaRPr lang="en-US" sz="1250" dirty="0"/>
          </a:p>
        </p:txBody>
      </p:sp>
      <p:sp>
        <p:nvSpPr>
          <p:cNvPr id="8" name="Shape 6"/>
          <p:cNvSpPr/>
          <p:nvPr/>
        </p:nvSpPr>
        <p:spPr>
          <a:xfrm>
            <a:off x="6199632" y="1956816"/>
            <a:ext cx="5349240" cy="1773936"/>
          </a:xfrm>
          <a:prstGeom prst="roundRect">
            <a:avLst>
              <a:gd name="adj" fmla="val 4639"/>
            </a:avLst>
          </a:prstGeom>
          <a:solidFill>
            <a:srgbClr val="EDF3F7"/>
          </a:solidFill>
          <a:ln w="12700">
            <a:solidFill>
              <a:srgbClr val="EDF3F7"/>
            </a:solidFill>
            <a:prstDash val="solid"/>
          </a:ln>
        </p:spPr>
      </p:sp>
      <p:sp>
        <p:nvSpPr>
          <p:cNvPr id="9" name="Text 7"/>
          <p:cNvSpPr/>
          <p:nvPr/>
        </p:nvSpPr>
        <p:spPr>
          <a:xfrm>
            <a:off x="6519672" y="2139696"/>
            <a:ext cx="4754880" cy="292608"/>
          </a:xfrm>
          <a:prstGeom prst="rect">
            <a:avLst/>
          </a:prstGeom>
          <a:noFill/>
          <a:ln/>
        </p:spPr>
        <p:txBody>
          <a:bodyPr wrap="square" lIns="0" tIns="0" rIns="0" bIns="0" rtlCol="0" anchor="t"/>
          <a:lstStyle/>
          <a:p>
            <a:pPr indent="0" marL="0">
              <a:buNone/>
            </a:pPr>
            <a:r>
              <a:rPr lang="en-US" sz="1500" b="1" dirty="0">
                <a:solidFill>
                  <a:srgbClr val="B06A12"/>
                </a:solidFill>
                <a:latin typeface="Calibri" pitchFamily="34" charset="0"/>
                <a:ea typeface="Calibri" pitchFamily="34" charset="-122"/>
                <a:cs typeface="Calibri" pitchFamily="34" charset="-120"/>
              </a:rPr>
              <a:t>Protection level — what you choose</a:t>
            </a:r>
            <a:endParaRPr lang="en-US" sz="1500" dirty="0"/>
          </a:p>
        </p:txBody>
      </p:sp>
      <p:sp>
        <p:nvSpPr>
          <p:cNvPr id="10" name="Text 8"/>
          <p:cNvSpPr/>
          <p:nvPr/>
        </p:nvSpPr>
        <p:spPr>
          <a:xfrm>
            <a:off x="6519672" y="2487168"/>
            <a:ext cx="4754880" cy="457200"/>
          </a:xfrm>
          <a:prstGeom prst="rect">
            <a:avLst/>
          </a:prstGeom>
          <a:noFill/>
          <a:ln/>
        </p:spPr>
        <p:txBody>
          <a:bodyPr wrap="square" lIns="0" tIns="0" rIns="0" bIns="0" rtlCol="0" anchor="t"/>
          <a:lstStyle/>
          <a:p>
            <a:pPr indent="0" marL="0">
              <a:lnSpc>
                <a:spcPts val="1600"/>
              </a:lnSpc>
              <a:buNone/>
            </a:pPr>
            <a:r>
              <a:rPr lang="en-US" sz="1250" dirty="0">
                <a:solidFill>
                  <a:srgbClr val="5A6A78"/>
                </a:solidFill>
                <a:latin typeface="Calibri" pitchFamily="34" charset="0"/>
                <a:ea typeface="Calibri" pitchFamily="34" charset="-122"/>
                <a:cs typeface="Calibri" pitchFamily="34" charset="-120"/>
              </a:rPr>
              <a:t>How often you are willing to run out of this product. More protection, fewer stockouts, more cash held in stock.</a:t>
            </a:r>
            <a:endParaRPr lang="en-US" sz="1250" dirty="0"/>
          </a:p>
        </p:txBody>
      </p:sp>
      <p:sp>
        <p:nvSpPr>
          <p:cNvPr id="11" name="Shape 9"/>
          <p:cNvSpPr/>
          <p:nvPr/>
        </p:nvSpPr>
        <p:spPr>
          <a:xfrm>
            <a:off x="6519672" y="3017520"/>
            <a:ext cx="1060704" cy="475488"/>
          </a:xfrm>
          <a:prstGeom prst="roundRect">
            <a:avLst>
              <a:gd name="adj" fmla="val 19231"/>
            </a:avLst>
          </a:prstGeom>
          <a:solidFill>
            <a:srgbClr val="FFFFFF"/>
          </a:solidFill>
          <a:ln w="12700">
            <a:solidFill>
              <a:srgbClr val="C8D6E0"/>
            </a:solidFill>
            <a:prstDash val="solid"/>
          </a:ln>
        </p:spPr>
      </p:sp>
      <p:sp>
        <p:nvSpPr>
          <p:cNvPr id="12" name="Text 10"/>
          <p:cNvSpPr/>
          <p:nvPr/>
        </p:nvSpPr>
        <p:spPr>
          <a:xfrm>
            <a:off x="6519672" y="3054096"/>
            <a:ext cx="1060704" cy="237744"/>
          </a:xfrm>
          <a:prstGeom prst="rect">
            <a:avLst/>
          </a:prstGeom>
          <a:noFill/>
          <a:ln/>
        </p:spPr>
        <p:txBody>
          <a:bodyPr wrap="square" lIns="0" tIns="0" rIns="0" bIns="0" rtlCol="0" anchor="ctr"/>
          <a:lstStyle/>
          <a:p>
            <a:pPr algn="ctr" indent="0" marL="0">
              <a:buNone/>
            </a:pPr>
            <a:r>
              <a:rPr lang="en-US" sz="1250" b="1" dirty="0">
                <a:solidFill>
                  <a:srgbClr val="17202B"/>
                </a:solidFill>
                <a:latin typeface="Calibri" pitchFamily="34" charset="0"/>
                <a:ea typeface="Calibri" pitchFamily="34" charset="-122"/>
                <a:cs typeface="Calibri" pitchFamily="34" charset="-120"/>
              </a:rPr>
              <a:t>90%</a:t>
            </a:r>
            <a:endParaRPr lang="en-US" sz="1250" dirty="0"/>
          </a:p>
        </p:txBody>
      </p:sp>
      <p:sp>
        <p:nvSpPr>
          <p:cNvPr id="13" name="Text 11"/>
          <p:cNvSpPr/>
          <p:nvPr/>
        </p:nvSpPr>
        <p:spPr>
          <a:xfrm>
            <a:off x="6519672" y="3264408"/>
            <a:ext cx="1060704" cy="182880"/>
          </a:xfrm>
          <a:prstGeom prst="rect">
            <a:avLst/>
          </a:prstGeom>
          <a:noFill/>
          <a:ln/>
        </p:spPr>
        <p:txBody>
          <a:bodyPr wrap="square" lIns="0" tIns="0" rIns="0" bIns="0" rtlCol="0" anchor="ctr"/>
          <a:lstStyle/>
          <a:p>
            <a:pPr algn="ctr" indent="0" marL="0">
              <a:buNone/>
            </a:pPr>
            <a:r>
              <a:rPr lang="en-US" sz="900" dirty="0">
                <a:solidFill>
                  <a:srgbClr val="5A6A78"/>
                </a:solidFill>
                <a:latin typeface="Calibri" pitchFamily="34" charset="0"/>
                <a:ea typeface="Calibri" pitchFamily="34" charset="-122"/>
                <a:cs typeface="Calibri" pitchFamily="34" charset="-120"/>
              </a:rPr>
              <a:t>Light</a:t>
            </a:r>
            <a:endParaRPr lang="en-US" sz="900" dirty="0"/>
          </a:p>
        </p:txBody>
      </p:sp>
      <p:sp>
        <p:nvSpPr>
          <p:cNvPr id="14" name="Shape 12"/>
          <p:cNvSpPr/>
          <p:nvPr/>
        </p:nvSpPr>
        <p:spPr>
          <a:xfrm>
            <a:off x="7717536" y="3017520"/>
            <a:ext cx="1060704" cy="475488"/>
          </a:xfrm>
          <a:prstGeom prst="roundRect">
            <a:avLst>
              <a:gd name="adj" fmla="val 19231"/>
            </a:avLst>
          </a:prstGeom>
          <a:solidFill>
            <a:srgbClr val="065A82"/>
          </a:solidFill>
          <a:ln w="12700">
            <a:solidFill>
              <a:srgbClr val="065A82"/>
            </a:solidFill>
            <a:prstDash val="solid"/>
          </a:ln>
        </p:spPr>
      </p:sp>
      <p:sp>
        <p:nvSpPr>
          <p:cNvPr id="15" name="Text 13"/>
          <p:cNvSpPr/>
          <p:nvPr/>
        </p:nvSpPr>
        <p:spPr>
          <a:xfrm>
            <a:off x="7717536" y="3054096"/>
            <a:ext cx="1060704" cy="237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95%</a:t>
            </a:r>
            <a:endParaRPr lang="en-US" sz="1250" dirty="0"/>
          </a:p>
        </p:txBody>
      </p:sp>
      <p:sp>
        <p:nvSpPr>
          <p:cNvPr id="16" name="Text 14"/>
          <p:cNvSpPr/>
          <p:nvPr/>
        </p:nvSpPr>
        <p:spPr>
          <a:xfrm>
            <a:off x="7717536" y="3264408"/>
            <a:ext cx="1060704" cy="182880"/>
          </a:xfrm>
          <a:prstGeom prst="rect">
            <a:avLst/>
          </a:prstGeom>
          <a:noFill/>
          <a:ln/>
        </p:spPr>
        <p:txBody>
          <a:bodyPr wrap="square" lIns="0" tIns="0" rIns="0" bIns="0" rtlCol="0" anchor="ctr"/>
          <a:lstStyle/>
          <a:p>
            <a:pPr algn="ctr" indent="0" marL="0">
              <a:buNone/>
            </a:pPr>
            <a:r>
              <a:rPr lang="en-US" sz="900" dirty="0">
                <a:solidFill>
                  <a:srgbClr val="BFD3E4"/>
                </a:solidFill>
                <a:latin typeface="Calibri" pitchFamily="34" charset="0"/>
                <a:ea typeface="Calibri" pitchFamily="34" charset="-122"/>
                <a:cs typeface="Calibri" pitchFamily="34" charset="-120"/>
              </a:rPr>
              <a:t>Standard</a:t>
            </a:r>
            <a:endParaRPr lang="en-US" sz="900" dirty="0"/>
          </a:p>
        </p:txBody>
      </p:sp>
      <p:sp>
        <p:nvSpPr>
          <p:cNvPr id="17" name="Shape 15"/>
          <p:cNvSpPr/>
          <p:nvPr/>
        </p:nvSpPr>
        <p:spPr>
          <a:xfrm>
            <a:off x="8915400" y="3017520"/>
            <a:ext cx="1060704" cy="475488"/>
          </a:xfrm>
          <a:prstGeom prst="roundRect">
            <a:avLst>
              <a:gd name="adj" fmla="val 19231"/>
            </a:avLst>
          </a:prstGeom>
          <a:solidFill>
            <a:srgbClr val="FFFFFF"/>
          </a:solidFill>
          <a:ln w="12700">
            <a:solidFill>
              <a:srgbClr val="C8D6E0"/>
            </a:solidFill>
            <a:prstDash val="solid"/>
          </a:ln>
        </p:spPr>
      </p:sp>
      <p:sp>
        <p:nvSpPr>
          <p:cNvPr id="18" name="Text 16"/>
          <p:cNvSpPr/>
          <p:nvPr/>
        </p:nvSpPr>
        <p:spPr>
          <a:xfrm>
            <a:off x="8915400" y="3054096"/>
            <a:ext cx="1060704" cy="237744"/>
          </a:xfrm>
          <a:prstGeom prst="rect">
            <a:avLst/>
          </a:prstGeom>
          <a:noFill/>
          <a:ln/>
        </p:spPr>
        <p:txBody>
          <a:bodyPr wrap="square" lIns="0" tIns="0" rIns="0" bIns="0" rtlCol="0" anchor="ctr"/>
          <a:lstStyle/>
          <a:p>
            <a:pPr algn="ctr" indent="0" marL="0">
              <a:buNone/>
            </a:pPr>
            <a:r>
              <a:rPr lang="en-US" sz="1250" b="1" dirty="0">
                <a:solidFill>
                  <a:srgbClr val="17202B"/>
                </a:solidFill>
                <a:latin typeface="Calibri" pitchFamily="34" charset="0"/>
                <a:ea typeface="Calibri" pitchFamily="34" charset="-122"/>
                <a:cs typeface="Calibri" pitchFamily="34" charset="-120"/>
              </a:rPr>
              <a:t>98%</a:t>
            </a:r>
            <a:endParaRPr lang="en-US" sz="1250" dirty="0"/>
          </a:p>
        </p:txBody>
      </p:sp>
      <p:sp>
        <p:nvSpPr>
          <p:cNvPr id="19" name="Text 17"/>
          <p:cNvSpPr/>
          <p:nvPr/>
        </p:nvSpPr>
        <p:spPr>
          <a:xfrm>
            <a:off x="8915400" y="3264408"/>
            <a:ext cx="1060704" cy="182880"/>
          </a:xfrm>
          <a:prstGeom prst="rect">
            <a:avLst/>
          </a:prstGeom>
          <a:noFill/>
          <a:ln/>
        </p:spPr>
        <p:txBody>
          <a:bodyPr wrap="square" lIns="0" tIns="0" rIns="0" bIns="0" rtlCol="0" anchor="ctr"/>
          <a:lstStyle/>
          <a:p>
            <a:pPr algn="ctr" indent="0" marL="0">
              <a:buNone/>
            </a:pPr>
            <a:r>
              <a:rPr lang="en-US" sz="900" dirty="0">
                <a:solidFill>
                  <a:srgbClr val="5A6A78"/>
                </a:solidFill>
                <a:latin typeface="Calibri" pitchFamily="34" charset="0"/>
                <a:ea typeface="Calibri" pitchFamily="34" charset="-122"/>
                <a:cs typeface="Calibri" pitchFamily="34" charset="-120"/>
              </a:rPr>
              <a:t>High</a:t>
            </a:r>
            <a:endParaRPr lang="en-US" sz="900" dirty="0"/>
          </a:p>
        </p:txBody>
      </p:sp>
      <p:sp>
        <p:nvSpPr>
          <p:cNvPr id="20" name="Shape 18"/>
          <p:cNvSpPr/>
          <p:nvPr/>
        </p:nvSpPr>
        <p:spPr>
          <a:xfrm>
            <a:off x="10113264" y="3017520"/>
            <a:ext cx="1060704" cy="475488"/>
          </a:xfrm>
          <a:prstGeom prst="roundRect">
            <a:avLst>
              <a:gd name="adj" fmla="val 19231"/>
            </a:avLst>
          </a:prstGeom>
          <a:solidFill>
            <a:srgbClr val="FFFFFF"/>
          </a:solidFill>
          <a:ln w="12700">
            <a:solidFill>
              <a:srgbClr val="C8D6E0"/>
            </a:solidFill>
            <a:prstDash val="solid"/>
          </a:ln>
        </p:spPr>
      </p:sp>
      <p:sp>
        <p:nvSpPr>
          <p:cNvPr id="21" name="Text 19"/>
          <p:cNvSpPr/>
          <p:nvPr/>
        </p:nvSpPr>
        <p:spPr>
          <a:xfrm>
            <a:off x="10113264" y="3054096"/>
            <a:ext cx="1060704" cy="237744"/>
          </a:xfrm>
          <a:prstGeom prst="rect">
            <a:avLst/>
          </a:prstGeom>
          <a:noFill/>
          <a:ln/>
        </p:spPr>
        <p:txBody>
          <a:bodyPr wrap="square" lIns="0" tIns="0" rIns="0" bIns="0" rtlCol="0" anchor="ctr"/>
          <a:lstStyle/>
          <a:p>
            <a:pPr algn="ctr" indent="0" marL="0">
              <a:buNone/>
            </a:pPr>
            <a:r>
              <a:rPr lang="en-US" sz="1250" b="1" dirty="0">
                <a:solidFill>
                  <a:srgbClr val="17202B"/>
                </a:solidFill>
                <a:latin typeface="Calibri" pitchFamily="34" charset="0"/>
                <a:ea typeface="Calibri" pitchFamily="34" charset="-122"/>
                <a:cs typeface="Calibri" pitchFamily="34" charset="-120"/>
              </a:rPr>
              <a:t>99%</a:t>
            </a:r>
            <a:endParaRPr lang="en-US" sz="1250" dirty="0"/>
          </a:p>
        </p:txBody>
      </p:sp>
      <p:sp>
        <p:nvSpPr>
          <p:cNvPr id="22" name="Text 20"/>
          <p:cNvSpPr/>
          <p:nvPr/>
        </p:nvSpPr>
        <p:spPr>
          <a:xfrm>
            <a:off x="10113264" y="3264408"/>
            <a:ext cx="1060704" cy="182880"/>
          </a:xfrm>
          <a:prstGeom prst="rect">
            <a:avLst/>
          </a:prstGeom>
          <a:noFill/>
          <a:ln/>
        </p:spPr>
        <p:txBody>
          <a:bodyPr wrap="square" lIns="0" tIns="0" rIns="0" bIns="0" rtlCol="0" anchor="ctr"/>
          <a:lstStyle/>
          <a:p>
            <a:pPr algn="ctr" indent="0" marL="0">
              <a:buNone/>
            </a:pPr>
            <a:r>
              <a:rPr lang="en-US" sz="900" dirty="0">
                <a:solidFill>
                  <a:srgbClr val="5A6A78"/>
                </a:solidFill>
                <a:latin typeface="Calibri" pitchFamily="34" charset="0"/>
                <a:ea typeface="Calibri" pitchFamily="34" charset="-122"/>
                <a:cs typeface="Calibri" pitchFamily="34" charset="-120"/>
              </a:rPr>
              <a:t>Maximum</a:t>
            </a:r>
            <a:endParaRPr lang="en-US" sz="900" dirty="0"/>
          </a:p>
        </p:txBody>
      </p:sp>
      <p:sp>
        <p:nvSpPr>
          <p:cNvPr id="23" name="Shape 21"/>
          <p:cNvSpPr/>
          <p:nvPr/>
        </p:nvSpPr>
        <p:spPr>
          <a:xfrm>
            <a:off x="640080" y="3877056"/>
            <a:ext cx="10908792" cy="1463040"/>
          </a:xfrm>
          <a:prstGeom prst="roundRect">
            <a:avLst>
              <a:gd name="adj" fmla="val 5625"/>
            </a:avLst>
          </a:prstGeom>
          <a:solidFill>
            <a:srgbClr val="21295C"/>
          </a:solidFill>
          <a:ln w="12700">
            <a:solidFill>
              <a:srgbClr val="21295C"/>
            </a:solidFill>
            <a:prstDash val="solid"/>
          </a:ln>
        </p:spPr>
      </p:sp>
      <p:sp>
        <p:nvSpPr>
          <p:cNvPr id="24" name="Text 22"/>
          <p:cNvSpPr/>
          <p:nvPr/>
        </p:nvSpPr>
        <p:spPr>
          <a:xfrm>
            <a:off x="960120" y="4041648"/>
            <a:ext cx="5486400" cy="274320"/>
          </a:xfrm>
          <a:prstGeom prst="rect">
            <a:avLst/>
          </a:prstGeom>
          <a:noFill/>
          <a:ln/>
        </p:spPr>
        <p:txBody>
          <a:bodyPr wrap="square" lIns="0" tIns="0" rIns="0" bIns="0" rtlCol="0" anchor="ctr"/>
          <a:lstStyle/>
          <a:p>
            <a:pPr indent="0" marL="0">
              <a:buNone/>
            </a:pPr>
            <a:r>
              <a:rPr lang="en-US" sz="1300" b="1" spc="120" kern="0" dirty="0">
                <a:solidFill>
                  <a:srgbClr val="9FB6C9"/>
                </a:solidFill>
                <a:latin typeface="Calibri" pitchFamily="34" charset="0"/>
                <a:ea typeface="Calibri" pitchFamily="34" charset="-122"/>
                <a:cs typeface="Calibri" pitchFamily="34" charset="-120"/>
              </a:rPr>
              <a:t>The backtest picks the level, by cost</a:t>
            </a:r>
            <a:endParaRPr lang="en-US" sz="1300" dirty="0"/>
          </a:p>
        </p:txBody>
      </p:sp>
      <p:sp>
        <p:nvSpPr>
          <p:cNvPr id="25" name="Text 23"/>
          <p:cNvSpPr/>
          <p:nvPr/>
        </p:nvSpPr>
        <p:spPr>
          <a:xfrm>
            <a:off x="960120" y="4352544"/>
            <a:ext cx="10241280" cy="822960"/>
          </a:xfrm>
          <a:prstGeom prst="rect">
            <a:avLst/>
          </a:prstGeom>
          <a:noFill/>
          <a:ln/>
        </p:spPr>
        <p:txBody>
          <a:bodyPr wrap="square" lIns="0" tIns="0" rIns="0" bIns="0" rtlCol="0" anchor="t"/>
          <a:lstStyle/>
          <a:p>
            <a:pPr indent="0" marL="0">
              <a:lnSpc>
                <a:spcPts val="1700"/>
              </a:lnSpc>
              <a:buNone/>
            </a:pPr>
            <a:r>
              <a:rPr lang="en-US" sz="1250" dirty="0">
                <a:solidFill>
                  <a:srgbClr val="C3D4E2"/>
                </a:solidFill>
                <a:latin typeface="Calibri" pitchFamily="34" charset="0"/>
                <a:ea typeface="Calibri" pitchFamily="34" charset="-122"/>
                <a:cs typeface="Calibri" pitchFamily="34" charset="-120"/>
              </a:rPr>
              <a:t>The tool replays the product's own sales history many times over, rewinding to past dates and checking what each protection level would have done. Every level is scored on two costs: the profit lost to stockouts, and the cash tied up in stock that sat unused. The recommended level is simply the cheapest balance of the two — and it comes out different for different products.</a:t>
            </a:r>
            <a:endParaRPr lang="en-US" sz="1250" dirty="0"/>
          </a:p>
        </p:txBody>
      </p:sp>
      <p:sp>
        <p:nvSpPr>
          <p:cNvPr id="26" name="Shape 24"/>
          <p:cNvSpPr/>
          <p:nvPr/>
        </p:nvSpPr>
        <p:spPr>
          <a:xfrm>
            <a:off x="640080" y="5486400"/>
            <a:ext cx="10908792" cy="1051560"/>
          </a:xfrm>
          <a:prstGeom prst="roundRect">
            <a:avLst>
              <a:gd name="adj" fmla="val 7826"/>
            </a:avLst>
          </a:prstGeom>
          <a:solidFill>
            <a:srgbClr val="EDF3F7"/>
          </a:solidFill>
          <a:ln w="12700">
            <a:solidFill>
              <a:srgbClr val="EDF3F7"/>
            </a:solidFill>
            <a:prstDash val="solid"/>
          </a:ln>
        </p:spPr>
      </p:sp>
      <p:sp>
        <p:nvSpPr>
          <p:cNvPr id="27" name="Text 25"/>
          <p:cNvSpPr/>
          <p:nvPr/>
        </p:nvSpPr>
        <p:spPr>
          <a:xfrm>
            <a:off x="960120" y="5632704"/>
            <a:ext cx="5486400" cy="274320"/>
          </a:xfrm>
          <a:prstGeom prst="rect">
            <a:avLst/>
          </a:prstGeom>
          <a:noFill/>
          <a:ln/>
        </p:spPr>
        <p:txBody>
          <a:bodyPr wrap="square" lIns="0" tIns="0" rIns="0" bIns="0" rtlCol="0" anchor="ctr"/>
          <a:lstStyle/>
          <a:p>
            <a:pPr indent="0" marL="0">
              <a:buNone/>
            </a:pPr>
            <a:r>
              <a:rPr lang="en-US" sz="1300" b="1" spc="120" kern="0" dirty="0">
                <a:solidFill>
                  <a:srgbClr val="1C7293"/>
                </a:solidFill>
                <a:latin typeface="Calibri" pitchFamily="34" charset="0"/>
                <a:ea typeface="Calibri" pitchFamily="34" charset="-122"/>
                <a:cs typeface="Calibri" pitchFamily="34" charset="-120"/>
              </a:rPr>
              <a:t>You only buy the cushion once</a:t>
            </a:r>
            <a:endParaRPr lang="en-US" sz="1300" dirty="0"/>
          </a:p>
        </p:txBody>
      </p:sp>
      <p:sp>
        <p:nvSpPr>
          <p:cNvPr id="28" name="Text 26"/>
          <p:cNvSpPr/>
          <p:nvPr/>
        </p:nvSpPr>
        <p:spPr>
          <a:xfrm>
            <a:off x="960120" y="5943600"/>
            <a:ext cx="10241280" cy="457200"/>
          </a:xfrm>
          <a:prstGeom prst="rect">
            <a:avLst/>
          </a:prstGeom>
          <a:noFill/>
          <a:ln/>
        </p:spPr>
        <p:txBody>
          <a:bodyPr wrap="square" lIns="0" tIns="0" rIns="0" bIns="0" rtlCol="0" anchor="t"/>
          <a:lstStyle/>
          <a:p>
            <a:pPr indent="0" marL="0">
              <a:lnSpc>
                <a:spcPts val="1600"/>
              </a:lnSpc>
              <a:buNone/>
            </a:pPr>
            <a:r>
              <a:rPr lang="en-US" sz="1200" dirty="0">
                <a:solidFill>
                  <a:srgbClr val="5A6A78"/>
                </a:solidFill>
                <a:latin typeface="Calibri" pitchFamily="34" charset="0"/>
                <a:ea typeface="Calibri" pitchFamily="34" charset="-122"/>
                <a:cs typeface="Calibri" pitchFamily="34" charset="-120"/>
              </a:rPr>
              <a:t>Safety stock is a standing level, not a recurring purchase. It is bought on the first order and then simply stays on the shelf — every later order just replaces what sold. So a higher protection level is a one-off capital cost, weighed against stockout losses that repeat every year.</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554480" y="4480560"/>
            <a:ext cx="4023360" cy="4023360"/>
          </a:xfrm>
          <a:prstGeom prst="ellipse">
            <a:avLst/>
          </a:prstGeom>
          <a:solidFill>
            <a:srgbClr val="065A82">
              <a:alpha val="38000"/>
            </a:srgbClr>
          </a:solidFill>
          <a:ln/>
        </p:spPr>
      </p:sp>
      <p:sp>
        <p:nvSpPr>
          <p:cNvPr id="3" name="Shape 1"/>
          <p:cNvSpPr/>
          <p:nvPr/>
        </p:nvSpPr>
        <p:spPr>
          <a:xfrm>
            <a:off x="10149840" y="-1188720"/>
            <a:ext cx="3657600" cy="3657600"/>
          </a:xfrm>
          <a:prstGeom prst="ellipse">
            <a:avLst/>
          </a:prstGeom>
          <a:solidFill>
            <a:srgbClr val="1C7293">
              <a:alpha val="32000"/>
            </a:srgbClr>
          </a:solidFill>
          <a:ln/>
        </p:spPr>
      </p:sp>
      <p:sp>
        <p:nvSpPr>
          <p:cNvPr id="4" name="Text 2"/>
          <p:cNvSpPr/>
          <p:nvPr/>
        </p:nvSpPr>
        <p:spPr>
          <a:xfrm>
            <a:off x="640080" y="566928"/>
            <a:ext cx="10908792" cy="292608"/>
          </a:xfrm>
          <a:prstGeom prst="rect">
            <a:avLst/>
          </a:prstGeom>
          <a:noFill/>
          <a:ln/>
        </p:spPr>
        <p:txBody>
          <a:bodyPr wrap="square" lIns="0" tIns="0" rIns="0" bIns="0" rtlCol="0" anchor="ctr"/>
          <a:lstStyle/>
          <a:p>
            <a:pPr indent="0" marL="0">
              <a:buNone/>
            </a:pPr>
            <a:r>
              <a:rPr lang="en-US" sz="1200" b="1" spc="200" kern="0" dirty="0">
                <a:solidFill>
                  <a:srgbClr val="9FB6C9"/>
                </a:solidFill>
                <a:latin typeface="Calibri" pitchFamily="34" charset="0"/>
                <a:ea typeface="Calibri" pitchFamily="34" charset="-122"/>
                <a:cs typeface="Calibri" pitchFamily="34" charset="-120"/>
              </a:rPr>
              <a:t>IN SUMMARY</a:t>
            </a:r>
            <a:endParaRPr lang="en-US" sz="1200" dirty="0"/>
          </a:p>
        </p:txBody>
      </p:sp>
      <p:sp>
        <p:nvSpPr>
          <p:cNvPr id="5" name="Text 3"/>
          <p:cNvSpPr/>
          <p:nvPr/>
        </p:nvSpPr>
        <p:spPr>
          <a:xfrm>
            <a:off x="640080" y="932688"/>
            <a:ext cx="1115568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 forecasting tool that knows what it does not know</a:t>
            </a:r>
            <a:endParaRPr lang="en-US" sz="3200" dirty="0"/>
          </a:p>
        </p:txBody>
      </p:sp>
      <p:sp>
        <p:nvSpPr>
          <p:cNvPr id="6" name="Text 4"/>
          <p:cNvSpPr/>
          <p:nvPr/>
        </p:nvSpPr>
        <p:spPr>
          <a:xfrm>
            <a:off x="640080" y="1874520"/>
            <a:ext cx="9692640" cy="731520"/>
          </a:xfrm>
          <a:prstGeom prst="rect">
            <a:avLst/>
          </a:prstGeom>
          <a:noFill/>
          <a:ln/>
        </p:spPr>
        <p:txBody>
          <a:bodyPr wrap="square" lIns="0" tIns="0" rIns="0" bIns="0" rtlCol="0" anchor="t"/>
          <a:lstStyle/>
          <a:p>
            <a:pPr indent="0" marL="0">
              <a:lnSpc>
                <a:spcPts val="2100"/>
              </a:lnSpc>
              <a:buNone/>
            </a:pPr>
            <a:r>
              <a:rPr lang="en-US" sz="1400" dirty="0">
                <a:solidFill>
                  <a:srgbClr val="CFDDE9"/>
                </a:solidFill>
                <a:latin typeface="Calibri" pitchFamily="34" charset="0"/>
                <a:ea typeface="Calibri" pitchFamily="34" charset="-122"/>
                <a:cs typeface="Calibri" pitchFamily="34" charset="-120"/>
              </a:rPr>
              <a:t>Guesswork and averages fail quietly, and they fail worst on the products a merchant is least able to check by eye. LogiTrack matches each product to a method its own history can support, and says so plainly when none qualifies.</a:t>
            </a:r>
            <a:endParaRPr lang="en-US" sz="1400" dirty="0"/>
          </a:p>
        </p:txBody>
      </p:sp>
      <p:sp>
        <p:nvSpPr>
          <p:cNvPr id="7" name="Shape 5"/>
          <p:cNvSpPr/>
          <p:nvPr/>
        </p:nvSpPr>
        <p:spPr>
          <a:xfrm>
            <a:off x="640080" y="2880360"/>
            <a:ext cx="2505456" cy="2212848"/>
          </a:xfrm>
          <a:prstGeom prst="roundRect">
            <a:avLst>
              <a:gd name="adj" fmla="val 3719"/>
            </a:avLst>
          </a:prstGeom>
          <a:solidFill>
            <a:srgbClr val="2A3468"/>
          </a:solidFill>
          <a:ln w="12700">
            <a:solidFill>
              <a:srgbClr val="2A3468"/>
            </a:solidFill>
            <a:prstDash val="solid"/>
          </a:ln>
        </p:spPr>
      </p:sp>
      <p:sp>
        <p:nvSpPr>
          <p:cNvPr id="8" name="Shape 6"/>
          <p:cNvSpPr/>
          <p:nvPr/>
        </p:nvSpPr>
        <p:spPr>
          <a:xfrm>
            <a:off x="914400" y="3127248"/>
            <a:ext cx="347472" cy="347472"/>
          </a:xfrm>
          <a:prstGeom prst="ellipse">
            <a:avLst/>
          </a:prstGeom>
          <a:solidFill>
            <a:srgbClr val="065A82"/>
          </a:solidFill>
          <a:ln/>
        </p:spPr>
      </p:sp>
      <p:sp>
        <p:nvSpPr>
          <p:cNvPr id="9" name="Text 7"/>
          <p:cNvSpPr/>
          <p:nvPr/>
        </p:nvSpPr>
        <p:spPr>
          <a:xfrm>
            <a:off x="914400" y="3127248"/>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10" name="Text 8"/>
          <p:cNvSpPr/>
          <p:nvPr/>
        </p:nvSpPr>
        <p:spPr>
          <a:xfrm>
            <a:off x="914400" y="3566160"/>
            <a:ext cx="1956816" cy="50292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Groups by behaviour</a:t>
            </a:r>
            <a:endParaRPr lang="en-US" sz="1400" dirty="0"/>
          </a:p>
        </p:txBody>
      </p:sp>
      <p:sp>
        <p:nvSpPr>
          <p:cNvPr id="11" name="Text 9"/>
          <p:cNvSpPr/>
          <p:nvPr/>
        </p:nvSpPr>
        <p:spPr>
          <a:xfrm>
            <a:off x="914400" y="4059936"/>
            <a:ext cx="1956816" cy="914400"/>
          </a:xfrm>
          <a:prstGeom prst="rect">
            <a:avLst/>
          </a:prstGeom>
          <a:noFill/>
          <a:ln/>
        </p:spPr>
        <p:txBody>
          <a:bodyPr wrap="square" lIns="0" tIns="0" rIns="0" bIns="0" rtlCol="0" anchor="t"/>
          <a:lstStyle/>
          <a:p>
            <a:pPr indent="0" marL="0">
              <a:lnSpc>
                <a:spcPts val="1500"/>
              </a:lnSpc>
              <a:buNone/>
            </a:pPr>
            <a:r>
              <a:rPr lang="en-US" sz="1150" dirty="0">
                <a:solidFill>
                  <a:srgbClr val="A9BDD0"/>
                </a:solidFill>
                <a:latin typeface="Calibri" pitchFamily="34" charset="0"/>
                <a:ea typeface="Calibri" pitchFamily="34" charset="-122"/>
                <a:cs typeface="Calibri" pitchFamily="34" charset="-120"/>
              </a:rPr>
              <a:t>Products are pooled by how they actually sell, not just what they are called — so a new item borrows a pattern that fits.</a:t>
            </a:r>
            <a:endParaRPr lang="en-US" sz="1150" dirty="0"/>
          </a:p>
        </p:txBody>
      </p:sp>
      <p:sp>
        <p:nvSpPr>
          <p:cNvPr id="12" name="Shape 10"/>
          <p:cNvSpPr/>
          <p:nvPr/>
        </p:nvSpPr>
        <p:spPr>
          <a:xfrm>
            <a:off x="3438144" y="2880360"/>
            <a:ext cx="2505456" cy="2212848"/>
          </a:xfrm>
          <a:prstGeom prst="roundRect">
            <a:avLst>
              <a:gd name="adj" fmla="val 3719"/>
            </a:avLst>
          </a:prstGeom>
          <a:solidFill>
            <a:srgbClr val="2A3468"/>
          </a:solidFill>
          <a:ln w="12700">
            <a:solidFill>
              <a:srgbClr val="2A3468"/>
            </a:solidFill>
            <a:prstDash val="solid"/>
          </a:ln>
        </p:spPr>
      </p:sp>
      <p:sp>
        <p:nvSpPr>
          <p:cNvPr id="13" name="Shape 11"/>
          <p:cNvSpPr/>
          <p:nvPr/>
        </p:nvSpPr>
        <p:spPr>
          <a:xfrm>
            <a:off x="3712464" y="3127248"/>
            <a:ext cx="347472" cy="347472"/>
          </a:xfrm>
          <a:prstGeom prst="ellipse">
            <a:avLst/>
          </a:prstGeom>
          <a:solidFill>
            <a:srgbClr val="1C7293"/>
          </a:solidFill>
          <a:ln/>
        </p:spPr>
      </p:sp>
      <p:sp>
        <p:nvSpPr>
          <p:cNvPr id="14" name="Text 12"/>
          <p:cNvSpPr/>
          <p:nvPr/>
        </p:nvSpPr>
        <p:spPr>
          <a:xfrm>
            <a:off x="3712464" y="3127248"/>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5" name="Text 13"/>
          <p:cNvSpPr/>
          <p:nvPr/>
        </p:nvSpPr>
        <p:spPr>
          <a:xfrm>
            <a:off x="3712464" y="3566160"/>
            <a:ext cx="1956816" cy="50292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Routes, and abstains</a:t>
            </a:r>
            <a:endParaRPr lang="en-US" sz="1400" dirty="0"/>
          </a:p>
        </p:txBody>
      </p:sp>
      <p:sp>
        <p:nvSpPr>
          <p:cNvPr id="16" name="Text 14"/>
          <p:cNvSpPr/>
          <p:nvPr/>
        </p:nvSpPr>
        <p:spPr>
          <a:xfrm>
            <a:off x="3712464" y="4059936"/>
            <a:ext cx="1956816" cy="914400"/>
          </a:xfrm>
          <a:prstGeom prst="rect">
            <a:avLst/>
          </a:prstGeom>
          <a:noFill/>
          <a:ln/>
        </p:spPr>
        <p:txBody>
          <a:bodyPr wrap="square" lIns="0" tIns="0" rIns="0" bIns="0" rtlCol="0" anchor="t"/>
          <a:lstStyle/>
          <a:p>
            <a:pPr indent="0" marL="0">
              <a:lnSpc>
                <a:spcPts val="1500"/>
              </a:lnSpc>
              <a:buNone/>
            </a:pPr>
            <a:r>
              <a:rPr lang="en-US" sz="1150" dirty="0">
                <a:solidFill>
                  <a:srgbClr val="A9BDD0"/>
                </a:solidFill>
                <a:latin typeface="Calibri" pitchFamily="34" charset="0"/>
                <a:ea typeface="Calibri" pitchFamily="34" charset="-122"/>
                <a:cs typeface="Calibri" pitchFamily="34" charset="-120"/>
              </a:rPr>
              <a:t>Each product gets the method its history supports, and is flagged rather than guessed at when none does.</a:t>
            </a:r>
            <a:endParaRPr lang="en-US" sz="1150" dirty="0"/>
          </a:p>
        </p:txBody>
      </p:sp>
      <p:sp>
        <p:nvSpPr>
          <p:cNvPr id="17" name="Shape 15"/>
          <p:cNvSpPr/>
          <p:nvPr/>
        </p:nvSpPr>
        <p:spPr>
          <a:xfrm>
            <a:off x="6236208" y="2880360"/>
            <a:ext cx="2505456" cy="2212848"/>
          </a:xfrm>
          <a:prstGeom prst="roundRect">
            <a:avLst>
              <a:gd name="adj" fmla="val 3719"/>
            </a:avLst>
          </a:prstGeom>
          <a:solidFill>
            <a:srgbClr val="2A3468"/>
          </a:solidFill>
          <a:ln w="12700">
            <a:solidFill>
              <a:srgbClr val="2A3468"/>
            </a:solidFill>
            <a:prstDash val="solid"/>
          </a:ln>
        </p:spPr>
      </p:sp>
      <p:sp>
        <p:nvSpPr>
          <p:cNvPr id="18" name="Shape 16"/>
          <p:cNvSpPr/>
          <p:nvPr/>
        </p:nvSpPr>
        <p:spPr>
          <a:xfrm>
            <a:off x="6510528" y="3127248"/>
            <a:ext cx="347472" cy="347472"/>
          </a:xfrm>
          <a:prstGeom prst="ellipse">
            <a:avLst/>
          </a:prstGeom>
          <a:solidFill>
            <a:srgbClr val="065A82"/>
          </a:solidFill>
          <a:ln/>
        </p:spPr>
      </p:sp>
      <p:sp>
        <p:nvSpPr>
          <p:cNvPr id="19" name="Text 17"/>
          <p:cNvSpPr/>
          <p:nvPr/>
        </p:nvSpPr>
        <p:spPr>
          <a:xfrm>
            <a:off x="6510528" y="3127248"/>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20" name="Text 18"/>
          <p:cNvSpPr/>
          <p:nvPr/>
        </p:nvSpPr>
        <p:spPr>
          <a:xfrm>
            <a:off x="6510528" y="3566160"/>
            <a:ext cx="1956816" cy="50292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Ends in a decision</a:t>
            </a:r>
            <a:endParaRPr lang="en-US" sz="1400" dirty="0"/>
          </a:p>
        </p:txBody>
      </p:sp>
      <p:sp>
        <p:nvSpPr>
          <p:cNvPr id="21" name="Text 19"/>
          <p:cNvSpPr/>
          <p:nvPr/>
        </p:nvSpPr>
        <p:spPr>
          <a:xfrm>
            <a:off x="6510528" y="4059936"/>
            <a:ext cx="1956816" cy="914400"/>
          </a:xfrm>
          <a:prstGeom prst="rect">
            <a:avLst/>
          </a:prstGeom>
          <a:noFill/>
          <a:ln/>
        </p:spPr>
        <p:txBody>
          <a:bodyPr wrap="square" lIns="0" tIns="0" rIns="0" bIns="0" rtlCol="0" anchor="t"/>
          <a:lstStyle/>
          <a:p>
            <a:pPr indent="0" marL="0">
              <a:lnSpc>
                <a:spcPts val="1500"/>
              </a:lnSpc>
              <a:buNone/>
            </a:pPr>
            <a:r>
              <a:rPr lang="en-US" sz="1150" dirty="0">
                <a:solidFill>
                  <a:srgbClr val="A9BDD0"/>
                </a:solidFill>
                <a:latin typeface="Calibri" pitchFamily="34" charset="0"/>
                <a:ea typeface="Calibri" pitchFamily="34" charset="-122"/>
                <a:cs typeface="Calibri" pitchFamily="34" charset="-120"/>
              </a:rPr>
              <a:t>Forecasts become days of stock, then a reorder quantity, then an Excel plan a buyer can act on.</a:t>
            </a:r>
            <a:endParaRPr lang="en-US" sz="1150" dirty="0"/>
          </a:p>
        </p:txBody>
      </p:sp>
      <p:sp>
        <p:nvSpPr>
          <p:cNvPr id="22" name="Shape 20"/>
          <p:cNvSpPr/>
          <p:nvPr/>
        </p:nvSpPr>
        <p:spPr>
          <a:xfrm>
            <a:off x="9034272" y="2880360"/>
            <a:ext cx="2505456" cy="2212848"/>
          </a:xfrm>
          <a:prstGeom prst="roundRect">
            <a:avLst>
              <a:gd name="adj" fmla="val 3719"/>
            </a:avLst>
          </a:prstGeom>
          <a:solidFill>
            <a:srgbClr val="2A3468"/>
          </a:solidFill>
          <a:ln w="12700">
            <a:solidFill>
              <a:srgbClr val="2A3468"/>
            </a:solidFill>
            <a:prstDash val="solid"/>
          </a:ln>
        </p:spPr>
      </p:sp>
      <p:sp>
        <p:nvSpPr>
          <p:cNvPr id="23" name="Shape 21"/>
          <p:cNvSpPr/>
          <p:nvPr/>
        </p:nvSpPr>
        <p:spPr>
          <a:xfrm>
            <a:off x="9308592" y="3127248"/>
            <a:ext cx="347472" cy="347472"/>
          </a:xfrm>
          <a:prstGeom prst="ellipse">
            <a:avLst/>
          </a:prstGeom>
          <a:solidFill>
            <a:srgbClr val="1C7293"/>
          </a:solidFill>
          <a:ln/>
        </p:spPr>
      </p:sp>
      <p:sp>
        <p:nvSpPr>
          <p:cNvPr id="24" name="Text 22"/>
          <p:cNvSpPr/>
          <p:nvPr/>
        </p:nvSpPr>
        <p:spPr>
          <a:xfrm>
            <a:off x="9308592" y="3127248"/>
            <a:ext cx="347472" cy="347472"/>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5" name="Text 23"/>
          <p:cNvSpPr/>
          <p:nvPr/>
        </p:nvSpPr>
        <p:spPr>
          <a:xfrm>
            <a:off x="9308592" y="3566160"/>
            <a:ext cx="1956816" cy="50292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libri" pitchFamily="34" charset="0"/>
                <a:ea typeface="Calibri" pitchFamily="34" charset="-122"/>
                <a:cs typeface="Calibri" pitchFamily="34" charset="-120"/>
              </a:rPr>
              <a:t>Prices the decision</a:t>
            </a:r>
            <a:endParaRPr lang="en-US" sz="1400" dirty="0"/>
          </a:p>
        </p:txBody>
      </p:sp>
      <p:sp>
        <p:nvSpPr>
          <p:cNvPr id="26" name="Text 24"/>
          <p:cNvSpPr/>
          <p:nvPr/>
        </p:nvSpPr>
        <p:spPr>
          <a:xfrm>
            <a:off x="9308592" y="4059936"/>
            <a:ext cx="1956816" cy="914400"/>
          </a:xfrm>
          <a:prstGeom prst="rect">
            <a:avLst/>
          </a:prstGeom>
          <a:noFill/>
          <a:ln/>
        </p:spPr>
        <p:txBody>
          <a:bodyPr wrap="square" lIns="0" tIns="0" rIns="0" bIns="0" rtlCol="0" anchor="t"/>
          <a:lstStyle/>
          <a:p>
            <a:pPr indent="0" marL="0">
              <a:lnSpc>
                <a:spcPts val="1500"/>
              </a:lnSpc>
              <a:buNone/>
            </a:pPr>
            <a:r>
              <a:rPr lang="en-US" sz="1150" dirty="0">
                <a:solidFill>
                  <a:srgbClr val="A9BDD0"/>
                </a:solidFill>
                <a:latin typeface="Calibri" pitchFamily="34" charset="0"/>
                <a:ea typeface="Calibri" pitchFamily="34" charset="-122"/>
                <a:cs typeface="Calibri" pitchFamily="34" charset="-120"/>
              </a:rPr>
              <a:t>The protection level is chosen by replaying history and picking the cheapest balance of lost sales and idle cash.</a:t>
            </a:r>
            <a:endParaRPr lang="en-US" sz="1150" dirty="0"/>
          </a:p>
        </p:txBody>
      </p:sp>
      <p:sp>
        <p:nvSpPr>
          <p:cNvPr id="27" name="Text 25"/>
          <p:cNvSpPr/>
          <p:nvPr/>
        </p:nvSpPr>
        <p:spPr>
          <a:xfrm>
            <a:off x="640080" y="5285232"/>
            <a:ext cx="108813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Working end to end today — sales data in, forecasts and reorder plans out.</a:t>
            </a:r>
            <a:endParaRPr lang="en-US" sz="1400" dirty="0"/>
          </a:p>
        </p:txBody>
      </p:sp>
      <p:sp>
        <p:nvSpPr>
          <p:cNvPr id="28" name="Text 26"/>
          <p:cNvSpPr/>
          <p:nvPr/>
        </p:nvSpPr>
        <p:spPr>
          <a:xfrm>
            <a:off x="640080" y="5669280"/>
            <a:ext cx="10881360" cy="594360"/>
          </a:xfrm>
          <a:prstGeom prst="rect">
            <a:avLst/>
          </a:prstGeom>
          <a:noFill/>
          <a:ln/>
        </p:spPr>
        <p:txBody>
          <a:bodyPr wrap="square" lIns="0" tIns="0" rIns="0" bIns="0" rtlCol="0" anchor="t"/>
          <a:lstStyle/>
          <a:p>
            <a:pPr indent="0" marL="0">
              <a:lnSpc>
                <a:spcPts val="1700"/>
              </a:lnSpc>
              <a:buNone/>
            </a:pPr>
            <a:r>
              <a:rPr lang="en-US" sz="1200" i="1" dirty="0">
                <a:solidFill>
                  <a:srgbClr val="8FA8BE"/>
                </a:solidFill>
                <a:latin typeface="Calibri" pitchFamily="34" charset="0"/>
                <a:ea typeface="Calibri" pitchFamily="34" charset="-122"/>
                <a:cs typeface="Calibri" pitchFamily="34" charset="-120"/>
              </a:rPr>
              <a:t>The pooled method for new products is a solid baseline rather than a trained model, and the statistics have not yet been validated on real held-out data at scale. Both are known, and both are next.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2026-07-23T21:26:34Z</dcterms:created>
  <dcterms:modified xsi:type="dcterms:W3CDTF">2026-07-23T21:26:34Z</dcterms:modified>
</cp:coreProperties>
</file>